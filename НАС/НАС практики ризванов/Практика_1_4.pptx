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</p:sldIdLst>
  <p:sldSz cx="7556500" cy="10693400"/>
  <p:notesSz cx="7556500" cy="10693400"/>
  <p:embeddedFontLst>
    <p:embeddedFont>
      <p:font typeface="Calibri" pitchFamily="34" charset="0"/>
      <p:regular r:id="rId30"/>
      <p:bold r:id="rId31"/>
      <p:italic r:id="rId32"/>
      <p:boldItalic r:id="rId33"/>
    </p:embeddedFont>
    <p:embeddedFont>
      <p:font typeface="QAOLJA+Times New Roman Bold" charset="0"/>
      <p:regular r:id="rId34"/>
    </p:embeddedFont>
    <p:embeddedFont>
      <p:font typeface="LHMNJT+Times New Roman" charset="0"/>
      <p:regular r:id="rId35"/>
    </p:embeddedFont>
    <p:embeddedFont>
      <p:font typeface="HLEQSS+Times New Roman Italic" charset="0"/>
      <p:regular r:id="rId36"/>
    </p:embeddedFont>
    <p:embeddedFont>
      <p:font typeface="FEVUPN+Symbol" charset="2"/>
      <p:regular r:id="rId37"/>
    </p:embeddedFont>
    <p:embeddedFont>
      <p:font typeface="TLMUER+Symbol" charset="2"/>
      <p:regular r:id="rId38"/>
    </p:embeddedFont>
    <p:embeddedFont>
      <p:font typeface="DEQMBT+Times New Roman Bold Italic" charset="0"/>
      <p:regular r:id="rId39"/>
    </p:embeddedFont>
    <p:embeddedFont>
      <p:font typeface="SWBTTE+MT Extra"/>
      <p:regular r:id="rId4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2558" y="-8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pPr/>
              <a:t>10/8/2022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12" Type="http://schemas.openxmlformats.org/officeDocument/2006/relationships/image" Target="../media/image13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11" Type="http://schemas.openxmlformats.org/officeDocument/2006/relationships/image" Target="../media/image24.jpeg"/><Relationship Id="rId5" Type="http://schemas.openxmlformats.org/officeDocument/2006/relationships/image" Target="../media/image18.jpeg"/><Relationship Id="rId10" Type="http://schemas.openxmlformats.org/officeDocument/2006/relationships/image" Target="../media/image23.jpeg"/><Relationship Id="rId4" Type="http://schemas.openxmlformats.org/officeDocument/2006/relationships/image" Target="../media/image17.jpeg"/><Relationship Id="rId9" Type="http://schemas.openxmlformats.org/officeDocument/2006/relationships/image" Target="../media/image2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6.jpeg"/><Relationship Id="rId7" Type="http://schemas.openxmlformats.org/officeDocument/2006/relationships/image" Target="../media/image13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4" Type="http://schemas.openxmlformats.org/officeDocument/2006/relationships/image" Target="../media/image34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50.jpeg"/><Relationship Id="rId7" Type="http://schemas.openxmlformats.org/officeDocument/2006/relationships/image" Target="../media/image51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3.jpeg"/><Relationship Id="rId5" Type="http://schemas.openxmlformats.org/officeDocument/2006/relationships/image" Target="../media/image12.jpeg"/><Relationship Id="rId10" Type="http://schemas.openxmlformats.org/officeDocument/2006/relationships/image" Target="../media/image53.jpeg"/><Relationship Id="rId4" Type="http://schemas.openxmlformats.org/officeDocument/2006/relationships/image" Target="../media/image11.jpeg"/><Relationship Id="rId9" Type="http://schemas.openxmlformats.org/officeDocument/2006/relationships/image" Target="../media/image5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5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jpeg"/><Relationship Id="rId4" Type="http://schemas.openxmlformats.org/officeDocument/2006/relationships/image" Target="../media/image5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7" Type="http://schemas.openxmlformats.org/officeDocument/2006/relationships/image" Target="../media/image72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jpeg"/><Relationship Id="rId5" Type="http://schemas.openxmlformats.org/officeDocument/2006/relationships/image" Target="../media/image70.jpeg"/><Relationship Id="rId4" Type="http://schemas.openxmlformats.org/officeDocument/2006/relationships/image" Target="../media/image69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jpeg"/><Relationship Id="rId3" Type="http://schemas.openxmlformats.org/officeDocument/2006/relationships/image" Target="../media/image73.jpeg"/><Relationship Id="rId7" Type="http://schemas.openxmlformats.org/officeDocument/2006/relationships/image" Target="../media/image77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jpeg"/><Relationship Id="rId5" Type="http://schemas.openxmlformats.org/officeDocument/2006/relationships/image" Target="../media/image75.jpeg"/><Relationship Id="rId4" Type="http://schemas.openxmlformats.org/officeDocument/2006/relationships/image" Target="../media/image7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8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85.jpeg"/><Relationship Id="rId4" Type="http://schemas.openxmlformats.org/officeDocument/2006/relationships/image" Target="../media/image8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7" Type="http://schemas.openxmlformats.org/officeDocument/2006/relationships/image" Target="../media/image13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jpeg"/><Relationship Id="rId5" Type="http://schemas.openxmlformats.org/officeDocument/2006/relationships/image" Target="../media/image89.jpeg"/><Relationship Id="rId4" Type="http://schemas.openxmlformats.org/officeDocument/2006/relationships/image" Target="../media/image8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5.jpeg"/><Relationship Id="rId4" Type="http://schemas.openxmlformats.org/officeDocument/2006/relationships/image" Target="../media/image13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3589020" y="9291320"/>
            <a:ext cx="197167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3541395" y="8221853"/>
            <a:ext cx="730376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748849" y="6282753"/>
            <a:ext cx="522732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63149" y="4807521"/>
            <a:ext cx="784097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36136" y="3100641"/>
            <a:ext cx="387096" cy="12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0432" y="724311"/>
            <a:ext cx="5220597" cy="965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1</a:t>
            </a:r>
            <a:r>
              <a:rPr sz="1600" b="1" spc="24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ОПРЕДЕЛЕНИЕ КОЛИЧЕСТВЕННЫХ</a:t>
            </a:r>
          </a:p>
          <a:p>
            <a:pPr marL="179831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ХАРАКТЕРИСТИК НАДЕЖНОСТИ</a:t>
            </a:r>
          </a:p>
          <a:p>
            <a:pPr marL="179831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ПО СТАТИСТИЧЕСКИМ</a:t>
            </a:r>
            <a:r>
              <a:rPr sz="1600" b="1" spc="10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ДАННЫМ</a:t>
            </a:r>
            <a:r>
              <a:rPr sz="1600" b="1" spc="10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ОБ</a:t>
            </a:r>
            <a:r>
              <a:rPr sz="1600" b="1" spc="-22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ОТКАЗАХ</a:t>
            </a:r>
          </a:p>
          <a:p>
            <a:pPr marL="179831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ИЗДЕЛИЯ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70432" y="1894744"/>
            <a:ext cx="2703524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1.1 Теоретические</a:t>
            </a:r>
            <a:r>
              <a:rPr sz="1600" b="1" spc="15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сведения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9328" y="2358039"/>
            <a:ext cx="6272301" cy="498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статистическим</a:t>
            </a:r>
            <a:r>
              <a:rPr sz="1600" spc="1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данным</a:t>
            </a:r>
            <a:r>
              <a:rPr sz="1600" spc="1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отказах оценивается выражением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48328" y="2828548"/>
            <a:ext cx="530099" cy="270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7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</a:t>
            </a:r>
            <a:r>
              <a:rPr sz="1650" i="1" spc="-10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541776" y="2941739"/>
            <a:ext cx="688146" cy="295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7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</a:t>
            </a:r>
            <a:r>
              <a:rPr sz="1650" i="1" spc="-10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7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553712" y="3004215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48087" y="3004215"/>
            <a:ext cx="5436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(1.1)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255008" y="3130300"/>
            <a:ext cx="292308" cy="270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9328" y="3363880"/>
            <a:ext cx="6273894" cy="1199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р(t)</a:t>
            </a:r>
            <a:r>
              <a:rPr sz="1600" i="1" spc="1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1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статистическая</a:t>
            </a:r>
            <a:r>
              <a:rPr sz="1600" spc="1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оценка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вероятности</a:t>
            </a:r>
            <a:r>
              <a:rPr sz="1600" spc="1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делия;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n(t)</a:t>
            </a:r>
            <a:r>
              <a:rPr sz="1600" i="1" spc="9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1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число</a:t>
            </a:r>
            <a:r>
              <a:rPr sz="1600" spc="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изделий,</a:t>
            </a:r>
            <a:r>
              <a:rPr sz="1600" spc="1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</a:t>
            </a:r>
            <a:r>
              <a:rPr sz="1600" spc="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отказавших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моменту</a:t>
            </a:r>
            <a:r>
              <a:rPr sz="1600" spc="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600" i="1" spc="1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</a:p>
          <a:p>
            <a:pPr marL="0" marR="0">
              <a:lnSpc>
                <a:spcPts val="1780"/>
              </a:lnSpc>
              <a:spcBef>
                <a:spcPts val="9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число изделий, поставленных </a:t>
            </a:r>
            <a:r>
              <a:rPr sz="1600" spc="-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испытания.</a:t>
            </a:r>
          </a:p>
          <a:p>
            <a:pPr marL="448056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вероятности</a:t>
            </a:r>
            <a:r>
              <a:rPr sz="1600" spc="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</a:t>
            </a:r>
            <a:r>
              <a:rPr sz="1600" spc="9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</a:t>
            </a:r>
            <a:r>
              <a:rPr sz="1600" spc="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статистическим</a:t>
            </a:r>
            <a:r>
              <a:rPr sz="1600" spc="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данным</a:t>
            </a:r>
            <a:r>
              <a:rPr sz="1600" spc="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справедливо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соотношение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886200" y="4514507"/>
            <a:ext cx="914148" cy="295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650" i="1" spc="16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5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7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</a:t>
            </a:r>
            <a:r>
              <a:rPr sz="1650" i="1" spc="-10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267456" y="4648619"/>
            <a:ext cx="691194" cy="295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7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q(t</a:t>
            </a:r>
            <a:r>
              <a:rPr sz="1650" i="1" spc="-10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7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681728" y="4711096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51396" y="4711096"/>
            <a:ext cx="5436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(1.2)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178808" y="4837180"/>
            <a:ext cx="292308" cy="270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19328" y="5070760"/>
            <a:ext cx="6273733" cy="965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  <a:r>
              <a:rPr sz="1600" spc="4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600" i="1" spc="52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–</a:t>
            </a:r>
            <a:r>
              <a:rPr sz="1600" i="1" spc="50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n(t)</a:t>
            </a:r>
            <a:r>
              <a:rPr sz="1600" i="1" spc="48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5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число</a:t>
            </a:r>
            <a:r>
              <a:rPr sz="1600" spc="4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изделий,</a:t>
            </a:r>
            <a:r>
              <a:rPr sz="1600" spc="5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отказавших</a:t>
            </a:r>
            <a:r>
              <a:rPr sz="1600" spc="5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</a:t>
            </a:r>
            <a:r>
              <a:rPr sz="1600" spc="5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моменту</a:t>
            </a:r>
            <a:r>
              <a:rPr sz="1600" spc="4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5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-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q(t)</a:t>
            </a:r>
            <a:r>
              <a:rPr sz="1600" i="1" spc="-2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 статистическая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оценка вероятности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изделия.</a:t>
            </a:r>
          </a:p>
          <a:p>
            <a:pPr marL="451104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Частота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</a:t>
            </a:r>
            <a:r>
              <a:rPr sz="1600" spc="1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статистическим</a:t>
            </a:r>
            <a:r>
              <a:rPr sz="1600" spc="2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данным</a:t>
            </a:r>
            <a:r>
              <a:rPr sz="1600" spc="2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отказах</a:t>
            </a:r>
            <a:r>
              <a:rPr sz="1600" spc="2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опреде-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ляется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выражением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761232" y="5986691"/>
            <a:ext cx="664211" cy="596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650" spc="23" dirty="0">
                <a:solidFill>
                  <a:srgbClr val="000000"/>
                </a:solidFill>
                <a:latin typeface="TLMUER+Symbol"/>
                <a:cs typeface="TLMUER+Symbol"/>
              </a:rPr>
              <a:t></a:t>
            </a:r>
            <a:r>
              <a:rPr sz="1650" i="1" spc="7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</a:t>
            </a:r>
            <a:r>
              <a:rPr sz="1650" i="1" spc="-7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  <a:p>
            <a:pPr marL="18288" marR="0">
              <a:lnSpc>
                <a:spcPts val="2023"/>
              </a:lnSpc>
              <a:spcBef>
                <a:spcPts val="352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 </a:t>
            </a:r>
            <a:r>
              <a:rPr sz="1650" spc="235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50" spc="23" dirty="0">
                <a:solidFill>
                  <a:srgbClr val="000000"/>
                </a:solidFill>
                <a:latin typeface="TLMUER+Symbol"/>
                <a:cs typeface="TLMUER+Symbol"/>
              </a:rPr>
              <a:t>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148584" y="6123851"/>
            <a:ext cx="694242" cy="295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650" i="1" spc="-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50" i="1" spc="-1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i="1" spc="-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5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315968" y="6186328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448522" y="6186328"/>
            <a:ext cx="5436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(1.3)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19328" y="6777640"/>
            <a:ext cx="6273642" cy="733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f(t)</a:t>
            </a:r>
            <a:r>
              <a:rPr sz="1600" i="1" spc="6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статистическая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оценка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частоты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изделия;</a:t>
            </a:r>
            <a:r>
              <a:rPr sz="1600" spc="1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Δn(t)</a:t>
            </a:r>
            <a:r>
              <a:rPr sz="1600" i="1" spc="5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чис-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ло</a:t>
            </a:r>
            <a:r>
              <a:rPr sz="1600" spc="1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отказавших</a:t>
            </a:r>
            <a:r>
              <a:rPr sz="160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17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участке</a:t>
            </a:r>
            <a:r>
              <a:rPr sz="1600" spc="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(t,</a:t>
            </a:r>
            <a:r>
              <a:rPr sz="1600" i="1" spc="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8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+</a:t>
            </a:r>
            <a:r>
              <a:rPr sz="1600" i="1" spc="17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Δt)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  <a:r>
              <a:rPr sz="1600" spc="1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Δt</a:t>
            </a:r>
            <a:r>
              <a:rPr sz="1600" i="1" spc="16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1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интервал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170432" y="7478680"/>
            <a:ext cx="5823534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38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3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</a:t>
            </a:r>
            <a:r>
              <a:rPr sz="1600" spc="3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статистическим</a:t>
            </a:r>
            <a:r>
              <a:rPr sz="1600" spc="3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данным</a:t>
            </a:r>
            <a:r>
              <a:rPr sz="1600" spc="3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</a:t>
            </a:r>
            <a:r>
              <a:rPr sz="1600" spc="35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отказах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19328" y="7713375"/>
            <a:ext cx="223040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определяется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формулой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553968" y="7930192"/>
            <a:ext cx="870838" cy="591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3632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650" spc="23" dirty="0">
                <a:solidFill>
                  <a:srgbClr val="000000"/>
                </a:solidFill>
                <a:latin typeface="TLMUER+Symbol"/>
                <a:cs typeface="TLMUER+Symbol"/>
              </a:rPr>
              <a:t></a:t>
            </a:r>
            <a:r>
              <a:rPr sz="1650" i="1" spc="7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</a:t>
            </a:r>
            <a:r>
              <a:rPr sz="1650" i="1" spc="-7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  <a:p>
            <a:pPr marL="0" marR="0">
              <a:lnSpc>
                <a:spcPts val="2005"/>
              </a:lnSpc>
              <a:spcBef>
                <a:spcPts val="396"/>
              </a:spcBef>
              <a:spcAft>
                <a:spcPts val="0"/>
              </a:spcAft>
            </a:pPr>
            <a:r>
              <a:rPr sz="1650" spc="23" dirty="0">
                <a:solidFill>
                  <a:srgbClr val="000000"/>
                </a:solidFill>
                <a:latin typeface="TLMUER+Symbol"/>
                <a:cs typeface="TLMUER+Symbol"/>
              </a:rPr>
              <a:t>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i="1" spc="1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50" spc="-8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7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</a:t>
            </a:r>
            <a:r>
              <a:rPr sz="1650" i="1" spc="-7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923032" y="8064303"/>
            <a:ext cx="711480" cy="292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650" spc="7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7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315968" y="8127904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452616" y="8127904"/>
            <a:ext cx="5436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(1.4)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19328" y="8527192"/>
            <a:ext cx="6273175" cy="495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2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25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2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2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</a:t>
            </a:r>
            <a:r>
              <a:rPr sz="1600" spc="2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статистическим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данным</a:t>
            </a:r>
            <a:r>
              <a:rPr sz="1600" spc="-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оценивается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выражением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633215" y="9014624"/>
            <a:ext cx="483149" cy="27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9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700" spc="5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800" i="1" baseline="268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011424" y="9124186"/>
            <a:ext cx="1233049" cy="338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64"/>
              </a:lnSpc>
              <a:spcBef>
                <a:spcPts val="0"/>
              </a:spcBef>
              <a:spcAft>
                <a:spcPts val="0"/>
              </a:spcAft>
            </a:pP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700" i="1" spc="7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*</a:t>
            </a:r>
            <a:r>
              <a:rPr sz="1700" i="1" spc="1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19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50" spc="194" dirty="0">
                <a:solidFill>
                  <a:srgbClr val="000000"/>
                </a:solidFill>
                <a:latin typeface="FEVUPN+Symbol"/>
                <a:cs typeface="FEVUPN+Symbol"/>
              </a:rPr>
              <a:t>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102608" y="9203848"/>
            <a:ext cx="313171" cy="265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727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</a:p>
          <a:p>
            <a:pPr marL="0" marR="0">
              <a:lnSpc>
                <a:spcPts val="1335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6445184" y="9203848"/>
            <a:ext cx="5436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(1.5)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169920" y="9261512"/>
            <a:ext cx="194950" cy="207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611880" y="9322741"/>
            <a:ext cx="295410" cy="275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9"/>
              </a:lnSpc>
              <a:spcBef>
                <a:spcPts val="0"/>
              </a:spcBef>
              <a:spcAft>
                <a:spcPts val="0"/>
              </a:spcAft>
            </a:pP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822192" y="9393364"/>
            <a:ext cx="355578" cy="225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7"/>
              </a:lnSpc>
              <a:spcBef>
                <a:spcPts val="0"/>
              </a:spcBef>
              <a:spcAft>
                <a:spcPts val="0"/>
              </a:spcAft>
            </a:pPr>
            <a:r>
              <a:rPr sz="1200" i="1" spc="7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200" spc="-83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3727703" y="10099959"/>
            <a:ext cx="25448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endParaRPr sz="1600" dirty="0">
              <a:solidFill>
                <a:srgbClr val="000000"/>
              </a:solidFill>
              <a:latin typeface="LHMNJT+Times New Roman"/>
              <a:cs typeface="LHMNJT+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2206561" y="9431719"/>
            <a:ext cx="473773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1728216" y="9431719"/>
            <a:ext cx="246316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64114" y="8666099"/>
            <a:ext cx="322135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21189" y="8666099"/>
            <a:ext cx="319087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94457" y="8666099"/>
            <a:ext cx="302894" cy="12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94935" y="7858950"/>
            <a:ext cx="338709" cy="12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24387" y="7858950"/>
            <a:ext cx="338709" cy="12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88651" y="7858950"/>
            <a:ext cx="335279" cy="12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08007" y="7858950"/>
            <a:ext cx="348805" cy="127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79129" y="7858950"/>
            <a:ext cx="318325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27441" y="7858950"/>
            <a:ext cx="319849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30867" y="4188968"/>
            <a:ext cx="469010" cy="127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19328" y="721263"/>
            <a:ext cx="6273792" cy="9805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00" b="1" baseline="-15000" dirty="0">
                <a:solidFill>
                  <a:srgbClr val="000000"/>
                </a:solidFill>
                <a:latin typeface="DEQMBT+Times New Roman Bold Italic"/>
                <a:cs typeface="DEQMBT+Times New Roman Bold Italic"/>
              </a:rPr>
              <a:t>t</a:t>
            </a:r>
            <a:r>
              <a:rPr sz="1600" b="1" dirty="0">
                <a:solidFill>
                  <a:srgbClr val="000000"/>
                </a:solidFill>
                <a:latin typeface="DEQMBT+Times New Roman Bold Italic"/>
                <a:cs typeface="DEQMBT+Times New Roman Bold Italic"/>
              </a:rPr>
              <a:t>*</a:t>
            </a:r>
            <a:r>
              <a:rPr sz="1600" b="1" spc="1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1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статистическая</a:t>
            </a:r>
            <a:r>
              <a:rPr sz="1600" spc="1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оценка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среднего</a:t>
            </a:r>
            <a:r>
              <a:rPr sz="1600" spc="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рабо-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ты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изделия;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b="1" baseline="-15000" dirty="0">
                <a:solidFill>
                  <a:srgbClr val="000000"/>
                </a:solidFill>
                <a:latin typeface="DEQMBT+Times New Roman Bold Italic"/>
                <a:cs typeface="DEQMBT+Times New Roman Bold Italic"/>
              </a:rPr>
              <a:t>i</a:t>
            </a:r>
            <a:r>
              <a:rPr sz="1600" b="1" spc="142" baseline="-150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 время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-го изделия.</a:t>
            </a:r>
          </a:p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определения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00" b="1" baseline="-14999" dirty="0">
                <a:solidFill>
                  <a:srgbClr val="000000"/>
                </a:solidFill>
                <a:latin typeface="DEQMBT+Times New Roman Bold Italic"/>
                <a:cs typeface="DEQMBT+Times New Roman Bold Italic"/>
              </a:rPr>
              <a:t>t</a:t>
            </a:r>
            <a:r>
              <a:rPr sz="1600" b="1" dirty="0">
                <a:solidFill>
                  <a:srgbClr val="000000"/>
                </a:solidFill>
                <a:latin typeface="DEQMBT+Times New Roman Bold Italic"/>
                <a:cs typeface="DEQMBT+Times New Roman Bold Italic"/>
              </a:rPr>
              <a:t>*</a:t>
            </a:r>
            <a:r>
              <a:rPr sz="1600" b="1" spc="7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формуле</a:t>
            </a:r>
            <a:r>
              <a:rPr sz="1600" spc="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(1.5)</a:t>
            </a:r>
            <a:r>
              <a:rPr sz="160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необходимо</a:t>
            </a:r>
            <a:r>
              <a:rPr sz="1600" spc="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знать</a:t>
            </a:r>
            <a:r>
              <a:rPr sz="160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момен-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ты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выхода</a:t>
            </a:r>
            <a:r>
              <a:rPr sz="1600" spc="1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строя</a:t>
            </a:r>
            <a:r>
              <a:rPr sz="1600" spc="1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всех</a:t>
            </a:r>
            <a:r>
              <a:rPr sz="1600" spc="1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600" i="1" spc="16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  <a:r>
              <a:rPr sz="1600" spc="1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Можно</a:t>
            </a:r>
            <a:r>
              <a:rPr sz="1600" spc="1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определять</a:t>
            </a:r>
            <a:r>
              <a:rPr sz="1600" spc="1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00" b="1" baseline="-14999" dirty="0">
                <a:solidFill>
                  <a:srgbClr val="000000"/>
                </a:solidFill>
                <a:latin typeface="DEQMBT+Times New Roman Bold Italic"/>
                <a:cs typeface="DEQMBT+Times New Roman Bold Italic"/>
              </a:rPr>
              <a:t>t</a:t>
            </a:r>
            <a:r>
              <a:rPr sz="1600" b="1" dirty="0">
                <a:solidFill>
                  <a:srgbClr val="000000"/>
                </a:solidFill>
                <a:latin typeface="DEQMBT+Times New Roman Bold Italic"/>
                <a:cs typeface="DEQMBT+Times New Roman Bold Italic"/>
              </a:rPr>
              <a:t>*</a:t>
            </a:r>
            <a:r>
              <a:rPr sz="1600" b="1" spc="16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урав-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9328" y="1656999"/>
            <a:ext cx="664728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нения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611880" y="1912783"/>
            <a:ext cx="263000" cy="207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008376" y="2022346"/>
            <a:ext cx="1156849" cy="338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64"/>
              </a:lnSpc>
              <a:spcBef>
                <a:spcPts val="0"/>
              </a:spcBef>
              <a:spcAft>
                <a:spcPts val="0"/>
              </a:spcAft>
            </a:pP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700" i="1" spc="5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*</a:t>
            </a:r>
            <a:r>
              <a:rPr sz="1700" i="1" spc="9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700" spc="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50" spc="242" dirty="0">
                <a:solidFill>
                  <a:srgbClr val="000000"/>
                </a:solidFill>
                <a:latin typeface="FEVUPN+Symbol"/>
                <a:cs typeface="FEVUPN+Symbol"/>
              </a:rPr>
              <a:t>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700" i="1" spc="4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895344" y="2102008"/>
            <a:ext cx="624067" cy="265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0623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</a:p>
          <a:p>
            <a:pPr marL="0" marR="0">
              <a:lnSpc>
                <a:spcPts val="1335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200" i="1" spc="3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200" i="1" spc="-22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200" i="1" spc="-4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.i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48362" y="2102008"/>
            <a:ext cx="5436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(1.6)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163824" y="2159671"/>
            <a:ext cx="194950" cy="207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572256" y="2291523"/>
            <a:ext cx="355578" cy="225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7"/>
              </a:lnSpc>
              <a:spcBef>
                <a:spcPts val="0"/>
              </a:spcBef>
              <a:spcAft>
                <a:spcPts val="0"/>
              </a:spcAft>
            </a:pPr>
            <a:r>
              <a:rPr sz="1200" i="1" spc="7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200" spc="-83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19328" y="2489104"/>
            <a:ext cx="6274600" cy="514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  <a:r>
              <a:rPr sz="1600" spc="30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600" i="1" baseline="-14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i="1" spc="892" baseline="-14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3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количество</a:t>
            </a:r>
            <a:r>
              <a:rPr sz="1600" spc="3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вышедших</a:t>
            </a:r>
            <a:r>
              <a:rPr sz="1600" spc="3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3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строя</a:t>
            </a:r>
            <a:r>
              <a:rPr sz="1600" spc="3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</a:t>
            </a:r>
            <a:r>
              <a:rPr sz="1600" spc="3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3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-ом</a:t>
            </a:r>
            <a:r>
              <a:rPr sz="1600" spc="3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интервале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времени;</a:t>
            </a:r>
            <a:r>
              <a:rPr sz="1600" spc="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-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3" baseline="-15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600" i="1" spc="-98" baseline="-15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baseline="-15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i="1" spc="-90" baseline="-15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=</a:t>
            </a:r>
            <a:r>
              <a:rPr sz="1600" i="1" spc="3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00" i="1" spc="10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+</a:t>
            </a:r>
            <a:r>
              <a:rPr sz="1600" i="1" spc="3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-10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)/2;</a:t>
            </a:r>
            <a:r>
              <a:rPr sz="1600" i="1" spc="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00" i="1" spc="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=</a:t>
            </a:r>
            <a:r>
              <a:rPr sz="1600" i="1" spc="3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9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/Δt; Δt</a:t>
            </a:r>
            <a:r>
              <a:rPr sz="1600" i="1" spc="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=</a:t>
            </a:r>
            <a:r>
              <a:rPr sz="1600" i="1" spc="3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2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-</a:t>
            </a:r>
            <a:r>
              <a:rPr sz="1600" i="1" spc="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0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</a:t>
            </a:r>
            <a:r>
              <a:rPr sz="1600" i="1" spc="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2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начала</a:t>
            </a:r>
            <a:r>
              <a:rPr sz="1600" spc="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-го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173224" y="2816743"/>
            <a:ext cx="301347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i-1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609088" y="2816743"/>
            <a:ext cx="18965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444240" y="2816743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k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340352" y="2816743"/>
            <a:ext cx="18965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596384" y="2816743"/>
            <a:ext cx="301738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i-1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965192" y="2816743"/>
            <a:ext cx="301738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i-1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719328" y="2955447"/>
            <a:ext cx="627379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интервала;</a:t>
            </a:r>
            <a:r>
              <a:rPr sz="1600" spc="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3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конца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-го</a:t>
            </a:r>
            <a:r>
              <a:rPr sz="1600" spc="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интервала;</a:t>
            </a:r>
            <a:r>
              <a:rPr sz="1600" spc="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5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время,</a:t>
            </a:r>
            <a:r>
              <a:rPr sz="1600" spc="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кото-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770888" y="3048391"/>
            <a:ext cx="18965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584192" y="3048391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k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19328" y="3190144"/>
            <a:ext cx="6273733" cy="7305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рого вышли</a:t>
            </a:r>
            <a:r>
              <a:rPr sz="1600" spc="-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-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строя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все</a:t>
            </a:r>
            <a:r>
              <a:rPr sz="1600" spc="-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изделия;</a:t>
            </a:r>
            <a:r>
              <a:rPr sz="1600" spc="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-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Δt</a:t>
            </a:r>
            <a:r>
              <a:rPr sz="1600" i="1" spc="4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 интервал</a:t>
            </a:r>
            <a:r>
              <a:rPr sz="1600" spc="-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времени.</a:t>
            </a:r>
          </a:p>
          <a:p>
            <a:pPr marL="451104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Дисперсия</a:t>
            </a:r>
            <a:r>
              <a:rPr sz="1600" spc="1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</a:t>
            </a:r>
            <a:r>
              <a:rPr sz="1600" spc="1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</a:t>
            </a:r>
            <a:r>
              <a:rPr sz="1600" spc="1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статистиче-</a:t>
            </a:r>
          </a:p>
          <a:p>
            <a:pPr marL="0" marR="0">
              <a:lnSpc>
                <a:spcPts val="1780"/>
              </a:lnSpc>
              <a:spcBef>
                <a:spcPts val="93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ским</a:t>
            </a:r>
            <a:r>
              <a:rPr sz="1600" spc="-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данным определяется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формулой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310128" y="3915588"/>
            <a:ext cx="259605" cy="275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9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773424" y="3912271"/>
            <a:ext cx="254550" cy="207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587752" y="4028248"/>
            <a:ext cx="644978" cy="338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8"/>
              </a:lnSpc>
              <a:spcBef>
                <a:spcPts val="0"/>
              </a:spcBef>
              <a:spcAft>
                <a:spcPts val="0"/>
              </a:spcAft>
            </a:pP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D</a:t>
            </a:r>
            <a:r>
              <a:rPr sz="1800" i="1" spc="123" baseline="-23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*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645408" y="4021834"/>
            <a:ext cx="1483603" cy="345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64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50" spc="146" dirty="0">
                <a:solidFill>
                  <a:srgbClr val="000000"/>
                </a:solidFill>
                <a:latin typeface="FEVUPN+Symbol"/>
                <a:cs typeface="FEVUPN+Symbol"/>
              </a:rPr>
              <a:t>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38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700" spc="-6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700" i="1" spc="5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*)</a:t>
            </a:r>
          </a:p>
          <a:p>
            <a:pPr marL="1280159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</a:p>
          <a:p>
            <a:pPr marL="457200" marR="0">
              <a:lnSpc>
                <a:spcPts val="1335"/>
              </a:lnSpc>
              <a:spcBef>
                <a:spcPts val="5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200" i="1" spc="287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4794504" y="4009807"/>
            <a:ext cx="228975" cy="207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6449524" y="4101495"/>
            <a:ext cx="5436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(1.7)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151632" y="4195888"/>
            <a:ext cx="613173" cy="300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8"/>
              </a:lnSpc>
              <a:spcBef>
                <a:spcPts val="0"/>
              </a:spcBef>
              <a:spcAft>
                <a:spcPts val="0"/>
              </a:spcAft>
            </a:pP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700" i="1" spc="1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spc="171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3730752" y="4291011"/>
            <a:ext cx="355578" cy="225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7"/>
              </a:lnSpc>
              <a:spcBef>
                <a:spcPts val="0"/>
              </a:spcBef>
              <a:spcAft>
                <a:spcPts val="0"/>
              </a:spcAft>
            </a:pPr>
            <a:r>
              <a:rPr sz="1200" i="1" spc="7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200" spc="-83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719328" y="4488592"/>
            <a:ext cx="6273545" cy="498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  <a:r>
              <a:rPr sz="1600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D</a:t>
            </a:r>
            <a:r>
              <a:rPr sz="1600" i="1" baseline="-14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*</a:t>
            </a:r>
            <a:r>
              <a:rPr sz="1600" i="1" spc="19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1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статистическая</a:t>
            </a:r>
            <a:r>
              <a:rPr sz="1600" spc="1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оценка</a:t>
            </a:r>
            <a:r>
              <a:rPr sz="1600" spc="1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дисперсии</a:t>
            </a:r>
            <a:r>
              <a:rPr sz="1600" spc="1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ра-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боты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изделия.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170432" y="5427375"/>
            <a:ext cx="26694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1.2</a:t>
            </a:r>
            <a:r>
              <a:rPr sz="1600" b="1" spc="24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Решение типовых задач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170432" y="5891558"/>
            <a:ext cx="112920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 № 1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1170432" y="6125368"/>
            <a:ext cx="582244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1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трех</a:t>
            </a:r>
            <a:r>
              <a:rPr sz="1600" spc="1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блоков,</a:t>
            </a:r>
            <a:r>
              <a:rPr sz="1600" spc="1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1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ра-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2645664" y="6359153"/>
            <a:ext cx="565057" cy="2999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00" i="1" spc="6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900" i="1" spc="3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9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900" spc="3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3090672" y="6380975"/>
            <a:ext cx="442673" cy="249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5"/>
              </a:lnSpc>
              <a:spcBef>
                <a:spcPts val="0"/>
              </a:spcBef>
              <a:spcAft>
                <a:spcPts val="0"/>
              </a:spcAft>
            </a:pPr>
            <a:r>
              <a:rPr sz="15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160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3422903" y="6359153"/>
            <a:ext cx="3568018" cy="2999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  <a:r>
              <a:rPr sz="1600" spc="3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500" i="1" spc="106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320</a:t>
            </a:r>
            <a:r>
              <a:rPr sz="15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  <a:r>
              <a:rPr sz="1600" spc="2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500" i="1" spc="10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600</a:t>
            </a:r>
            <a:r>
              <a:rPr sz="1500" spc="-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блоков</a:t>
            </a:r>
          </a:p>
          <a:p>
            <a:pPr marL="441960" marR="0">
              <a:lnSpc>
                <a:spcPts val="971"/>
              </a:lnSpc>
              <a:spcBef>
                <a:spcPts val="0"/>
              </a:spcBef>
              <a:spcAft>
                <a:spcPts val="0"/>
              </a:spcAft>
            </a:pPr>
            <a:r>
              <a:rPr sz="900" i="1" spc="13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9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900" spc="770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900" i="1" spc="1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9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719328" y="6387496"/>
            <a:ext cx="198891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боты</a:t>
            </a:r>
            <a:r>
              <a:rPr sz="160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  <a:r>
              <a:rPr sz="1600" spc="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равно: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719328" y="6646575"/>
            <a:ext cx="6270686" cy="73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справедлив</a:t>
            </a:r>
            <a:r>
              <a:rPr sz="1600" spc="1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экспоненциальный</a:t>
            </a:r>
            <a:r>
              <a:rPr sz="1600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</a:t>
            </a:r>
            <a:r>
              <a:rPr sz="1600" spc="2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надежности.</a:t>
            </a:r>
            <a:r>
              <a:rPr sz="1600" spc="1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лить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 время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системы.</a:t>
            </a:r>
          </a:p>
          <a:p>
            <a:pPr marL="451104" marR="0">
              <a:lnSpc>
                <a:spcPts val="1771"/>
              </a:lnSpc>
              <a:spcBef>
                <a:spcPts val="5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Решение.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170432" y="7347616"/>
            <a:ext cx="5000277" cy="279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Сначала находим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</a:t>
            </a:r>
            <a:r>
              <a:rPr sz="1600" i="1" baseline="-15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i="1" spc="-19" baseline="-15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 интенсивность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-го блока: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1734312" y="7592328"/>
            <a:ext cx="257417" cy="27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2282952" y="7592328"/>
            <a:ext cx="257417" cy="27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3227832" y="7592328"/>
            <a:ext cx="257417" cy="27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3800856" y="7592328"/>
            <a:ext cx="257417" cy="27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4739640" y="7592328"/>
            <a:ext cx="257417" cy="27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5309616" y="7592328"/>
            <a:ext cx="257417" cy="27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1194816" y="7699392"/>
            <a:ext cx="526753" cy="336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spc="-1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baseline="-261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800" spc="102" baseline="-261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2005584" y="7699392"/>
            <a:ext cx="267673" cy="295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2535936" y="7699392"/>
            <a:ext cx="666961" cy="336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</a:t>
            </a:r>
            <a:r>
              <a:rPr sz="1650" i="1" spc="-9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126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baseline="-261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800" spc="198" baseline="-261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3514344" y="7699392"/>
            <a:ext cx="267673" cy="295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4062984" y="7699392"/>
            <a:ext cx="654768" cy="336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</a:t>
            </a:r>
            <a:r>
              <a:rPr sz="1650" i="1" spc="-9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7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baseline="-261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800" spc="150" baseline="-261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5023104" y="7699392"/>
            <a:ext cx="267673" cy="295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5574792" y="7723392"/>
            <a:ext cx="204908" cy="27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.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1639824" y="7887983"/>
            <a:ext cx="997696" cy="312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800" i="1" spc="27" baseline="-2618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800" baseline="-261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800" spc="1494" baseline="-261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160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3121152" y="7887983"/>
            <a:ext cx="1043416" cy="312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800" i="1" spc="147" baseline="-2618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800" baseline="-261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800" spc="1734" baseline="-261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320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4636008" y="7887983"/>
            <a:ext cx="1037320" cy="312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8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800" i="1" spc="99" baseline="-2618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800" baseline="-261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800" spc="1710" baseline="-261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600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1170432" y="8167528"/>
            <a:ext cx="470801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Затем находим </a:t>
            </a:r>
            <a:r>
              <a:rPr sz="1600" i="1" spc="-2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λc</a:t>
            </a:r>
            <a:r>
              <a:rPr sz="1600" i="1" spc="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-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системы: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93136" y="8406629"/>
            <a:ext cx="253725" cy="2625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70" name="object 70"/>
          <p:cNvSpPr txBox="1"/>
          <p:nvPr/>
        </p:nvSpPr>
        <p:spPr>
          <a:xfrm>
            <a:off x="3529584" y="8406629"/>
            <a:ext cx="253725" cy="2625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4072128" y="8406629"/>
            <a:ext cx="253725" cy="2625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1194816" y="8514535"/>
            <a:ext cx="1799812" cy="2863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00" spc="8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00" spc="66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00" spc="88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60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00" spc="8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3252215" y="8514535"/>
            <a:ext cx="263620" cy="2863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3794759" y="8514535"/>
            <a:ext cx="263620" cy="2863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</a:p>
        </p:txBody>
      </p:sp>
      <p:sp>
        <p:nvSpPr>
          <p:cNvPr id="75" name="object 75"/>
          <p:cNvSpPr txBox="1"/>
          <p:nvPr/>
        </p:nvSpPr>
        <p:spPr>
          <a:xfrm>
            <a:off x="4343400" y="8514535"/>
            <a:ext cx="1221332" cy="310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6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00" i="1" spc="-1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011</a:t>
            </a:r>
            <a:r>
              <a:rPr sz="2400" baseline="-12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(1/ч).</a:t>
            </a:r>
          </a:p>
        </p:txBody>
      </p:sp>
      <p:sp>
        <p:nvSpPr>
          <p:cNvPr id="76" name="object 76"/>
          <p:cNvSpPr txBox="1"/>
          <p:nvPr/>
        </p:nvSpPr>
        <p:spPr>
          <a:xfrm>
            <a:off x="1313688" y="8638062"/>
            <a:ext cx="216647" cy="198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62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</a:t>
            </a:r>
          </a:p>
        </p:txBody>
      </p:sp>
      <p:sp>
        <p:nvSpPr>
          <p:cNvPr id="77" name="object 77"/>
          <p:cNvSpPr txBox="1"/>
          <p:nvPr/>
        </p:nvSpPr>
        <p:spPr>
          <a:xfrm>
            <a:off x="1725168" y="8638062"/>
            <a:ext cx="224775" cy="198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62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151888" y="8638062"/>
            <a:ext cx="224775" cy="198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62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79" name="object 79"/>
          <p:cNvSpPr txBox="1"/>
          <p:nvPr/>
        </p:nvSpPr>
        <p:spPr>
          <a:xfrm>
            <a:off x="2581656" y="8638062"/>
            <a:ext cx="224775" cy="198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62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80" name="object 80"/>
          <p:cNvSpPr txBox="1"/>
          <p:nvPr/>
        </p:nvSpPr>
        <p:spPr>
          <a:xfrm>
            <a:off x="1170432" y="8696189"/>
            <a:ext cx="4049337" cy="4884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2975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160</a:t>
            </a:r>
            <a:r>
              <a:rPr sz="1600" spc="14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320</a:t>
            </a:r>
            <a:r>
              <a:rPr sz="1600" spc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600</a:t>
            </a:r>
          </a:p>
          <a:p>
            <a:pPr marL="0" marR="0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 время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системы:</a:t>
            </a:r>
          </a:p>
        </p:txBody>
      </p:sp>
      <p:sp>
        <p:nvSpPr>
          <p:cNvPr id="81" name="object 81"/>
          <p:cNvSpPr txBox="1"/>
          <p:nvPr/>
        </p:nvSpPr>
        <p:spPr>
          <a:xfrm>
            <a:off x="1798320" y="9165096"/>
            <a:ext cx="257417" cy="27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82" name="object 82"/>
          <p:cNvSpPr txBox="1"/>
          <p:nvPr/>
        </p:nvSpPr>
        <p:spPr>
          <a:xfrm>
            <a:off x="2389632" y="9165096"/>
            <a:ext cx="257417" cy="27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83" name="object 83"/>
          <p:cNvSpPr txBox="1"/>
          <p:nvPr/>
        </p:nvSpPr>
        <p:spPr>
          <a:xfrm>
            <a:off x="1197862" y="9272160"/>
            <a:ext cx="624290" cy="336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8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800" i="1" baseline="-2618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tc</a:t>
            </a:r>
            <a:r>
              <a:rPr sz="1800" i="1" spc="216" baseline="-2618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84" name="object 84"/>
          <p:cNvSpPr txBox="1"/>
          <p:nvPr/>
        </p:nvSpPr>
        <p:spPr>
          <a:xfrm>
            <a:off x="2033016" y="9272160"/>
            <a:ext cx="267673" cy="295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85" name="object 85"/>
          <p:cNvSpPr txBox="1"/>
          <p:nvPr/>
        </p:nvSpPr>
        <p:spPr>
          <a:xfrm>
            <a:off x="2740152" y="9272160"/>
            <a:ext cx="834497" cy="333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65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91</a:t>
            </a:r>
            <a:r>
              <a:rPr sz="2400" baseline="-189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(ч).</a:t>
            </a:r>
          </a:p>
        </p:txBody>
      </p:sp>
      <p:sp>
        <p:nvSpPr>
          <p:cNvPr id="86" name="object 86"/>
          <p:cNvSpPr txBox="1"/>
          <p:nvPr/>
        </p:nvSpPr>
        <p:spPr>
          <a:xfrm>
            <a:off x="1737360" y="9436753"/>
            <a:ext cx="1101328" cy="336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spc="7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i="1" baseline="-26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800" i="1" spc="1801" baseline="-26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2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011</a:t>
            </a:r>
          </a:p>
        </p:txBody>
      </p:sp>
      <p:sp>
        <p:nvSpPr>
          <p:cNvPr id="87" name="object 87"/>
          <p:cNvSpPr txBox="1"/>
          <p:nvPr/>
        </p:nvSpPr>
        <p:spPr>
          <a:xfrm>
            <a:off x="3727703" y="10099959"/>
            <a:ext cx="25448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endParaRPr sz="1600" dirty="0">
              <a:solidFill>
                <a:srgbClr val="000000"/>
              </a:solidFill>
              <a:latin typeface="LHMNJT+Times New Roman"/>
              <a:cs typeface="LHMNJT+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2911411" y="7525575"/>
            <a:ext cx="816483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1876044" y="7525575"/>
            <a:ext cx="770572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00706" y="6962648"/>
            <a:ext cx="74314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40039" y="6962648"/>
            <a:ext cx="524446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03588" y="6417056"/>
            <a:ext cx="858773" cy="12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0844" y="6417056"/>
            <a:ext cx="391667" cy="12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14637" y="5871464"/>
            <a:ext cx="341757" cy="127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86940" y="5871464"/>
            <a:ext cx="392049" cy="12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80588" y="3183128"/>
            <a:ext cx="426910" cy="127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57603" y="3183128"/>
            <a:ext cx="790956" cy="127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09303" y="2637536"/>
            <a:ext cx="424814" cy="127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83701" y="2637536"/>
            <a:ext cx="390715" cy="12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432" y="722149"/>
            <a:ext cx="112920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 № 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9328" y="955959"/>
            <a:ext cx="6276783" cy="7305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испытание</a:t>
            </a:r>
            <a:r>
              <a:rPr sz="1600" spc="1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поставлено</a:t>
            </a:r>
            <a:r>
              <a:rPr sz="1600" spc="1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600" spc="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однотипных</a:t>
            </a:r>
            <a:r>
              <a:rPr sz="1600" spc="1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подшипников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каче-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ния;</a:t>
            </a:r>
            <a:r>
              <a:rPr sz="1600" spc="1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1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3000</a:t>
            </a:r>
            <a:r>
              <a:rPr sz="1600" spc="1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</a:t>
            </a:r>
            <a:r>
              <a:rPr sz="1600" spc="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отказало</a:t>
            </a:r>
            <a:r>
              <a:rPr sz="1600" spc="1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80</a:t>
            </a:r>
            <a:r>
              <a:rPr sz="1600" spc="1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подшипников.</a:t>
            </a:r>
            <a:r>
              <a:rPr sz="1600" spc="1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1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2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р(t)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</a:p>
          <a:p>
            <a:pPr marL="0" marR="0">
              <a:lnSpc>
                <a:spcPts val="1780"/>
              </a:lnSpc>
              <a:spcBef>
                <a:spcPts val="93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q(t)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3000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78990" y="1657885"/>
            <a:ext cx="96460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spc="-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78990" y="1891696"/>
            <a:ext cx="5807644" cy="747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-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данном</a:t>
            </a:r>
            <a:r>
              <a:rPr sz="1600" spc="-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случае</a:t>
            </a:r>
            <a:r>
              <a:rPr sz="1600" spc="-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600" i="1" spc="-5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-7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600" spc="-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шт.;</a:t>
            </a:r>
            <a:r>
              <a:rPr sz="1600" spc="-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-2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n(t)</a:t>
            </a:r>
            <a:r>
              <a:rPr sz="1600" i="1" spc="-4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-7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600" spc="-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-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80</a:t>
            </a:r>
            <a:r>
              <a:rPr sz="1600" spc="-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-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920</a:t>
            </a:r>
            <a:r>
              <a:rPr sz="1600" spc="-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(шт.);</a:t>
            </a:r>
          </a:p>
          <a:p>
            <a:pPr marL="91441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 – n(t)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1000 – 920 = 80.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 формулам (1.1)</a:t>
            </a:r>
            <a:r>
              <a:rPr sz="1600" spc="-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(1.2) определяем</a:t>
            </a:r>
          </a:p>
          <a:p>
            <a:pPr marL="1115569" marR="0">
              <a:lnSpc>
                <a:spcPts val="1849"/>
              </a:lnSpc>
              <a:spcBef>
                <a:spcPts val="157"/>
              </a:spcBef>
              <a:spcAft>
                <a:spcPts val="0"/>
              </a:spcAft>
            </a:pPr>
            <a:r>
              <a:rPr sz="1650" i="1" spc="-3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</a:t>
            </a:r>
            <a:r>
              <a:rPr sz="1650" i="1" spc="-1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i="1" spc="-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18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920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225296" y="2476060"/>
            <a:ext cx="1052159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р(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3000</a:t>
            </a:r>
            <a:r>
              <a:rPr sz="1650" spc="-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7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633472" y="2476060"/>
            <a:ext cx="268823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294888" y="2476060"/>
            <a:ext cx="758179" cy="332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92</a:t>
            </a:r>
            <a:r>
              <a:rPr sz="2400" baseline="-174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304288" y="2667940"/>
            <a:ext cx="293889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798064" y="2667940"/>
            <a:ext cx="577935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179320" y="2884491"/>
            <a:ext cx="924081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650" i="1" spc="2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7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</a:t>
            </a:r>
            <a:r>
              <a:rPr sz="1650" i="1" spc="-8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285744" y="2911779"/>
            <a:ext cx="364955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80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197862" y="3021651"/>
            <a:ext cx="1055209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q(</a:t>
            </a:r>
            <a:r>
              <a:rPr sz="1650" i="1" spc="-13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3000</a:t>
            </a:r>
            <a:r>
              <a:rPr sz="1650" spc="-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7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008376" y="3021651"/>
            <a:ext cx="268823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666744" y="3021651"/>
            <a:ext cx="770371" cy="332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08</a:t>
            </a:r>
          </a:p>
          <a:p>
            <a:pPr marL="566927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478024" y="3213531"/>
            <a:ext cx="293889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3169920" y="3213531"/>
            <a:ext cx="577935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197862" y="3416035"/>
            <a:ext cx="3543466" cy="29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5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q(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3000</a:t>
            </a:r>
            <a:r>
              <a:rPr sz="1650" spc="-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7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1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1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50" spc="9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р(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3000</a:t>
            </a:r>
            <a:r>
              <a:rPr sz="1650" spc="-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5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246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1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50" spc="-1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92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2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08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617720" y="3461415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170432" y="3956078"/>
            <a:ext cx="112920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 № 3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19328" y="4189887"/>
            <a:ext cx="6273823" cy="1197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испытание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поставлено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500</a:t>
            </a:r>
            <a:r>
              <a:rPr sz="16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  <a:r>
              <a:rPr sz="1600" spc="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время</a:t>
            </a:r>
            <a:r>
              <a:rPr sz="1600" spc="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3000</a:t>
            </a:r>
            <a:r>
              <a:rPr sz="1600" spc="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</a:t>
            </a:r>
            <a:r>
              <a:rPr sz="1600" spc="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отказало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300</a:t>
            </a:r>
            <a:r>
              <a:rPr sz="160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изделий,</a:t>
            </a:r>
            <a:r>
              <a:rPr sz="1600" spc="1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т.е.</a:t>
            </a:r>
            <a:r>
              <a:rPr sz="1600" spc="1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n(t)</a:t>
            </a:r>
            <a:r>
              <a:rPr sz="1600" i="1" spc="13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500</a:t>
            </a:r>
            <a:r>
              <a:rPr sz="1600" spc="1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</a:t>
            </a:r>
            <a:r>
              <a:rPr sz="1600" spc="1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300=200.</a:t>
            </a:r>
            <a:r>
              <a:rPr sz="1600" spc="1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1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интервал</a:t>
            </a:r>
            <a:r>
              <a:rPr sz="1600" spc="16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(t,</a:t>
            </a:r>
            <a:r>
              <a:rPr sz="1600" i="1" spc="1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t+Δt)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Δt</a:t>
            </a:r>
            <a:r>
              <a:rPr sz="1600" i="1" spc="16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  <a:r>
              <a:rPr sz="1600" spc="1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ч,</a:t>
            </a:r>
            <a:r>
              <a:rPr sz="1600" spc="1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отказало</a:t>
            </a:r>
            <a:r>
              <a:rPr sz="1600" spc="1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еще</a:t>
            </a:r>
            <a:r>
              <a:rPr sz="1600" spc="1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изделий,</a:t>
            </a:r>
            <a:r>
              <a:rPr sz="1600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т.е.</a:t>
            </a:r>
            <a:r>
              <a:rPr sz="1600" spc="1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Δn(t)</a:t>
            </a:r>
            <a:r>
              <a:rPr sz="1600" i="1" spc="11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100.</a:t>
            </a:r>
            <a:r>
              <a:rPr sz="1600" spc="1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р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(3000), </a:t>
            </a:r>
            <a:r>
              <a:rPr sz="1600" i="1" spc="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р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(3100),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(3000),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(3000).</a:t>
            </a:r>
          </a:p>
          <a:p>
            <a:pPr marL="451104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Решение.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170432" y="5357272"/>
            <a:ext cx="250122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 формуле (1.1) находим: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200656" y="5597068"/>
            <a:ext cx="1096285" cy="27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7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</a:t>
            </a:r>
            <a:r>
              <a:rPr sz="1650" i="1" spc="-10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153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200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1225296" y="5709988"/>
            <a:ext cx="1055207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</a:t>
            </a:r>
            <a:r>
              <a:rPr sz="1650" i="1" spc="-13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3000</a:t>
            </a:r>
            <a:r>
              <a:rPr sz="1650" spc="-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7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639568" y="5709988"/>
            <a:ext cx="268823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215640" y="5709988"/>
            <a:ext cx="666326" cy="332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7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2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  <a:r>
              <a:rPr sz="2400" baseline="-174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2307336" y="5901868"/>
            <a:ext cx="293889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822448" y="5901868"/>
            <a:ext cx="471445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500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2191512" y="6121468"/>
            <a:ext cx="1614445" cy="2972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7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</a:t>
            </a:r>
            <a:r>
              <a:rPr sz="1650" i="1" spc="-10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15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200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246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225296" y="6255580"/>
            <a:ext cx="1052159" cy="29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3100</a:t>
            </a:r>
            <a:r>
              <a:rPr sz="1650" spc="-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7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630424" y="6255580"/>
            <a:ext cx="268823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3721608" y="6255580"/>
            <a:ext cx="663277" cy="332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0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2400" baseline="-174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2301240" y="6447460"/>
            <a:ext cx="293889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1871472" y="6447460"/>
            <a:ext cx="1672357" cy="819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0912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500</a:t>
            </a:r>
          </a:p>
          <a:p>
            <a:pPr marL="929639" marR="0">
              <a:lnSpc>
                <a:spcPts val="1849"/>
              </a:lnSpc>
              <a:spcBef>
                <a:spcPts val="120"/>
              </a:spcBef>
              <a:spcAft>
                <a:spcPts val="0"/>
              </a:spcAft>
            </a:pP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</a:p>
          <a:p>
            <a:pPr marL="0" marR="0">
              <a:lnSpc>
                <a:spcPts val="2046"/>
              </a:lnSpc>
              <a:spcBef>
                <a:spcPts val="385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 </a:t>
            </a:r>
            <a:r>
              <a:rPr sz="1650" spc="235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50" spc="23" dirty="0">
                <a:solidFill>
                  <a:srgbClr val="000000"/>
                </a:solidFill>
                <a:latin typeface="TLMUER+Symbol"/>
                <a:cs typeface="TLMUER+Symbol"/>
              </a:rPr>
              <a:t>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i="1" spc="172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500</a:t>
            </a:r>
            <a:r>
              <a:rPr sz="1650" spc="-16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43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853184" y="6664012"/>
            <a:ext cx="665001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spc="23" dirty="0">
                <a:solidFill>
                  <a:srgbClr val="000000"/>
                </a:solidFill>
                <a:latin typeface="TLMUER+Symbol"/>
                <a:cs typeface="TLMUER+Symbol"/>
              </a:rPr>
              <a:t></a:t>
            </a:r>
            <a:r>
              <a:rPr sz="1650" i="1" spc="7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</a:t>
            </a:r>
            <a:r>
              <a:rPr sz="1650" i="1" spc="-7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1237488" y="6801171"/>
            <a:ext cx="695543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650" i="1" spc="-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5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2426208" y="6801171"/>
            <a:ext cx="268823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3404615" y="6801171"/>
            <a:ext cx="791485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2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002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4081271" y="6869080"/>
            <a:ext cx="2091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1993392" y="7209352"/>
            <a:ext cx="700612" cy="316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LMUER+Symbol"/>
                <a:cs typeface="TLMUER+Symbol"/>
              </a:rPr>
              <a:t></a:t>
            </a:r>
            <a:r>
              <a:rPr sz="1800" i="1" spc="6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</a:t>
            </a:r>
            <a:r>
              <a:rPr sz="1800" i="1" spc="-10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3136392" y="7235353"/>
            <a:ext cx="497803" cy="290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8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1194816" y="7352608"/>
            <a:ext cx="764959" cy="316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5"/>
              </a:lnSpc>
              <a:spcBef>
                <a:spcPts val="0"/>
              </a:spcBef>
              <a:spcAft>
                <a:spcPts val="0"/>
              </a:spcAft>
            </a:pPr>
            <a:r>
              <a:rPr sz="1800" spc="6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i="1" spc="26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800" i="1" spc="-30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800" i="1" spc="-4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2718816" y="7352608"/>
            <a:ext cx="277279" cy="316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3797808" y="7352608"/>
            <a:ext cx="928867" cy="372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8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800" i="1" spc="-13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8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005</a:t>
            </a:r>
            <a:r>
              <a:rPr sz="2400" baseline="-266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1889760" y="7532440"/>
            <a:ext cx="1985227" cy="316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LMUER+Symbol"/>
                <a:cs typeface="TLMUER+Symbol"/>
              </a:rPr>
              <a:t>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800" i="1" spc="-6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800" spc="-1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i="1" spc="6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n(t</a:t>
            </a:r>
            <a:r>
              <a:rPr sz="1800" i="1" spc="-10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800" i="1" spc="15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  <a:r>
              <a:rPr sz="1800" spc="-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800" spc="-1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200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1170432" y="8095261"/>
            <a:ext cx="112920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 № 4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1170432" y="8329072"/>
            <a:ext cx="581958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2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испытание</a:t>
            </a:r>
            <a:r>
              <a:rPr sz="1600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поставлено</a:t>
            </a:r>
            <a:r>
              <a:rPr sz="1600" spc="2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шесть</a:t>
            </a:r>
            <a:r>
              <a:rPr sz="1600" spc="2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однотипных</a:t>
            </a:r>
            <a:r>
              <a:rPr sz="1600" spc="2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  <a:r>
              <a:rPr sz="160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Получе-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719328" y="8560720"/>
            <a:ext cx="627068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ны</a:t>
            </a:r>
            <a:r>
              <a:rPr sz="1600" spc="2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следующие</a:t>
            </a:r>
            <a:r>
              <a:rPr sz="1600" spc="2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значения</a:t>
            </a:r>
            <a:r>
              <a:rPr sz="1600" spc="2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5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5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2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2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2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2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-го</a:t>
            </a:r>
            <a:r>
              <a:rPr sz="1600" spc="2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изде-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3038856" y="8653662"/>
            <a:ext cx="18965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3279648" y="8653662"/>
            <a:ext cx="18965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719328" y="8795416"/>
            <a:ext cx="60035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лия):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54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280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ч;</a:t>
            </a:r>
            <a:r>
              <a:rPr sz="1600" spc="-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5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350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ч;</a:t>
            </a:r>
            <a:r>
              <a:rPr sz="1600" spc="-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5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400 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ч;</a:t>
            </a:r>
            <a:r>
              <a:rPr sz="1600" spc="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5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320</a:t>
            </a:r>
            <a:r>
              <a:rPr sz="1600" spc="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ч;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5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380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ч;</a:t>
            </a:r>
            <a:r>
              <a:rPr sz="1600" spc="-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5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330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1255776" y="8888359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2161032" y="8888359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3066288" y="8888359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971544" y="8888359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4873752" y="8888359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</a:p>
        </p:txBody>
      </p:sp>
      <p:sp>
        <p:nvSpPr>
          <p:cNvPr id="70" name="object 70"/>
          <p:cNvSpPr txBox="1"/>
          <p:nvPr/>
        </p:nvSpPr>
        <p:spPr>
          <a:xfrm>
            <a:off x="5779008" y="8888359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719328" y="9030112"/>
            <a:ext cx="6270846" cy="495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1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статистическую</a:t>
            </a:r>
            <a:r>
              <a:rPr sz="1600" spc="1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оценку</a:t>
            </a:r>
            <a:r>
              <a:rPr sz="1600" spc="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среднего</a:t>
            </a:r>
            <a:r>
              <a:rPr sz="1600" spc="1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безотказ-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ной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изделия.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1170432" y="9497342"/>
            <a:ext cx="2244123" cy="498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Решение.</a:t>
            </a:r>
          </a:p>
          <a:p>
            <a:pPr marL="0" marR="0">
              <a:lnSpc>
                <a:spcPts val="1780"/>
              </a:lnSpc>
              <a:spcBef>
                <a:spcPts val="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 формуле (1.5) имеем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3727703" y="10099959"/>
            <a:ext cx="25448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 smtClean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endParaRPr sz="1600" dirty="0">
              <a:solidFill>
                <a:srgbClr val="000000"/>
              </a:solidFill>
              <a:latin typeface="LHMNJT+Times New Roman"/>
              <a:cs typeface="LHMNJT+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96492" y="7855140"/>
            <a:ext cx="502158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746379" y="7315263"/>
            <a:ext cx="5889879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35136" y="6788912"/>
            <a:ext cx="4390072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40725" y="6788912"/>
            <a:ext cx="171832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7616" y="2655824"/>
            <a:ext cx="6083807" cy="17617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49171" y="994473"/>
            <a:ext cx="119633" cy="127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55648" y="730588"/>
            <a:ext cx="256095" cy="267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8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97862" y="806536"/>
            <a:ext cx="4721481" cy="330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02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50" i="1" spc="12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*</a:t>
            </a:r>
            <a:r>
              <a:rPr sz="1650" i="1" spc="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127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spc="-104" dirty="0">
                <a:solidFill>
                  <a:srgbClr val="000000"/>
                </a:solidFill>
                <a:latin typeface="FEVUPN+Symbol"/>
                <a:cs typeface="FEVUPN+Symbol"/>
              </a:rPr>
              <a:t>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280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65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350</a:t>
            </a:r>
            <a:r>
              <a:rPr sz="165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400</a:t>
            </a:r>
            <a:r>
              <a:rPr sz="165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65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320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65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380</a:t>
            </a:r>
            <a:r>
              <a:rPr sz="165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65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330</a:t>
            </a:r>
            <a:r>
              <a:rPr sz="1900" spc="183" dirty="0">
                <a:solidFill>
                  <a:srgbClr val="000000"/>
                </a:solidFill>
                <a:latin typeface="FEVUPN+Symbol"/>
                <a:cs typeface="FEVUPN+Symbol"/>
              </a:rPr>
              <a:t>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343</a:t>
            </a:r>
            <a:r>
              <a:rPr sz="1650" i="1" spc="-14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33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785104" y="894999"/>
            <a:ext cx="43682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ч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53312" y="966276"/>
            <a:ext cx="193556" cy="202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58696" y="1023196"/>
            <a:ext cx="256095" cy="267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8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70432" y="1490245"/>
            <a:ext cx="112920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 № 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9328" y="1721008"/>
            <a:ext cx="6273331" cy="96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3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результате</a:t>
            </a:r>
            <a:r>
              <a:rPr sz="1600" spc="3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наблюдения</a:t>
            </a:r>
            <a:r>
              <a:rPr sz="1600" spc="3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3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45</a:t>
            </a:r>
            <a:r>
              <a:rPr sz="1600" spc="3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образцами</a:t>
            </a:r>
            <a:r>
              <a:rPr sz="1600" spc="35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радиоэлектронного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оборудования</a:t>
            </a:r>
            <a:r>
              <a:rPr sz="1600" spc="1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получены</a:t>
            </a:r>
            <a:r>
              <a:rPr sz="1600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данные</a:t>
            </a:r>
            <a:r>
              <a:rPr sz="1600" spc="1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до</a:t>
            </a:r>
            <a:r>
              <a:rPr sz="1600" spc="1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первого</a:t>
            </a:r>
            <a:r>
              <a:rPr sz="1600" spc="1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</a:t>
            </a:r>
            <a:r>
              <a:rPr sz="1600" spc="1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всех</a:t>
            </a:r>
            <a:r>
              <a:rPr sz="1600" spc="1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45</a:t>
            </a:r>
            <a:r>
              <a:rPr sz="1600" spc="1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образцов,</a:t>
            </a:r>
          </a:p>
          <a:p>
            <a:pPr marL="0" marR="0">
              <a:lnSpc>
                <a:spcPts val="1780"/>
              </a:lnSpc>
              <a:spcBef>
                <a:spcPts val="9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сведенные в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таблицу.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1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mt*.</a:t>
            </a:r>
          </a:p>
          <a:p>
            <a:pPr marL="5391912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Таблица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08888" y="2652849"/>
            <a:ext cx="320942" cy="257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4"/>
              </a:lnSpc>
              <a:spcBef>
                <a:spcPts val="0"/>
              </a:spcBef>
              <a:spcAft>
                <a:spcPts val="0"/>
              </a:spcAft>
            </a:pPr>
            <a:r>
              <a:rPr sz="1400" spc="79" dirty="0">
                <a:solidFill>
                  <a:srgbClr val="000000"/>
                </a:solidFill>
                <a:latin typeface="FEVUPN+Symbol"/>
                <a:cs typeface="FEVUPN+Symbol"/>
              </a:rPr>
              <a:t></a:t>
            </a:r>
            <a:r>
              <a:rPr sz="14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032760" y="2652849"/>
            <a:ext cx="320942" cy="257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4"/>
              </a:lnSpc>
              <a:spcBef>
                <a:spcPts val="0"/>
              </a:spcBef>
              <a:spcAft>
                <a:spcPts val="0"/>
              </a:spcAft>
            </a:pPr>
            <a:r>
              <a:rPr sz="1400" spc="79" dirty="0">
                <a:solidFill>
                  <a:srgbClr val="000000"/>
                </a:solidFill>
                <a:latin typeface="FEVUPN+Symbol"/>
                <a:cs typeface="FEVUPN+Symbol"/>
              </a:rPr>
              <a:t></a:t>
            </a:r>
            <a:r>
              <a:rPr sz="14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059680" y="2652849"/>
            <a:ext cx="320943" cy="257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4"/>
              </a:lnSpc>
              <a:spcBef>
                <a:spcPts val="0"/>
              </a:spcBef>
              <a:spcAft>
                <a:spcPts val="0"/>
              </a:spcAft>
            </a:pPr>
            <a:r>
              <a:rPr sz="1400" spc="79" dirty="0">
                <a:solidFill>
                  <a:srgbClr val="000000"/>
                </a:solidFill>
                <a:latin typeface="FEVUPN+Symbol"/>
                <a:cs typeface="FEVUPN+Symbol"/>
              </a:rPr>
              <a:t></a:t>
            </a:r>
            <a:r>
              <a:rPr sz="14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197608" y="2679374"/>
            <a:ext cx="269766" cy="2626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9"/>
              </a:lnSpc>
              <a:spcBef>
                <a:spcPts val="0"/>
              </a:spcBef>
              <a:spcAft>
                <a:spcPts val="0"/>
              </a:spcAft>
            </a:pPr>
            <a:r>
              <a:rPr sz="2100" i="1" baseline="41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221480" y="2679374"/>
            <a:ext cx="269766" cy="2626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9"/>
              </a:lnSpc>
              <a:spcBef>
                <a:spcPts val="0"/>
              </a:spcBef>
              <a:spcAft>
                <a:spcPts val="0"/>
              </a:spcAft>
            </a:pPr>
            <a:r>
              <a:rPr sz="2100" i="1" baseline="41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248400" y="2679374"/>
            <a:ext cx="269766" cy="2626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9"/>
              </a:lnSpc>
              <a:spcBef>
                <a:spcPts val="0"/>
              </a:spcBef>
              <a:spcAft>
                <a:spcPts val="0"/>
              </a:spcAft>
            </a:pPr>
            <a:r>
              <a:rPr sz="2100" i="1" baseline="41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58824" y="2739039"/>
            <a:ext cx="41027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282696" y="2739039"/>
            <a:ext cx="41070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309616" y="2739039"/>
            <a:ext cx="41070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91768" y="2782338"/>
            <a:ext cx="181374" cy="153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09"/>
              </a:lnSpc>
              <a:spcBef>
                <a:spcPts val="0"/>
              </a:spcBef>
              <a:spcAft>
                <a:spcPts val="0"/>
              </a:spcAft>
            </a:pPr>
            <a:r>
              <a:rPr sz="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215640" y="2782338"/>
            <a:ext cx="181374" cy="153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09"/>
              </a:lnSpc>
              <a:spcBef>
                <a:spcPts val="0"/>
              </a:spcBef>
              <a:spcAft>
                <a:spcPts val="0"/>
              </a:spcAft>
            </a:pPr>
            <a:r>
              <a:rPr sz="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242560" y="2782338"/>
            <a:ext cx="181374" cy="153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09"/>
              </a:lnSpc>
              <a:spcBef>
                <a:spcPts val="0"/>
              </a:spcBef>
              <a:spcAft>
                <a:spcPts val="0"/>
              </a:spcAft>
            </a:pPr>
            <a:r>
              <a:rPr sz="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008888" y="2979832"/>
            <a:ext cx="629275" cy="1465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3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0-5</a:t>
            </a:r>
          </a:p>
          <a:p>
            <a:pPr marL="51815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5-10</a:t>
            </a:r>
          </a:p>
          <a:p>
            <a:pPr marL="0" marR="0">
              <a:lnSpc>
                <a:spcPts val="1780"/>
              </a:lnSpc>
              <a:spcBef>
                <a:spcPts val="4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10-15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15-20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20-25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25-30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206752" y="2979832"/>
            <a:ext cx="254486" cy="1465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</a:p>
          <a:p>
            <a:pPr marL="0" marR="0">
              <a:lnSpc>
                <a:spcPts val="1780"/>
              </a:lnSpc>
              <a:spcBef>
                <a:spcPts val="4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3032760" y="2979832"/>
            <a:ext cx="629274" cy="1465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30-35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35-40</a:t>
            </a:r>
          </a:p>
          <a:p>
            <a:pPr marL="0" marR="0">
              <a:lnSpc>
                <a:spcPts val="1780"/>
              </a:lnSpc>
              <a:spcBef>
                <a:spcPts val="4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40-45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45-50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50-55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55-60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230624" y="2979832"/>
            <a:ext cx="254486" cy="1465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  <a:p>
            <a:pPr marL="0" marR="0">
              <a:lnSpc>
                <a:spcPts val="1780"/>
              </a:lnSpc>
              <a:spcBef>
                <a:spcPts val="4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059680" y="2979832"/>
            <a:ext cx="629275" cy="12243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60-65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65-70</a:t>
            </a:r>
          </a:p>
          <a:p>
            <a:pPr marL="0" marR="0">
              <a:lnSpc>
                <a:spcPts val="1780"/>
              </a:lnSpc>
              <a:spcBef>
                <a:spcPts val="4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70-75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75-80</a:t>
            </a:r>
          </a:p>
          <a:p>
            <a:pPr marL="204216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6257544" y="2979832"/>
            <a:ext cx="254486" cy="12243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  <a:p>
            <a:pPr marL="0" marR="0">
              <a:lnSpc>
                <a:spcPts val="1780"/>
              </a:lnSpc>
              <a:spcBef>
                <a:spcPts val="4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  <a:p>
            <a:pPr marL="18288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5263896" y="4180743"/>
            <a:ext cx="22039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275832" y="4180743"/>
            <a:ext cx="22039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078990" y="4654070"/>
            <a:ext cx="1607720" cy="498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Решение.</a:t>
            </a:r>
          </a:p>
          <a:p>
            <a:pPr marL="0" marR="0">
              <a:lnSpc>
                <a:spcPts val="1780"/>
              </a:lnSpc>
              <a:spcBef>
                <a:spcPts val="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данном случае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1097280" y="5106337"/>
            <a:ext cx="6046847" cy="333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500" i="1" spc="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baseline="-255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150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150" spc="346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spc="3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;t</a:t>
            </a:r>
            <a:r>
              <a:rPr sz="1600" i="1" spc="44" baseline="-255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150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150" spc="394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spc="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;t</a:t>
            </a:r>
            <a:r>
              <a:rPr sz="1600" i="1" spc="20" baseline="-255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150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150" spc="369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-1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spc="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;t</a:t>
            </a:r>
            <a:r>
              <a:rPr sz="1600" i="1" spc="32" baseline="-255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150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  <a:r>
              <a:rPr sz="1150" spc="392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17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spc="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;t</a:t>
            </a:r>
            <a:r>
              <a:rPr sz="1600" i="1" spc="20" baseline="-255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150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150" spc="392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22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spc="3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;t</a:t>
            </a:r>
            <a:r>
              <a:rPr sz="1600" i="1" spc="32" baseline="-255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150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  <a:r>
              <a:rPr sz="1150" spc="392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7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27</a:t>
            </a:r>
            <a:r>
              <a:rPr sz="1500" i="1" spc="-15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spc="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;t</a:t>
            </a:r>
            <a:r>
              <a:rPr sz="1600" i="1" spc="20" baseline="-255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150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</a:t>
            </a:r>
            <a:r>
              <a:rPr sz="1150" spc="417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1097280" y="5432473"/>
            <a:ext cx="5553071" cy="333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500" i="1" spc="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20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150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</a:t>
            </a:r>
            <a:r>
              <a:rPr sz="1150" spc="392" baseline="-43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37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spc="3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;t</a:t>
            </a:r>
            <a:r>
              <a:rPr sz="1600" i="1" spc="13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600" i="1" spc="694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42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spc="3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;t</a:t>
            </a:r>
            <a:r>
              <a:rPr sz="1600" i="1" spc="13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600" i="1" spc="1006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7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47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spc="3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;t</a:t>
            </a:r>
            <a:r>
              <a:rPr sz="1600" i="1" spc="13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600" i="1" spc="934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52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spc="3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;t</a:t>
            </a:r>
            <a:r>
              <a:rPr sz="1600" i="1" spc="13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600" i="1" spc="1006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57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spc="3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;t</a:t>
            </a:r>
            <a:r>
              <a:rPr sz="1600" i="1" spc="13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600" i="1" spc="982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62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157984" y="5621737"/>
            <a:ext cx="190639" cy="143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33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026664" y="5621737"/>
            <a:ext cx="239358" cy="143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33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3950208" y="5621737"/>
            <a:ext cx="239358" cy="143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33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11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4855464" y="5621737"/>
            <a:ext cx="239358" cy="143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33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5769864" y="5621737"/>
            <a:ext cx="239358" cy="143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33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13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097280" y="5755561"/>
            <a:ext cx="4076120" cy="333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500" i="1" spc="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baseline="-255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7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14</a:t>
            </a:r>
            <a:r>
              <a:rPr sz="750" spc="4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67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spc="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;t</a:t>
            </a:r>
            <a:r>
              <a:rPr sz="1600" i="1" spc="-16" baseline="-255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7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15</a:t>
            </a:r>
            <a:r>
              <a:rPr sz="750" spc="4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72</a:t>
            </a:r>
            <a:r>
              <a:rPr sz="1500" i="1" spc="-15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spc="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;t</a:t>
            </a:r>
            <a:r>
              <a:rPr sz="1600" i="1" spc="-16" baseline="-255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7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16</a:t>
            </a:r>
            <a:r>
              <a:rPr sz="750" spc="5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77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500" i="1" spc="17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;N</a:t>
            </a:r>
            <a:r>
              <a:rPr sz="1500" i="1" spc="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45</a:t>
            </a:r>
            <a:r>
              <a:rPr sz="1500" i="1" spc="1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;m</a:t>
            </a:r>
            <a:r>
              <a:rPr sz="1500" i="1" spc="-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-1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16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1078990" y="6296055"/>
            <a:ext cx="3182098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Используя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формулу</a:t>
            </a:r>
            <a:r>
              <a:rPr sz="1600" spc="-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(1.6), получим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1280160" y="6552430"/>
            <a:ext cx="454966" cy="2444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1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450" spc="5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baseline="2648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2225040" y="6533043"/>
            <a:ext cx="4539286" cy="26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2"/>
              </a:lnSpc>
              <a:spcBef>
                <a:spcPts val="0"/>
              </a:spcBef>
              <a:spcAft>
                <a:spcPts val="0"/>
              </a:spcAft>
            </a:pPr>
            <a:r>
              <a:rPr sz="145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450" spc="19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450" i="1" spc="-12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-1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1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165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9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</a:t>
            </a:r>
            <a:r>
              <a:rPr sz="1450" i="1" spc="-1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spc="2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1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</a:t>
            </a:r>
            <a:r>
              <a:rPr sz="1450" spc="46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</a:t>
            </a:r>
            <a:r>
              <a:rPr sz="1450" i="1" spc="-1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-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1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450" spc="21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17</a:t>
            </a:r>
            <a:r>
              <a:rPr sz="1450" i="1" spc="-1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-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1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189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22</a:t>
            </a:r>
            <a:r>
              <a:rPr sz="1450" i="1" spc="-12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spc="2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1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  <a:r>
              <a:rPr sz="1450" spc="189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27</a:t>
            </a:r>
            <a:r>
              <a:rPr sz="1450" i="1" spc="-1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-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1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  <a:r>
              <a:rPr sz="1450" spc="165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</a:t>
            </a:r>
            <a:r>
              <a:rPr sz="1450" i="1" spc="-1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-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743712" y="6648867"/>
            <a:ext cx="598222" cy="2981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2"/>
              </a:lnSpc>
              <a:spcBef>
                <a:spcPts val="0"/>
              </a:spcBef>
              <a:spcAft>
                <a:spcPts val="0"/>
              </a:spcAft>
            </a:pPr>
            <a:r>
              <a:rPr sz="2200" i="1" spc="57" baseline="3428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0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050" i="1" spc="-9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200" i="1" baseline="3428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*</a:t>
            </a:r>
            <a:r>
              <a:rPr sz="2200" i="1" spc="-123" baseline="3428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200" baseline="34285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1456944" y="6643665"/>
            <a:ext cx="302924" cy="296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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1645920" y="6648867"/>
            <a:ext cx="673696" cy="2981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2"/>
              </a:lnSpc>
              <a:spcBef>
                <a:spcPts val="0"/>
              </a:spcBef>
              <a:spcAft>
                <a:spcPts val="0"/>
              </a:spcAft>
            </a:pPr>
            <a:r>
              <a:rPr sz="1450" i="1" spc="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600" i="1" baseline="-248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i="1" spc="52" baseline="-248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450" spc="141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i="1" spc="12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baseline="-248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600" i="1" spc="-325" baseline="-248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spc="-23" baseline="-248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.i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258824" y="6816282"/>
            <a:ext cx="275629" cy="242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1"/>
              </a:lnSpc>
              <a:spcBef>
                <a:spcPts val="0"/>
              </a:spcBef>
              <a:spcAft>
                <a:spcPts val="0"/>
              </a:spcAft>
            </a:pPr>
            <a:r>
              <a:rPr sz="14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4340352" y="6816282"/>
            <a:ext cx="339186" cy="242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1"/>
              </a:lnSpc>
              <a:spcBef>
                <a:spcPts val="0"/>
              </a:spcBef>
              <a:spcAft>
                <a:spcPts val="0"/>
              </a:spcAft>
            </a:pPr>
            <a:r>
              <a:rPr sz="145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45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1447800" y="6875678"/>
            <a:ext cx="334207" cy="199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73"/>
              </a:lnSpc>
              <a:spcBef>
                <a:spcPts val="0"/>
              </a:spcBef>
              <a:spcAft>
                <a:spcPts val="0"/>
              </a:spcAft>
            </a:pPr>
            <a:r>
              <a:rPr sz="1050" i="1" spc="9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050" spc="-48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755904" y="7057298"/>
            <a:ext cx="6029881" cy="26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2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1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450" spc="165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37</a:t>
            </a:r>
            <a:r>
              <a:rPr sz="1450" i="1" spc="-12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-1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450" spc="214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42</a:t>
            </a:r>
            <a:r>
              <a:rPr sz="1450" i="1" spc="-1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spc="2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14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450" spc="214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47</a:t>
            </a:r>
            <a:r>
              <a:rPr sz="1450" i="1" spc="-1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-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1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450" spc="141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52</a:t>
            </a:r>
            <a:r>
              <a:rPr sz="1450" i="1" spc="-1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-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1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1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450" spc="165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57</a:t>
            </a:r>
            <a:r>
              <a:rPr sz="1450" i="1" spc="-14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-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1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450" spc="165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62</a:t>
            </a:r>
            <a:r>
              <a:rPr sz="1450" i="1" spc="-12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-1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1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450" spc="189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67</a:t>
            </a:r>
            <a:r>
              <a:rPr sz="1450" i="1" spc="-1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-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1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450" spc="165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72</a:t>
            </a:r>
            <a:r>
              <a:rPr sz="1450" i="1" spc="-1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450" spc="-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spc="14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450" spc="165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spc="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77</a:t>
            </a:r>
            <a:r>
              <a:rPr sz="1450" i="1" spc="-1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6690360" y="7176170"/>
            <a:ext cx="253798" cy="26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2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886967" y="7620954"/>
            <a:ext cx="660474" cy="242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1"/>
              </a:lnSpc>
              <a:spcBef>
                <a:spcPts val="0"/>
              </a:spcBef>
              <a:spcAft>
                <a:spcPts val="0"/>
              </a:spcAft>
            </a:pPr>
            <a:r>
              <a:rPr sz="1450" spc="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1427</a:t>
            </a:r>
            <a:r>
              <a:rPr sz="1450" i="1" spc="-1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743712" y="7715667"/>
            <a:ext cx="253798" cy="26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2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1450848" y="7687523"/>
            <a:ext cx="863661" cy="29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31</a:t>
            </a:r>
            <a:r>
              <a:rPr sz="1450" i="1" spc="-12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 </a:t>
            </a:r>
            <a:r>
              <a:rPr sz="1700" spc="-134" dirty="0">
                <a:solidFill>
                  <a:srgbClr val="000000"/>
                </a:solidFill>
                <a:latin typeface="FEVUPN+Symbol"/>
                <a:cs typeface="FEVUPN+Symbol"/>
              </a:rPr>
              <a:t></a:t>
            </a:r>
            <a:r>
              <a:rPr sz="1450" i="1" spc="1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ч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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1057656" y="7883082"/>
            <a:ext cx="339186" cy="242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1"/>
              </a:lnSpc>
              <a:spcBef>
                <a:spcPts val="0"/>
              </a:spcBef>
              <a:spcAft>
                <a:spcPts val="0"/>
              </a:spcAft>
            </a:pPr>
            <a:r>
              <a:rPr sz="145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45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3727703" y="10099959"/>
            <a:ext cx="25448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  <a:endParaRPr sz="1600" dirty="0">
              <a:solidFill>
                <a:srgbClr val="000000"/>
              </a:solidFill>
              <a:latin typeface="LHMNJT+Times New Roman"/>
              <a:cs typeface="LHMNJT+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807720" y="7730743"/>
            <a:ext cx="5766816" cy="1011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0432" y="724311"/>
            <a:ext cx="40482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1.3</a:t>
            </a:r>
            <a:r>
              <a:rPr sz="1600" b="1" spc="24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Задачи для самостоятельного</a:t>
            </a:r>
            <a:r>
              <a:rPr sz="1600" b="1" spc="-22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решения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9328" y="1190655"/>
            <a:ext cx="6276843" cy="6570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6.</a:t>
            </a:r>
            <a:r>
              <a:rPr sz="1600" spc="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испытание</a:t>
            </a:r>
            <a:r>
              <a:rPr sz="1600" spc="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поставлено</a:t>
            </a:r>
            <a:r>
              <a:rPr sz="1600" spc="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  <a:r>
              <a:rPr sz="1600" spc="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однотипных</a:t>
            </a:r>
            <a:r>
              <a:rPr sz="1600" spc="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</a:p>
          <a:p>
            <a:pPr marL="0" marR="0">
              <a:lnSpc>
                <a:spcPts val="1780"/>
              </a:lnSpc>
              <a:spcBef>
                <a:spcPts val="36"/>
              </a:spcBef>
              <a:spcAft>
                <a:spcPts val="0"/>
              </a:spcAft>
            </a:pP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4000</a:t>
            </a:r>
            <a:r>
              <a:rPr sz="1600" spc="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часов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отказало</a:t>
            </a:r>
            <a:r>
              <a:rPr sz="1600" spc="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600" spc="1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интервал</a:t>
            </a:r>
            <a:r>
              <a:rPr sz="1600" spc="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4000</a:t>
            </a:r>
            <a:r>
              <a:rPr sz="1600" spc="1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1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4100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часов</a:t>
            </a:r>
            <a:r>
              <a:rPr sz="1600" spc="3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отказало</a:t>
            </a:r>
            <a:r>
              <a:rPr sz="1600" spc="3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еще</a:t>
            </a:r>
            <a:r>
              <a:rPr sz="1600" spc="3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20</a:t>
            </a:r>
            <a:r>
              <a:rPr sz="1600" spc="3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  <a:r>
              <a:rPr sz="1600" spc="3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3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34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f(t),</a:t>
            </a:r>
            <a:r>
              <a:rPr sz="1600" i="1" spc="32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λ(t)</a:t>
            </a:r>
            <a:r>
              <a:rPr sz="1600" i="1" spc="3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4000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  <a:p>
            <a:pPr marL="451104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7.</a:t>
            </a:r>
            <a:r>
              <a:rPr sz="1600" spc="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испытание</a:t>
            </a:r>
            <a:r>
              <a:rPr sz="1600" spc="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поставлено</a:t>
            </a:r>
            <a:r>
              <a:rPr sz="1600" spc="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  <a:r>
              <a:rPr sz="1600" spc="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однотипных</a:t>
            </a:r>
            <a:r>
              <a:rPr sz="1600" spc="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</a:p>
          <a:p>
            <a:pPr marL="0" marR="0">
              <a:lnSpc>
                <a:spcPts val="1780"/>
              </a:lnSpc>
              <a:spcBef>
                <a:spcPts val="60"/>
              </a:spcBef>
              <a:spcAft>
                <a:spcPts val="0"/>
              </a:spcAft>
            </a:pP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1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4000</a:t>
            </a:r>
            <a:r>
              <a:rPr sz="1600" spc="2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часов</a:t>
            </a:r>
            <a:r>
              <a:rPr sz="1600" spc="2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отказало</a:t>
            </a:r>
            <a:r>
              <a:rPr sz="1600" spc="19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600" spc="2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2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p(t)</a:t>
            </a:r>
            <a:r>
              <a:rPr sz="1600" i="1" spc="18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q(t)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-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4000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  <a:p>
            <a:pPr marL="451104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8.</a:t>
            </a:r>
            <a:r>
              <a:rPr sz="1600" spc="1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600" spc="14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часов</a:t>
            </a:r>
            <a:r>
              <a:rPr sz="1600" spc="1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600" spc="1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гироскопов</a:t>
            </a:r>
            <a:r>
              <a:rPr sz="1600" spc="1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отказало</a:t>
            </a:r>
            <a:r>
              <a:rPr sz="1600" spc="1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2.</a:t>
            </a:r>
          </a:p>
          <a:p>
            <a:pPr marL="0" marR="0">
              <a:lnSpc>
                <a:spcPts val="1780"/>
              </a:lnSpc>
              <a:spcBef>
                <a:spcPts val="60"/>
              </a:spcBef>
              <a:spcAft>
                <a:spcPts val="0"/>
              </a:spcAft>
            </a:pP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1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интервал</a:t>
            </a:r>
            <a:r>
              <a:rPr sz="1600" spc="1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600" spc="2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1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1100</a:t>
            </a:r>
            <a:r>
              <a:rPr sz="1600" spc="1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часов</a:t>
            </a:r>
            <a:r>
              <a:rPr sz="1600" spc="2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отказал</a:t>
            </a:r>
            <a:r>
              <a:rPr sz="1600" spc="1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еще</a:t>
            </a:r>
            <a:r>
              <a:rPr sz="1600" spc="1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один</a:t>
            </a:r>
            <a:r>
              <a:rPr sz="1600" spc="20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гироскоп.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f(t),</a:t>
            </a:r>
            <a:r>
              <a:rPr sz="1600" i="1" spc="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λ(t)</a:t>
            </a:r>
            <a:r>
              <a:rPr sz="1600" i="1" spc="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=1000 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  <a:p>
            <a:pPr marL="451104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2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25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9.</a:t>
            </a:r>
            <a:r>
              <a:rPr sz="1600" spc="2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2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испытание</a:t>
            </a:r>
            <a:r>
              <a:rPr sz="1600" spc="2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поставлено</a:t>
            </a:r>
            <a:r>
              <a:rPr sz="1600" spc="2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600" spc="2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однотипных</a:t>
            </a:r>
            <a:r>
              <a:rPr sz="1600" spc="2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элек-</a:t>
            </a:r>
          </a:p>
          <a:p>
            <a:pPr marL="0" marR="0">
              <a:lnSpc>
                <a:spcPts val="1780"/>
              </a:lnSpc>
              <a:spcBef>
                <a:spcPts val="6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тронных</a:t>
            </a:r>
            <a:r>
              <a:rPr sz="1600" spc="2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ламп.</a:t>
            </a:r>
            <a:r>
              <a:rPr sz="1600" spc="2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1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первые</a:t>
            </a:r>
            <a:r>
              <a:rPr sz="1600" spc="1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3000</a:t>
            </a:r>
            <a:r>
              <a:rPr sz="1600" spc="2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часов</a:t>
            </a:r>
            <a:r>
              <a:rPr sz="1600" spc="2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отказало</a:t>
            </a:r>
            <a:r>
              <a:rPr sz="1600" spc="2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80</a:t>
            </a:r>
            <a:r>
              <a:rPr sz="1600" spc="2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ламп.</a:t>
            </a:r>
            <a:r>
              <a:rPr sz="1600" spc="2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2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интервал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3000</a:t>
            </a:r>
            <a:r>
              <a:rPr sz="1600" spc="14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1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4000</a:t>
            </a:r>
            <a:r>
              <a:rPr sz="1600" spc="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часов</a:t>
            </a:r>
            <a:r>
              <a:rPr sz="1600" spc="1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отказало</a:t>
            </a:r>
            <a:r>
              <a:rPr sz="1600" spc="1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еще</a:t>
            </a:r>
            <a:r>
              <a:rPr sz="1600" spc="1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600" spc="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ламп.</a:t>
            </a:r>
            <a:r>
              <a:rPr sz="1600" spc="1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опреде-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лить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p(t)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q(t)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4000</a:t>
            </a:r>
            <a:r>
              <a:rPr sz="16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  <a:p>
            <a:pPr marL="451104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10.</a:t>
            </a:r>
            <a:r>
              <a:rPr sz="1600" spc="1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испытание</a:t>
            </a:r>
            <a:r>
              <a:rPr sz="1600" spc="1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поставлено</a:t>
            </a:r>
            <a:r>
              <a:rPr sz="1600" spc="1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600" spc="1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  <a:r>
              <a:rPr sz="1600" spc="1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1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</a:p>
          <a:p>
            <a:pPr marL="0" marR="0">
              <a:lnSpc>
                <a:spcPts val="1780"/>
              </a:lnSpc>
              <a:spcBef>
                <a:spcPts val="36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23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1300</a:t>
            </a:r>
            <a:r>
              <a:rPr sz="1600" spc="2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2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вышло</a:t>
            </a:r>
            <a:r>
              <a:rPr sz="1600" spc="2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строя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288</a:t>
            </a:r>
            <a:r>
              <a:rPr sz="1600" spc="2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  <a:r>
              <a:rPr sz="160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2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последующий</a:t>
            </a:r>
            <a:r>
              <a:rPr sz="160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интервал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1300</a:t>
            </a:r>
            <a:r>
              <a:rPr sz="1600" spc="1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1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1400</a:t>
            </a:r>
            <a:r>
              <a:rPr sz="1600" spc="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часов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вышло</a:t>
            </a:r>
            <a:r>
              <a:rPr sz="1600" spc="1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строя</a:t>
            </a:r>
            <a:r>
              <a:rPr sz="1600" spc="1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еще</a:t>
            </a:r>
            <a:r>
              <a:rPr sz="1600" spc="1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13</a:t>
            </a:r>
            <a:r>
              <a:rPr sz="1600" spc="1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  <a:r>
              <a:rPr sz="1600" spc="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димо</a:t>
            </a:r>
            <a:r>
              <a:rPr sz="1600" spc="4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вычислить</a:t>
            </a:r>
            <a:r>
              <a:rPr sz="1600" spc="4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p(t)</a:t>
            </a:r>
            <a:r>
              <a:rPr sz="1600" i="1" spc="43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4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45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1300</a:t>
            </a:r>
            <a:r>
              <a:rPr sz="1600" spc="4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4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4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45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4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1400</a:t>
            </a:r>
            <a:r>
              <a:rPr sz="1600" spc="4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  <a:r>
              <a:rPr sz="1600" spc="4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f(t),</a:t>
            </a:r>
            <a:r>
              <a:rPr sz="1600" i="1" spc="44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λ(t)</a:t>
            </a:r>
            <a:r>
              <a:rPr sz="1600" i="1" spc="43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=1300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  <a:p>
            <a:pPr marL="451104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3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3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11.</a:t>
            </a:r>
            <a:r>
              <a:rPr sz="1600" spc="3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3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испытание</a:t>
            </a:r>
            <a:r>
              <a:rPr sz="1600" spc="3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поставлено</a:t>
            </a:r>
            <a:r>
              <a:rPr sz="1600" spc="3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45</a:t>
            </a:r>
            <a:r>
              <a:rPr sz="1600" spc="3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  <a:r>
              <a:rPr sz="1600" spc="3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3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</a:p>
          <a:p>
            <a:pPr marL="0" marR="0">
              <a:lnSpc>
                <a:spcPts val="1780"/>
              </a:lnSpc>
              <a:spcBef>
                <a:spcPts val="10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6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60</a:t>
            </a:r>
            <a:r>
              <a:rPr sz="1600" spc="1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1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вышло</a:t>
            </a:r>
            <a:r>
              <a:rPr sz="1600" spc="1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строя</a:t>
            </a:r>
            <a:r>
              <a:rPr sz="1600" spc="1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35</a:t>
            </a:r>
            <a:r>
              <a:rPr sz="1600" spc="1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  <a:r>
              <a:rPr sz="1600" spc="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1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последующий</a:t>
            </a:r>
            <a:r>
              <a:rPr sz="1600" spc="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интервал</a:t>
            </a:r>
            <a:r>
              <a:rPr sz="1600" spc="1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вре-</a:t>
            </a:r>
          </a:p>
          <a:p>
            <a:pPr marL="0" marR="0">
              <a:lnSpc>
                <a:spcPts val="1780"/>
              </a:lnSpc>
              <a:spcBef>
                <a:spcPts val="9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мени</a:t>
            </a:r>
            <a:r>
              <a:rPr sz="1600" spc="2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60</a:t>
            </a:r>
            <a:r>
              <a:rPr sz="1600" spc="2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2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65часов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вышло</a:t>
            </a:r>
            <a:r>
              <a:rPr sz="1600" spc="2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строя</a:t>
            </a:r>
            <a:r>
              <a:rPr sz="1600" spc="2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еще</a:t>
            </a:r>
            <a:r>
              <a:rPr sz="1600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600" spc="2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изделия.</a:t>
            </a:r>
            <a:r>
              <a:rPr sz="160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Необходимо</a:t>
            </a:r>
            <a:r>
              <a:rPr sz="1600" spc="2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числить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p(t)</a:t>
            </a:r>
            <a:r>
              <a:rPr sz="1600" i="1" spc="-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60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-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65 ч.;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f(t),</a:t>
            </a:r>
            <a:r>
              <a:rPr sz="1600" i="1" spc="-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λ(t)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60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  <a:p>
            <a:pPr marL="451104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12.</a:t>
            </a:r>
            <a:r>
              <a:rPr sz="1600" spc="1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результате</a:t>
            </a:r>
            <a:r>
              <a:rPr sz="1600" spc="1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наблюдения</a:t>
            </a:r>
            <a:r>
              <a:rPr sz="1600" spc="1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19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45</a:t>
            </a:r>
            <a:r>
              <a:rPr sz="1600" spc="1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образцами</a:t>
            </a:r>
            <a:r>
              <a:rPr sz="1600" spc="1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радио-</a:t>
            </a:r>
          </a:p>
          <a:p>
            <a:pPr marL="0" marR="0">
              <a:lnSpc>
                <a:spcPts val="1780"/>
              </a:lnSpc>
              <a:spcBef>
                <a:spcPts val="3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электронного</a:t>
            </a:r>
            <a:r>
              <a:rPr sz="1600" spc="10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оборудования,</a:t>
            </a:r>
            <a:r>
              <a:rPr sz="1600" spc="10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которые</a:t>
            </a:r>
            <a:r>
              <a:rPr sz="1600" spc="10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прошли</a:t>
            </a:r>
            <a:r>
              <a:rPr sz="1600" spc="10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предварительную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80-часовую</a:t>
            </a:r>
            <a:r>
              <a:rPr sz="1600" spc="4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приработку,</a:t>
            </a:r>
            <a:r>
              <a:rPr sz="1600" spc="4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получены</a:t>
            </a:r>
            <a:r>
              <a:rPr sz="1600" spc="4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данные</a:t>
            </a:r>
            <a:r>
              <a:rPr sz="1600" spc="4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до</a:t>
            </a:r>
            <a:r>
              <a:rPr sz="1600" spc="4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первого</a:t>
            </a:r>
            <a:r>
              <a:rPr sz="1600" spc="4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</a:t>
            </a:r>
            <a:r>
              <a:rPr sz="1600" spc="4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всех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45</a:t>
            </a:r>
            <a:r>
              <a:rPr sz="1600" spc="-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образцов, сведенные в таблицу.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Необходимо определить</a:t>
            </a:r>
            <a:r>
              <a:rPr sz="1600" spc="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00" i="1" baseline="-14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*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  <a:p>
            <a:pPr marL="5391912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Таблица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27175" y="7734838"/>
            <a:ext cx="320152" cy="267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450" spc="25" dirty="0">
                <a:solidFill>
                  <a:srgbClr val="000000"/>
                </a:solidFill>
                <a:latin typeface="FEVUPN+Symbol"/>
                <a:cs typeface="FEVUPN+Symbol"/>
              </a:rPr>
              <a:t></a:t>
            </a:r>
            <a:r>
              <a:rPr sz="14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06168" y="7756195"/>
            <a:ext cx="271083" cy="2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9"/>
              </a:lnSpc>
              <a:spcBef>
                <a:spcPts val="0"/>
              </a:spcBef>
              <a:spcAft>
                <a:spcPts val="0"/>
              </a:spcAft>
            </a:pPr>
            <a:r>
              <a:rPr sz="1450" i="1" spc="-2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300" i="1" baseline="-2648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74848" y="7734838"/>
            <a:ext cx="320152" cy="267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450" spc="25" dirty="0">
                <a:solidFill>
                  <a:srgbClr val="000000"/>
                </a:solidFill>
                <a:latin typeface="FEVUPN+Symbol"/>
                <a:cs typeface="FEVUPN+Symbol"/>
              </a:rPr>
              <a:t></a:t>
            </a:r>
            <a:r>
              <a:rPr sz="14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33088" y="7756195"/>
            <a:ext cx="271083" cy="2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9"/>
              </a:lnSpc>
              <a:spcBef>
                <a:spcPts val="0"/>
              </a:spcBef>
              <a:spcAft>
                <a:spcPts val="0"/>
              </a:spcAft>
            </a:pPr>
            <a:r>
              <a:rPr sz="1450" i="1" spc="-2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300" i="1" baseline="-2648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998720" y="7734838"/>
            <a:ext cx="596359" cy="298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450" spc="25" dirty="0">
                <a:solidFill>
                  <a:srgbClr val="000000"/>
                </a:solidFill>
                <a:latin typeface="FEVUPN+Symbol"/>
                <a:cs typeface="FEVUPN+Symbol"/>
              </a:rPr>
              <a:t></a:t>
            </a:r>
            <a:r>
              <a:rPr sz="14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  <a:p>
            <a:pPr marL="23774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,ч.</a:t>
            </a:r>
          </a:p>
          <a:p>
            <a:pPr marL="173735" marR="0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80760" y="7756195"/>
            <a:ext cx="271083" cy="2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9"/>
              </a:lnSpc>
              <a:spcBef>
                <a:spcPts val="0"/>
              </a:spcBef>
              <a:spcAft>
                <a:spcPts val="0"/>
              </a:spcAft>
            </a:pPr>
            <a:r>
              <a:rPr sz="1450" i="1" spc="-2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300" i="1" baseline="-2648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64920" y="7759096"/>
            <a:ext cx="35861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,ч.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212592" y="7759096"/>
            <a:ext cx="35861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,ч.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00912" y="7874369"/>
            <a:ext cx="182691" cy="158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148584" y="7874369"/>
            <a:ext cx="182691" cy="158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96696" y="8024272"/>
            <a:ext cx="629274" cy="74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815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0-10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10-20</a:t>
            </a:r>
          </a:p>
          <a:p>
            <a:pPr marL="0" marR="0">
              <a:lnSpc>
                <a:spcPts val="1780"/>
              </a:lnSpc>
              <a:spcBef>
                <a:spcPts val="4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20-30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3496" y="8024272"/>
            <a:ext cx="358003" cy="74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19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13</a:t>
            </a:r>
          </a:p>
          <a:p>
            <a:pPr marL="51816" marR="0">
              <a:lnSpc>
                <a:spcPts val="1780"/>
              </a:lnSpc>
              <a:spcBef>
                <a:spcPts val="4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944368" y="8024272"/>
            <a:ext cx="629274" cy="74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30-40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40-50</a:t>
            </a:r>
          </a:p>
          <a:p>
            <a:pPr marL="0" marR="0">
              <a:lnSpc>
                <a:spcPts val="1780"/>
              </a:lnSpc>
              <a:spcBef>
                <a:spcPts val="4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50-60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142232" y="8024272"/>
            <a:ext cx="254486" cy="74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  <a:p>
            <a:pPr marL="0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  <a:p>
            <a:pPr marL="0" marR="0">
              <a:lnSpc>
                <a:spcPts val="1780"/>
              </a:lnSpc>
              <a:spcBef>
                <a:spcPts val="4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968240" y="8024272"/>
            <a:ext cx="629274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60-70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089904" y="8024272"/>
            <a:ext cx="254486" cy="74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  <a:p>
            <a:pPr marL="18288" marR="0">
              <a:lnSpc>
                <a:spcPts val="1780"/>
              </a:lnSpc>
              <a:spcBef>
                <a:spcPts val="1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</a:t>
            </a:r>
          </a:p>
          <a:p>
            <a:pPr marL="18288" marR="0">
              <a:lnSpc>
                <a:spcPts val="1780"/>
              </a:lnSpc>
              <a:spcBef>
                <a:spcPts val="4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172456" y="8265063"/>
            <a:ext cx="220391" cy="5019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</a:t>
            </a:r>
          </a:p>
          <a:p>
            <a:pPr marL="0" marR="0">
              <a:lnSpc>
                <a:spcPts val="1780"/>
              </a:lnSpc>
              <a:spcBef>
                <a:spcPts val="9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19328" y="8978296"/>
            <a:ext cx="6274476" cy="7305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13.</a:t>
            </a:r>
            <a:r>
              <a:rPr sz="1600" spc="1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испытание</a:t>
            </a:r>
            <a:r>
              <a:rPr sz="1600" spc="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поставлено</a:t>
            </a:r>
            <a:r>
              <a:rPr sz="1600" spc="1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</a:t>
            </a:r>
            <a:r>
              <a:rPr sz="1600" spc="19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однотипных</a:t>
            </a:r>
            <a:r>
              <a:rPr sz="1600" spc="1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</a:p>
          <a:p>
            <a:pPr marL="0" marR="0">
              <a:lnSpc>
                <a:spcPts val="1780"/>
              </a:lnSpc>
              <a:spcBef>
                <a:spcPts val="3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Получены</a:t>
            </a:r>
            <a:r>
              <a:rPr sz="1600" spc="3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следующие</a:t>
            </a:r>
            <a:r>
              <a:rPr sz="1600" spc="2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значения</a:t>
            </a:r>
            <a:r>
              <a:rPr sz="1600" spc="2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baseline="-14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</a:t>
            </a:r>
            <a:r>
              <a:rPr sz="1600" spc="268" baseline="-14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2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30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3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30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-го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изделия):</a:t>
            </a:r>
            <a:r>
              <a:rPr sz="1600" spc="1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73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560</a:t>
            </a:r>
            <a:r>
              <a:rPr sz="1600" spc="2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  <a:r>
              <a:rPr sz="1600" spc="2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73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700</a:t>
            </a:r>
            <a:r>
              <a:rPr sz="1600" spc="2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  <a:r>
              <a:rPr sz="1600" spc="1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7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800</a:t>
            </a:r>
            <a:r>
              <a:rPr sz="1600" spc="2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  <a:r>
              <a:rPr sz="1600" spc="2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73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650</a:t>
            </a:r>
            <a:r>
              <a:rPr sz="1600" spc="2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  <a:r>
              <a:rPr sz="1600" spc="2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73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580</a:t>
            </a:r>
            <a:r>
              <a:rPr sz="1600" spc="2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661160" y="9537583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727960" y="9537583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785615" y="9537583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849368" y="9537583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913120" y="9537583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678936" y="10099959"/>
            <a:ext cx="358002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endParaRPr sz="1600" spc="15" dirty="0">
              <a:solidFill>
                <a:srgbClr val="000000"/>
              </a:solidFill>
              <a:latin typeface="LHMNJT+Times New Roman"/>
              <a:cs typeface="LHMNJT+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9328" y="721263"/>
            <a:ext cx="627273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6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760</a:t>
            </a:r>
            <a:r>
              <a:rPr sz="1600" spc="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  <a:r>
              <a:rPr sz="1600" spc="1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6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920</a:t>
            </a:r>
            <a:r>
              <a:rPr sz="1600" spc="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  <a:r>
              <a:rPr sz="1600" spc="1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6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850</a:t>
            </a:r>
            <a:r>
              <a:rPr sz="1600" spc="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статистическую</a:t>
            </a:r>
            <a:r>
              <a:rPr sz="1600" spc="1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оценку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7240" y="814207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83079" y="814207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88920" y="814207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9328" y="955959"/>
            <a:ext cx="426026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среднего времени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9328" y="1190655"/>
            <a:ext cx="6276680" cy="7305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14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  <a:r>
              <a:rPr sz="1600" spc="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наблюдаемый</a:t>
            </a:r>
            <a:r>
              <a:rPr sz="160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период</a:t>
            </a:r>
            <a:r>
              <a:rPr sz="1600" spc="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эксплуатации</a:t>
            </a:r>
            <a:r>
              <a:rPr sz="1600" spc="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аппарату-</a:t>
            </a:r>
          </a:p>
          <a:p>
            <a:pPr marL="0" marR="0">
              <a:lnSpc>
                <a:spcPts val="1780"/>
              </a:lnSpc>
              <a:spcBef>
                <a:spcPts val="36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</a:t>
            </a:r>
            <a:r>
              <a:rPr sz="1600" spc="1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было</a:t>
            </a:r>
            <a:r>
              <a:rPr sz="1600" spc="1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зарегистрировано</a:t>
            </a:r>
            <a:r>
              <a:rPr sz="1600" spc="1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  <a:r>
              <a:rPr sz="1600" spc="1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отказов.</a:t>
            </a:r>
            <a:r>
              <a:rPr sz="1600" spc="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1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восстановления</a:t>
            </a:r>
            <a:r>
              <a:rPr sz="1600" spc="1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состави-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ло:</a:t>
            </a:r>
            <a:r>
              <a:rPr sz="1600" spc="1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69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15</a:t>
            </a:r>
            <a:r>
              <a:rPr sz="1600" spc="1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мин.;</a:t>
            </a:r>
            <a:r>
              <a:rPr sz="1600" spc="1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66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20</a:t>
            </a:r>
            <a:r>
              <a:rPr sz="1600" spc="1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мин.;</a:t>
            </a:r>
            <a:r>
              <a:rPr sz="1600" spc="1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69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600" spc="1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мин.;</a:t>
            </a:r>
            <a:r>
              <a:rPr sz="1600" spc="1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69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28</a:t>
            </a:r>
            <a:r>
              <a:rPr sz="1600" spc="1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мин.;</a:t>
            </a:r>
            <a:r>
              <a:rPr sz="1600" spc="1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66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22</a:t>
            </a:r>
            <a:r>
              <a:rPr sz="1600" spc="1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мин.;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03376" y="1749943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79904" y="1749943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450336" y="1749943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20768" y="1749943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794248" y="1749943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9328" y="1891696"/>
            <a:ext cx="6276680" cy="16663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baseline="-14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  <a:r>
              <a:rPr sz="1600" spc="131" baseline="-14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</a:t>
            </a:r>
            <a:r>
              <a:rPr sz="1600" spc="1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мин.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1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1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1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восстановления</a:t>
            </a:r>
            <a:r>
              <a:rPr sz="1600" spc="1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ап-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паратуры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00" i="1" baseline="-14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15.</a:t>
            </a:r>
            <a:r>
              <a:rPr sz="1600" spc="1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испытание</a:t>
            </a:r>
            <a:r>
              <a:rPr sz="1600" spc="1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поставлено</a:t>
            </a:r>
            <a:r>
              <a:rPr sz="1600" spc="1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600" spc="1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  <a:r>
              <a:rPr sz="1600" spc="1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1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</a:p>
          <a:p>
            <a:pPr marL="0" marR="0">
              <a:lnSpc>
                <a:spcPts val="1780"/>
              </a:lnSpc>
              <a:spcBef>
                <a:spcPts val="60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6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11000</a:t>
            </a:r>
            <a:r>
              <a:rPr sz="1600" spc="1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1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вышло</a:t>
            </a:r>
            <a:r>
              <a:rPr sz="1600" spc="1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строя</a:t>
            </a:r>
            <a:r>
              <a:rPr sz="1600" spc="1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410</a:t>
            </a:r>
            <a:r>
              <a:rPr sz="1600" spc="1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  <a:r>
              <a:rPr sz="1600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Зв</a:t>
            </a:r>
            <a:r>
              <a:rPr sz="1600" spc="1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последующий</a:t>
            </a:r>
            <a:r>
              <a:rPr sz="1600" spc="1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интервал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11000</a:t>
            </a:r>
            <a:r>
              <a:rPr sz="1600" spc="1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12000</a:t>
            </a:r>
            <a:r>
              <a:rPr sz="1600" spc="1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часов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вышло</a:t>
            </a:r>
            <a:r>
              <a:rPr sz="1600" spc="1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строя</a:t>
            </a:r>
            <a:r>
              <a:rPr sz="1600" spc="1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еще</a:t>
            </a:r>
            <a:r>
              <a:rPr sz="1600" spc="1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40</a:t>
            </a:r>
            <a:r>
              <a:rPr sz="1600" spc="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изделий.</a:t>
            </a:r>
            <a:r>
              <a:rPr sz="1600" spc="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Необ-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ходимо</a:t>
            </a:r>
            <a:r>
              <a:rPr sz="1600" spc="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вычислить</a:t>
            </a:r>
            <a:r>
              <a:rPr sz="1600" spc="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p(t)</a:t>
            </a:r>
            <a:r>
              <a:rPr sz="1600" i="1" spc="4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6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11000</a:t>
            </a:r>
            <a:r>
              <a:rPr sz="1600" spc="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6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12000</a:t>
            </a:r>
            <a:r>
              <a:rPr sz="1600" spc="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ч.,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а</a:t>
            </a:r>
            <a:r>
              <a:rPr sz="1600" spc="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также</a:t>
            </a:r>
            <a:r>
              <a:rPr sz="1600" spc="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f(t),</a:t>
            </a:r>
            <a:r>
              <a:rPr sz="1600" i="1" spc="5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λ(t)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-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11000</a:t>
            </a:r>
            <a:r>
              <a:rPr sz="1600" spc="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678936" y="10099959"/>
            <a:ext cx="358002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  <a:endParaRPr sz="1600" spc="15" dirty="0">
              <a:solidFill>
                <a:srgbClr val="000000"/>
              </a:solidFill>
              <a:latin typeface="LHMNJT+Times New Roman"/>
              <a:cs typeface="LHMNJT+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3724465" y="8776208"/>
            <a:ext cx="148399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3474529" y="8202994"/>
            <a:ext cx="642175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89198" y="4295838"/>
            <a:ext cx="429577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19550" y="3753104"/>
            <a:ext cx="503301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19628" y="3753104"/>
            <a:ext cx="503300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0432" y="724311"/>
            <a:ext cx="4351923" cy="733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2</a:t>
            </a:r>
            <a:r>
              <a:rPr sz="1600" b="1" spc="24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АНАЛИТИЧЕСКОЕ</a:t>
            </a:r>
            <a:r>
              <a:rPr sz="1600" b="1" spc="19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ОПРЕДЕЛЕНИЕ</a:t>
            </a:r>
          </a:p>
          <a:p>
            <a:pPr marL="179831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КОЛИЧЕСТВЕННЫХ</a:t>
            </a:r>
            <a:r>
              <a:rPr sz="1600" b="1" spc="-23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ХАРАКТЕРИСТИК</a:t>
            </a:r>
          </a:p>
          <a:p>
            <a:pPr marL="179831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НАДЕЖНОСТИ</a:t>
            </a:r>
            <a:r>
              <a:rPr sz="1600" b="1" spc="10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ИЗДЕЛИЯ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70432" y="1660047"/>
            <a:ext cx="2703524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2.1 Теоретические</a:t>
            </a:r>
            <a:r>
              <a:rPr sz="1600" b="1" spc="15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сведения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9328" y="2123344"/>
            <a:ext cx="6172930" cy="498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Выпишем формулы,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 которым определяются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количественные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характеристики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69920" y="2607364"/>
            <a:ext cx="194113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434840" y="2607364"/>
            <a:ext cx="194113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29968" y="2740135"/>
            <a:ext cx="3246496" cy="347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17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7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</a:t>
            </a:r>
            <a:r>
              <a:rPr sz="1650" i="1" spc="-8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5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exp(</a:t>
            </a:r>
            <a:r>
              <a:rPr sz="1650" i="1" spc="-10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102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</a:t>
            </a:r>
            <a:r>
              <a:rPr sz="1900" spc="-1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54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50" i="1" spc="-1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i="1" spc="-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-4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)dt</a:t>
            </a:r>
            <a:r>
              <a:rPr sz="1650" i="1" spc="3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5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1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1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5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</a:t>
            </a:r>
            <a:r>
              <a:rPr sz="1900" spc="18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650" i="1" spc="-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)dt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172456" y="2809144"/>
            <a:ext cx="2091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45954" y="2809144"/>
            <a:ext cx="545397" cy="66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02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(2.1)</a:t>
            </a:r>
          </a:p>
          <a:p>
            <a:pPr marL="0" marR="0">
              <a:lnSpc>
                <a:spcPts val="1780"/>
              </a:lnSpc>
              <a:spcBef>
                <a:spcPts val="141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(2.2)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160776" y="3037132"/>
            <a:ext cx="227469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422648" y="3037132"/>
            <a:ext cx="227469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907792" y="3187159"/>
            <a:ext cx="1507574" cy="291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550" i="1" spc="4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q(</a:t>
            </a:r>
            <a:r>
              <a:rPr sz="1550" i="1" spc="-15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550" i="1" spc="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 </a:t>
            </a: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5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550" spc="-1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550" spc="2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i="1" spc="4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</a:t>
            </a:r>
            <a:r>
              <a:rPr sz="1550" i="1" spc="-15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550" i="1" spc="2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i="1" spc="20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133344" y="3478707"/>
            <a:ext cx="643665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dq(</a:t>
            </a:r>
            <a:r>
              <a:rPr sz="1650" i="1" spc="-17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32503" y="3478707"/>
            <a:ext cx="643665" cy="577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dp(</a:t>
            </a:r>
            <a:r>
              <a:rPr sz="1650" i="1" spc="-1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i="1" spc="-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  <a:p>
            <a:pPr marL="149352" marR="0">
              <a:lnSpc>
                <a:spcPts val="1849"/>
              </a:lnSpc>
              <a:spcBef>
                <a:spcPts val="550"/>
              </a:spcBef>
              <a:spcAft>
                <a:spcPts val="0"/>
              </a:spcAft>
            </a:pPr>
            <a:r>
              <a:rPr sz="1650" i="1" spc="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dt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514600" y="3591627"/>
            <a:ext cx="695543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650" i="1" spc="-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5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85032" y="3591627"/>
            <a:ext cx="442559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562856" y="3659535"/>
            <a:ext cx="2091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44792" y="3659535"/>
            <a:ext cx="544555" cy="8098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1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(2.3)</a:t>
            </a:r>
          </a:p>
          <a:p>
            <a:pPr marL="0" marR="0">
              <a:lnSpc>
                <a:spcPts val="1780"/>
              </a:lnSpc>
              <a:spcBef>
                <a:spcPts val="25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(2.4)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282696" y="3783507"/>
            <a:ext cx="317826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dt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532632" y="4026168"/>
            <a:ext cx="539335" cy="5724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650" i="1" spc="-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  <a:p>
            <a:pPr marL="0" marR="0">
              <a:lnSpc>
                <a:spcPts val="1831"/>
              </a:lnSpc>
              <a:spcBef>
                <a:spcPts val="594"/>
              </a:spcBef>
              <a:spcAft>
                <a:spcPts val="0"/>
              </a:spcAft>
            </a:pPr>
            <a:r>
              <a:rPr sz="1650" i="1" spc="7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</a:t>
            </a:r>
            <a:r>
              <a:rPr sz="1650" i="1" spc="-10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859024" y="4136279"/>
            <a:ext cx="718777" cy="295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spc="7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953256" y="4205128"/>
            <a:ext cx="2091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273552" y="4601887"/>
            <a:ext cx="259432" cy="222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FEVUPN+Symbol"/>
                <a:cs typeface="FEVUPN+Symbol"/>
              </a:rPr>
              <a:t>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807208" y="4751814"/>
            <a:ext cx="1307967" cy="347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17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50" i="1" spc="74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</a:t>
            </a:r>
            <a:r>
              <a:rPr sz="1900" spc="6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8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</a:t>
            </a:r>
            <a:r>
              <a:rPr sz="1650" i="1" spc="-1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-4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)dt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011168" y="4820824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452616" y="4820824"/>
            <a:ext cx="5436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(2.5)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968752" y="4884220"/>
            <a:ext cx="194113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291840" y="5048812"/>
            <a:ext cx="227469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19328" y="5220111"/>
            <a:ext cx="6274069" cy="12152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p(t)</a:t>
            </a:r>
            <a:r>
              <a:rPr sz="1600" i="1" spc="9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–</a:t>
            </a:r>
            <a:r>
              <a:rPr sz="1600" i="1" spc="26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1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интервале</a:t>
            </a:r>
            <a:r>
              <a:rPr sz="1600" spc="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мени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</a:t>
            </a:r>
            <a:r>
              <a:rPr sz="1600" spc="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00" spc="9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до</a:t>
            </a:r>
            <a:r>
              <a:rPr sz="1600" spc="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-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q(t)</a:t>
            </a:r>
            <a:r>
              <a:rPr sz="1600" i="1" spc="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–</a:t>
            </a:r>
            <a:r>
              <a:rPr sz="1600" i="1" spc="23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</a:t>
            </a:r>
            <a:r>
              <a:rPr sz="16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интервале</a:t>
            </a:r>
            <a:r>
              <a:rPr sz="1600" spc="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време-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ни от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до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f(t) –</a:t>
            </a:r>
            <a:r>
              <a:rPr sz="1600" i="1" spc="33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частота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или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плотность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вероятности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Т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λ(t)</a:t>
            </a:r>
            <a:r>
              <a:rPr sz="1600" i="1" spc="12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–</a:t>
            </a:r>
            <a:r>
              <a:rPr sz="1600" i="1" spc="1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1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изделия;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00" i="1" baseline="-14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 среднее время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изделия.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719328" y="6390544"/>
            <a:ext cx="6270685" cy="495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Формулы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(2.1)</a:t>
            </a:r>
            <a:r>
              <a:rPr sz="1600" spc="2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–</a:t>
            </a:r>
            <a:r>
              <a:rPr sz="1600" i="1" spc="24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(2.5)</a:t>
            </a:r>
            <a:r>
              <a:rPr sz="1600" spc="2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2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экспоненциального</a:t>
            </a:r>
            <a:r>
              <a:rPr sz="1600" spc="2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закона</a:t>
            </a:r>
            <a:r>
              <a:rPr sz="1600" spc="20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распреде-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ления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 изделия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примут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вид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3133344" y="6852380"/>
            <a:ext cx="1088566" cy="336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sz="1700" i="1" spc="6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</a:t>
            </a:r>
            <a:r>
              <a:rPr sz="1700" i="1" spc="-1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spc="13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800" spc="61" baseline="43765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spc="13" baseline="43765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i="1" baseline="4376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038856" y="6939183"/>
            <a:ext cx="1375078" cy="932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680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  <a:p>
            <a:pPr marL="39623" marR="0">
              <a:lnSpc>
                <a:spcPts val="2095"/>
              </a:lnSpc>
              <a:spcBef>
                <a:spcPts val="223"/>
              </a:spcBef>
              <a:spcAft>
                <a:spcPts val="0"/>
              </a:spcAft>
            </a:pPr>
            <a:r>
              <a:rPr sz="1700" i="1" spc="6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q(t</a:t>
            </a:r>
            <a:r>
              <a:rPr sz="1700" i="1" spc="-1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spc="243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1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700" spc="-1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spc="3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800" spc="61" baseline="43765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spc="13" baseline="43765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i="1" baseline="4376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  <a:p>
            <a:pPr marL="0" marR="0">
              <a:lnSpc>
                <a:spcPts val="2095"/>
              </a:lnSpc>
              <a:spcBef>
                <a:spcPts val="339"/>
              </a:spcBef>
              <a:spcAft>
                <a:spcPts val="0"/>
              </a:spcAft>
            </a:pP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700" i="1" spc="-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5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247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i="1" spc="8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800" spc="61" baseline="43764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spc="37" baseline="43764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i="1" baseline="4376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6448247" y="6939183"/>
            <a:ext cx="543600" cy="9469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(2.6)</a:t>
            </a:r>
          </a:p>
          <a:p>
            <a:pPr marL="2147" marR="0">
              <a:lnSpc>
                <a:spcPts val="1780"/>
              </a:lnSpc>
              <a:spcBef>
                <a:spcPts val="90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(2.7)</a:t>
            </a:r>
          </a:p>
          <a:p>
            <a:pPr marL="29" marR="0">
              <a:lnSpc>
                <a:spcPts val="1780"/>
              </a:lnSpc>
              <a:spcBef>
                <a:spcPts val="90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(2.8)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4309872" y="7280559"/>
            <a:ext cx="2091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8056" y="7621935"/>
            <a:ext cx="2091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3843528" y="7875440"/>
            <a:ext cx="373945" cy="222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200" spc="61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spc="37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3483864" y="7909543"/>
            <a:ext cx="486486" cy="295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21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2843784" y="8043655"/>
            <a:ext cx="721912" cy="295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spc="7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50" i="1" spc="-1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i="1" spc="-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4178808" y="8043655"/>
            <a:ext cx="438448" cy="295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4511040" y="8109616"/>
            <a:ext cx="2091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6447376" y="8109616"/>
            <a:ext cx="5436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(2.9)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3724656" y="8207672"/>
            <a:ext cx="370897" cy="222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200" spc="61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spc="13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3605784" y="8265793"/>
            <a:ext cx="245694" cy="270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3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3733800" y="8504860"/>
            <a:ext cx="270657" cy="575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1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  <a:p>
            <a:pPr marL="0" marR="0">
              <a:lnSpc>
                <a:spcPts val="2046"/>
              </a:lnSpc>
              <a:spcBef>
                <a:spcPts val="385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3258312" y="8614732"/>
            <a:ext cx="561431" cy="339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800" i="1" baseline="-26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800" i="1" spc="273" baseline="-26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6347372" y="8682640"/>
            <a:ext cx="64568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(2.10)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"/>
          <p:cNvSpPr/>
          <p:nvPr/>
        </p:nvSpPr>
        <p:spPr>
          <a:xfrm>
            <a:off x="2354008" y="3354958"/>
            <a:ext cx="300989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1941576" y="3354958"/>
            <a:ext cx="211645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70432" y="724311"/>
            <a:ext cx="266915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2.2</a:t>
            </a:r>
            <a:r>
              <a:rPr sz="1600" b="1" spc="22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Решение типовых задач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70432" y="1191542"/>
            <a:ext cx="112855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-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 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9328" y="1443135"/>
            <a:ext cx="6272342" cy="758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Средняя</a:t>
            </a:r>
            <a:r>
              <a:rPr sz="1600" spc="4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наработка</a:t>
            </a:r>
            <a:r>
              <a:rPr sz="1600" spc="4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до</a:t>
            </a:r>
            <a:r>
              <a:rPr sz="1600" spc="47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</a:t>
            </a:r>
            <a:r>
              <a:rPr sz="1600" spc="7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i="1" spc="-11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L</a:t>
            </a:r>
            <a:r>
              <a:rPr sz="1950" baseline="-150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950" spc="518" baseline="-150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автоматического</a:t>
            </a:r>
            <a:r>
              <a:rPr sz="1600" spc="48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регулятора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равна</a:t>
            </a:r>
            <a:r>
              <a:rPr sz="1600" spc="1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640</a:t>
            </a:r>
            <a:r>
              <a:rPr sz="160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часов.</a:t>
            </a:r>
            <a:r>
              <a:rPr sz="1600" spc="1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Предполагается,</a:t>
            </a:r>
            <a:r>
              <a:rPr sz="1600" spc="1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что</a:t>
            </a:r>
            <a:r>
              <a:rPr sz="1600" spc="1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справедлив</a:t>
            </a:r>
            <a:r>
              <a:rPr sz="1600" spc="1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экспоненциальный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9328" y="2169063"/>
            <a:ext cx="6269198" cy="7345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1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работы,</a:t>
            </a:r>
            <a:r>
              <a:rPr sz="1600" spc="1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частоту</a:t>
            </a:r>
            <a:r>
              <a:rPr sz="1600" spc="1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 отказов за 120 часов работы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системы.</a:t>
            </a:r>
          </a:p>
          <a:p>
            <a:pPr marL="451104" marR="0">
              <a:lnSpc>
                <a:spcPts val="1771"/>
              </a:lnSpc>
              <a:spcBef>
                <a:spcPts val="74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70432" y="2845945"/>
            <a:ext cx="1735247" cy="28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Так</a:t>
            </a:r>
            <a:r>
              <a:rPr sz="16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как</a:t>
            </a:r>
            <a:r>
              <a:rPr sz="2350" baseline="45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2350" spc="466" baseline="45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= const: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99488" y="3115969"/>
            <a:ext cx="246510" cy="246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56688" y="3115969"/>
            <a:ext cx="246510" cy="246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94816" y="3213333"/>
            <a:ext cx="853108" cy="268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ts val="0"/>
              </a:spcBef>
              <a:spcAft>
                <a:spcPts val="0"/>
              </a:spcAft>
            </a:pPr>
            <a:r>
              <a:rPr sz="1500" spc="41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500" i="1" spc="1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120</a:t>
            </a:r>
            <a:r>
              <a:rPr sz="1500" spc="-1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500" i="1" spc="-10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03704" y="3213333"/>
            <a:ext cx="255700" cy="268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706624" y="3159531"/>
            <a:ext cx="1362442" cy="322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ts val="0"/>
              </a:spcBef>
              <a:spcAft>
                <a:spcPts val="0"/>
              </a:spcAft>
            </a:pPr>
            <a:r>
              <a:rPr sz="1500" spc="161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-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56</a:t>
            </a:r>
            <a:r>
              <a:rPr sz="1500" spc="-1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spc="104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900" spc="10" baseline="44799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900" baseline="447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900" spc="1107" baseline="447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633215" y="3263296"/>
            <a:ext cx="55408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spc="5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959864" y="3381145"/>
            <a:ext cx="840491" cy="288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500" i="1" spc="-1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L</a:t>
            </a:r>
            <a:r>
              <a:rPr sz="1900" baseline="-25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900" spc="1372" baseline="-25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640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371088" y="3638173"/>
            <a:ext cx="570521" cy="283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7"/>
              </a:lnSpc>
              <a:spcBef>
                <a:spcPts val="0"/>
              </a:spcBef>
              <a:spcAft>
                <a:spcPts val="0"/>
              </a:spcAft>
            </a:pPr>
            <a:r>
              <a:rPr sz="1600" baseline="46153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00" spc="75" baseline="4615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300" spc="-157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3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120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115312" y="3674971"/>
            <a:ext cx="497118" cy="275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7"/>
              </a:lnSpc>
              <a:spcBef>
                <a:spcPts val="0"/>
              </a:spcBef>
              <a:spcAft>
                <a:spcPts val="0"/>
              </a:spcAft>
            </a:pPr>
            <a:r>
              <a:rPr sz="1950" spc="55" baseline="320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950" spc="-17" baseline="320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050" i="1" spc="13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950" spc="-37" baseline="320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950" i="1" baseline="32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551176" y="3681068"/>
            <a:ext cx="963697" cy="336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7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5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i="1" spc="17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950" spc="-65" baseline="44902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950" spc="-26" baseline="449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950" i="1" spc="-109" baseline="4490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950" baseline="449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56</a:t>
            </a:r>
            <a:r>
              <a:rPr sz="1950" spc="-133" baseline="44902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950" baseline="449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877056" y="3681068"/>
            <a:ext cx="1535419" cy="3554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7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5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i="1" spc="17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950" spc="55" baseline="44902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950" spc="70" baseline="449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950" i="1" spc="-205" baseline="4490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950" baseline="449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187</a:t>
            </a:r>
            <a:r>
              <a:rPr sz="1950" spc="208" baseline="449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5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spc="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550" i="1" spc="-14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5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83</a:t>
            </a:r>
            <a:r>
              <a:rPr sz="1550" spc="-1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207008" y="3736154"/>
            <a:ext cx="1039186" cy="281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7"/>
              </a:lnSpc>
              <a:spcBef>
                <a:spcPts val="0"/>
              </a:spcBef>
              <a:spcAft>
                <a:spcPts val="0"/>
              </a:spcAft>
            </a:pP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</a:t>
            </a:r>
            <a:r>
              <a:rPr sz="155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120</a:t>
            </a:r>
            <a:r>
              <a:rPr sz="1550" spc="-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550" i="1" spc="-6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5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34440" y="4028470"/>
            <a:ext cx="4876144" cy="343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7"/>
              </a:lnSpc>
              <a:spcBef>
                <a:spcPts val="0"/>
              </a:spcBef>
              <a:spcAft>
                <a:spcPts val="0"/>
              </a:spcAft>
            </a:pPr>
            <a:r>
              <a:rPr sz="15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500" i="1" spc="-9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00" i="1" spc="7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5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120</a:t>
            </a:r>
            <a:r>
              <a:rPr sz="15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500" i="1" spc="-1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i="1" spc="-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</a:t>
            </a:r>
            <a:r>
              <a:rPr sz="15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120</a:t>
            </a:r>
            <a:r>
              <a:rPr sz="1500" i="1" spc="19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500" spc="-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41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500" i="1" spc="7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5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120</a:t>
            </a:r>
            <a:r>
              <a:rPr sz="15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500" i="1" spc="-1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00" spc="161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-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500" i="1" spc="-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56</a:t>
            </a:r>
            <a:r>
              <a:rPr sz="1500" spc="81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500" spc="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900" spc="-14" baseline="44799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900" baseline="447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900" spc="-67" baseline="447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500" spc="-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500" i="1" spc="-15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83</a:t>
            </a:r>
            <a:r>
              <a:rPr sz="1500" spc="161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-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500" i="1" spc="-8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29</a:t>
            </a:r>
            <a:r>
              <a:rPr sz="1500" spc="81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500" spc="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900" spc="-14" baseline="44799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900" baseline="447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900" spc="291" baseline="447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baseline="413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70432" y="4587014"/>
            <a:ext cx="112855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-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 2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19328" y="4820824"/>
            <a:ext cx="6273020" cy="965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4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4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4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600" spc="4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</a:t>
            </a:r>
            <a:r>
              <a:rPr sz="1600" spc="4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spc="44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высокой</a:t>
            </a:r>
            <a:r>
              <a:rPr sz="1600" spc="4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вероятностью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9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9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P(t)</a:t>
            </a:r>
            <a:r>
              <a:rPr sz="1600" i="1" spc="9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90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0,99.</a:t>
            </a:r>
            <a:r>
              <a:rPr sz="1600" spc="9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9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надежность</a:t>
            </a:r>
            <a:r>
              <a:rPr sz="1600" spc="9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всей</a:t>
            </a:r>
          </a:p>
          <a:p>
            <a:pPr marL="0" marR="0">
              <a:lnSpc>
                <a:spcPts val="1780"/>
              </a:lnSpc>
              <a:spcBef>
                <a:spcPts val="9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системы.</a:t>
            </a:r>
            <a:r>
              <a:rPr sz="1600" spc="12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12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надежность</a:t>
            </a:r>
            <a:r>
              <a:rPr sz="1600" spc="12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этой</a:t>
            </a:r>
            <a:r>
              <a:rPr sz="1600" spc="12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системы,</a:t>
            </a:r>
            <a:r>
              <a:rPr sz="1600" spc="12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если</a:t>
            </a:r>
            <a:r>
              <a:rPr sz="1600" spc="12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число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</a:t>
            </a:r>
            <a:r>
              <a:rPr sz="1600" spc="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100?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70432" y="5757446"/>
            <a:ext cx="91356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944624" y="6009296"/>
            <a:ext cx="254550" cy="207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203960" y="6118858"/>
            <a:ext cx="2109838" cy="338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64"/>
              </a:lnSpc>
              <a:spcBef>
                <a:spcPts val="0"/>
              </a:spcBef>
              <a:spcAft>
                <a:spcPts val="0"/>
              </a:spcAft>
            </a:pP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00" i="1" spc="9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0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5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50" spc="267" dirty="0">
                <a:solidFill>
                  <a:srgbClr val="000000"/>
                </a:solidFill>
                <a:latin typeface="FEVUPN+Symbol"/>
                <a:cs typeface="FEVUPN+Symbol"/>
              </a:rPr>
              <a:t>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00" i="1" spc="-1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8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99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160776" y="6106832"/>
            <a:ext cx="458700" cy="207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550920" y="6089332"/>
            <a:ext cx="1398259" cy="373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8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432</a:t>
            </a:r>
            <a:r>
              <a:rPr sz="1700" spc="103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800" spc="37" baseline="45176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baseline="451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</a:p>
          <a:p>
            <a:pPr marL="1194815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307592" y="6256183"/>
            <a:ext cx="220375" cy="207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237232" y="6256183"/>
            <a:ext cx="194950" cy="207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901951" y="6388035"/>
            <a:ext cx="355578" cy="225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7"/>
              </a:lnSpc>
              <a:spcBef>
                <a:spcPts val="0"/>
              </a:spcBef>
              <a:spcAft>
                <a:spcPts val="0"/>
              </a:spcAft>
            </a:pPr>
            <a:r>
              <a:rPr sz="1200" i="1" spc="7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200" spc="-83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203960" y="6639747"/>
            <a:ext cx="1207793" cy="276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7"/>
              </a:lnSpc>
              <a:spcBef>
                <a:spcPts val="0"/>
              </a:spcBef>
              <a:spcAft>
                <a:spcPts val="0"/>
              </a:spcAft>
            </a:pP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00" i="1" spc="9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0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5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128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8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99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1725168" y="6615150"/>
            <a:ext cx="270538" cy="3018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255520" y="6597022"/>
            <a:ext cx="1187947" cy="332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6"/>
              </a:lnSpc>
              <a:spcBef>
                <a:spcPts val="0"/>
              </a:spcBef>
              <a:spcAft>
                <a:spcPts val="0"/>
              </a:spcAft>
            </a:pPr>
            <a:r>
              <a:rPr sz="1800" baseline="64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  <a:r>
              <a:rPr sz="1800" spc="221" baseline="64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  <a:p>
            <a:pPr marL="484631" marR="0">
              <a:lnSpc>
                <a:spcPts val="1877"/>
              </a:lnSpc>
              <a:spcBef>
                <a:spcPts val="0"/>
              </a:spcBef>
              <a:spcAft>
                <a:spcPts val="0"/>
              </a:spcAft>
            </a:pPr>
            <a:r>
              <a:rPr sz="1700" spc="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366</a:t>
            </a:r>
            <a:r>
              <a:rPr sz="2400" baseline="-70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307592" y="6746374"/>
            <a:ext cx="220643" cy="208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1170432" y="7159526"/>
            <a:ext cx="112855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-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 3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1170432" y="7393335"/>
            <a:ext cx="582026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3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управления</a:t>
            </a:r>
            <a:r>
              <a:rPr sz="1600" spc="3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3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3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6000</a:t>
            </a:r>
            <a:r>
              <a:rPr sz="1600" spc="3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элементов,</a:t>
            </a:r>
            <a:r>
              <a:rPr sz="1600" spc="3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соединенных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719328" y="7624983"/>
            <a:ext cx="627207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последовательно,</a:t>
            </a:r>
            <a:r>
              <a:rPr sz="1600" spc="5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средняя</a:t>
            </a:r>
            <a:r>
              <a:rPr sz="1600" spc="5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5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5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  <a:r>
              <a:rPr sz="1600" spc="5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</a:t>
            </a:r>
            <a:r>
              <a:rPr sz="1600" i="1" spc="6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(t)</a:t>
            </a:r>
            <a:r>
              <a:rPr sz="1600" i="1" spc="56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6284976" y="7717926"/>
            <a:ext cx="280317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spc="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228344" y="7827655"/>
            <a:ext cx="551674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-6</a:t>
            </a:r>
            <a:r>
              <a:rPr sz="1050" spc="10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719328" y="7859680"/>
            <a:ext cx="627203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0,2∙10</a:t>
            </a:r>
            <a:r>
              <a:rPr sz="1600" spc="10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</a:t>
            </a:r>
            <a:r>
              <a:rPr sz="1600" spc="4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  <a:r>
              <a:rPr sz="1600" spc="1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Необходимо</a:t>
            </a:r>
            <a:r>
              <a:rPr sz="1600" spc="1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1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1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719328" y="8101376"/>
            <a:ext cx="6273734" cy="586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527" marR="0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-26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50" i="1" spc="138" baseline="-2543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650" i="1" spc="2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2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2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</a:t>
            </a:r>
            <a:r>
              <a:rPr sz="1600" spc="1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600" spc="1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1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систе-</a:t>
            </a:r>
          </a:p>
          <a:p>
            <a:pPr marL="0" marR="0">
              <a:lnSpc>
                <a:spcPts val="1801"/>
              </a:lnSpc>
              <a:spcBef>
                <a:spcPts val="99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мы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spc="8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750" i="1" baseline="-1934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tc</a:t>
            </a:r>
            <a:r>
              <a:rPr sz="1750" i="1" spc="-78" baseline="-1934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170432" y="8656093"/>
            <a:ext cx="91356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1170432" y="8886856"/>
            <a:ext cx="302144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системы: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3023616" y="9111180"/>
            <a:ext cx="314872" cy="227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4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4568952" y="9111180"/>
            <a:ext cx="315198" cy="227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4"/>
              </a:lnSpc>
              <a:spcBef>
                <a:spcPts val="0"/>
              </a:spcBef>
              <a:spcAft>
                <a:spcPts val="0"/>
              </a:spcAft>
            </a:pPr>
            <a:r>
              <a:rPr sz="1200" spc="13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194816" y="9146412"/>
            <a:ext cx="3509797" cy="303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8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13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spc="-8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700" i="1" spc="-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700" spc="-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spc="151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700" spc="15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6000</a:t>
            </a:r>
            <a:r>
              <a:rPr sz="1700" spc="-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spc="219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700" i="1" spc="-1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700" spc="-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spc="151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4812632" y="9174870"/>
            <a:ext cx="554240" cy="29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47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</a:p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spc="5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1322832" y="9281281"/>
            <a:ext cx="221156" cy="209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767840" y="9281281"/>
            <a:ext cx="299873" cy="209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spc="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1170432" y="9490359"/>
            <a:ext cx="514523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 безотказной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 50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ч: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2204656" y="6923214"/>
            <a:ext cx="878966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1727263" y="6923214"/>
            <a:ext cx="245935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98560" y="1917065"/>
            <a:ext cx="577405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7169" y="1917065"/>
            <a:ext cx="237934" cy="12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03960" y="727353"/>
            <a:ext cx="1231421" cy="3782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5"/>
              </a:lnSpc>
              <a:spcBef>
                <a:spcPts val="0"/>
              </a:spcBef>
              <a:spcAft>
                <a:spcPts val="0"/>
              </a:spcAft>
            </a:pPr>
            <a:r>
              <a:rPr sz="1700" i="1" spc="-17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800" i="1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800" i="1" spc="-238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5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1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spc="1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800" spc="61" baseline="46588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spc="-11" baseline="4658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300" i="1" spc="55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800" i="1" baseline="4658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316480" y="815751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27504" y="1071453"/>
            <a:ext cx="235264" cy="223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89632" y="1071453"/>
            <a:ext cx="190146" cy="223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752344" y="1071453"/>
            <a:ext cx="190146" cy="223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209800" y="1071453"/>
            <a:ext cx="2354821" cy="330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6216" marR="0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е</a:t>
            </a:r>
            <a:r>
              <a:rPr sz="1650" i="1" spc="495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994</a:t>
            </a:r>
          </a:p>
          <a:p>
            <a:pPr marL="0" marR="0">
              <a:lnSpc>
                <a:spcPts val="2039"/>
              </a:lnSpc>
              <a:spcBef>
                <a:spcPts val="50"/>
              </a:spcBef>
              <a:spcAft>
                <a:spcPts val="0"/>
              </a:spcAft>
            </a:pPr>
            <a:r>
              <a:rPr sz="1800" spc="-24" baseline="62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800" i="1" spc="-36" baseline="62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800" baseline="62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800" spc="-209" baseline="62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800" spc="72" baseline="62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800" i="1" spc="-60" baseline="62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800" baseline="62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001</a:t>
            </a:r>
            <a:r>
              <a:rPr sz="1800" spc="-304" baseline="62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800" baseline="62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800" spc="151" baseline="62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8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spc="13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spc="48" baseline="62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800" i="1" spc="-60" baseline="62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800" baseline="62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006</a:t>
            </a:r>
            <a:r>
              <a:rPr sz="1800" spc="152" baseline="62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03960" y="1129372"/>
            <a:ext cx="1056987" cy="272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14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650" spc="-1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115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53184" y="1105218"/>
            <a:ext cx="268409" cy="297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443984" y="1151032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10640" y="1238058"/>
            <a:ext cx="219413" cy="205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70432" y="1410111"/>
            <a:ext cx="404861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 время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 системы: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804416" y="1654701"/>
            <a:ext cx="255776" cy="267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435352" y="1654701"/>
            <a:ext cx="255776" cy="267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197862" y="1762139"/>
            <a:ext cx="637728" cy="291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4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50" i="1" spc="132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033016" y="1762139"/>
            <a:ext cx="265871" cy="291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4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831592" y="1762139"/>
            <a:ext cx="1111705" cy="3236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4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833</a:t>
            </a:r>
            <a:r>
              <a:rPr sz="1650" i="1" spc="-1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  <a:p>
            <a:pPr marL="67040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(ч).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350264" y="1890227"/>
            <a:ext cx="288051" cy="219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150" i="1" spc="-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746504" y="1923684"/>
            <a:ext cx="1173077" cy="329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4"/>
              </a:lnSpc>
              <a:spcBef>
                <a:spcPts val="0"/>
              </a:spcBef>
              <a:spcAft>
                <a:spcPts val="0"/>
              </a:spcAft>
            </a:pPr>
            <a:r>
              <a:rPr sz="1650" spc="54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50" i="1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750" i="1" spc="1716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2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0012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70432" y="2453413"/>
            <a:ext cx="112855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-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 4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170432" y="2687223"/>
            <a:ext cx="582263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11000</a:t>
            </a:r>
            <a:r>
              <a:rPr sz="16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элементов,</a:t>
            </a:r>
            <a:r>
              <a:rPr sz="16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средняя</a:t>
            </a:r>
            <a:r>
              <a:rPr sz="1600" spc="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от-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621024" y="2926787"/>
            <a:ext cx="318246" cy="227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4"/>
              </a:lnSpc>
              <a:spcBef>
                <a:spcPts val="0"/>
              </a:spcBef>
              <a:spcAft>
                <a:spcPts val="0"/>
              </a:spcAft>
            </a:pPr>
            <a:r>
              <a:rPr sz="1200" spc="37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532888" y="2977932"/>
            <a:ext cx="1220649" cy="3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8535" marR="0">
              <a:lnSpc>
                <a:spcPts val="1621"/>
              </a:lnSpc>
              <a:spcBef>
                <a:spcPts val="0"/>
              </a:spcBef>
              <a:spcAft>
                <a:spcPts val="0"/>
              </a:spcAft>
            </a:pPr>
            <a:r>
              <a:rPr sz="1450" spc="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012</a:t>
            </a:r>
            <a:r>
              <a:rPr sz="1450" spc="3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  <a:p>
            <a:pPr marL="0" marR="0">
              <a:lnSpc>
                <a:spcPts val="1793"/>
              </a:lnSpc>
              <a:spcBef>
                <a:spcPts val="0"/>
              </a:spcBef>
              <a:spcAft>
                <a:spcPts val="0"/>
              </a:spcAft>
            </a:pPr>
            <a:r>
              <a:rPr sz="1450" spc="6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i="1" spc="19" baseline="-2648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  <a:r>
              <a:rPr sz="1800" i="1" spc="132" baseline="-2648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450" spc="7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352800" y="2977932"/>
            <a:ext cx="198872" cy="265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3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114800" y="2975239"/>
            <a:ext cx="2872715" cy="296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</a:t>
            </a:r>
            <a:r>
              <a:rPr sz="1600" baseline="46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  <a:r>
              <a:rPr sz="1600" spc="19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19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19328" y="3007263"/>
            <a:ext cx="164715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казов</a:t>
            </a:r>
            <a:r>
              <a:rPr sz="1600" spc="19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52856" y="3297727"/>
            <a:ext cx="3275701" cy="278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18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-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),</a:t>
            </a:r>
            <a:r>
              <a:rPr sz="1650" i="1" spc="-10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650" i="1" spc="44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-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),</a:t>
            </a:r>
            <a:r>
              <a:rPr sz="1650" i="1" spc="20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650" i="1" spc="5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-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),</a:t>
            </a:r>
            <a:r>
              <a:rPr sz="1650" i="1" spc="-10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50" i="1" spc="86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80</a:t>
            </a:r>
            <a:r>
              <a:rPr sz="1600" spc="-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62584" y="3402144"/>
            <a:ext cx="217892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1438656" y="3402144"/>
            <a:ext cx="217892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014728" y="3402144"/>
            <a:ext cx="217892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633472" y="3402144"/>
            <a:ext cx="258889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tc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1170432" y="3571144"/>
            <a:ext cx="964609" cy="26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1170432" y="3805839"/>
            <a:ext cx="3498814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будет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194816" y="4033993"/>
            <a:ext cx="3885549" cy="33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0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spc="8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spc="13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5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650" i="1" spc="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26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</a:t>
            </a:r>
            <a:r>
              <a:rPr sz="1650" spc="-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15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650" spc="15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15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11000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222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5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650" i="1" spc="-14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</a:t>
            </a:r>
            <a:r>
              <a:rPr sz="1650" spc="-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39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800" spc="13" baseline="45091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baseline="4509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063240" y="4033993"/>
            <a:ext cx="310877" cy="223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5010912" y="4087759"/>
            <a:ext cx="554080" cy="296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688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</a:p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spc="5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1319784" y="4200611"/>
            <a:ext cx="219465" cy="2054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7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755648" y="4200611"/>
            <a:ext cx="295038" cy="2054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7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cp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170432" y="4403248"/>
            <a:ext cx="302305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 безотказной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054351" y="4640804"/>
            <a:ext cx="435421" cy="2377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2"/>
              </a:lnSpc>
              <a:spcBef>
                <a:spcPts val="0"/>
              </a:spcBef>
              <a:spcAft>
                <a:spcPts val="0"/>
              </a:spcAft>
            </a:pPr>
            <a:r>
              <a:rPr sz="1300" spc="55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3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300" spc="6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3502152" y="4643852"/>
            <a:ext cx="1138166" cy="2377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2"/>
              </a:lnSpc>
              <a:spcBef>
                <a:spcPts val="0"/>
              </a:spcBef>
              <a:spcAft>
                <a:spcPts val="0"/>
              </a:spcAft>
            </a:pPr>
            <a:r>
              <a:rPr sz="1300" spc="-17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300" spc="-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300" i="1" spc="-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300" spc="-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</a:t>
            </a:r>
            <a:r>
              <a:rPr sz="1300" spc="-37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300" spc="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300" i="1" spc="-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3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001</a:t>
            </a:r>
            <a:r>
              <a:rPr sz="1300" spc="-85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3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80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1207008" y="4681940"/>
            <a:ext cx="2429938" cy="36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1"/>
              </a:lnSpc>
              <a:spcBef>
                <a:spcPts val="0"/>
              </a:spcBef>
              <a:spcAft>
                <a:spcPts val="0"/>
              </a:spcAft>
            </a:pPr>
            <a:r>
              <a:rPr sz="1800" i="1" spc="-2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950" i="1" spc="191" baseline="-2533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800" i="1" spc="24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800" i="1" spc="-2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800" i="1" spc="-8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80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800" i="1" spc="22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</a:t>
            </a:r>
            <a:r>
              <a:rPr sz="1800" i="1" spc="-4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spc="-2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950" i="1" spc="167" baseline="-2533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800" i="1" spc="21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8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80</a:t>
            </a:r>
            <a:r>
              <a:rPr sz="1800" spc="-1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800" i="1" spc="-8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80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4532376" y="4681940"/>
            <a:ext cx="714384" cy="31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1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80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800" i="1" spc="-20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8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82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2237232" y="4742622"/>
            <a:ext cx="203033" cy="164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4"/>
              </a:lnSpc>
              <a:spcBef>
                <a:spcPts val="0"/>
              </a:spcBef>
              <a:spcAft>
                <a:spcPts val="0"/>
              </a:spcAft>
            </a:pPr>
            <a:r>
              <a:rPr sz="9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5120640" y="4750719"/>
            <a:ext cx="212587" cy="785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  <a:p>
            <a:pPr marL="0" marR="0">
              <a:lnSpc>
                <a:spcPts val="1780"/>
              </a:lnSpc>
              <a:spcBef>
                <a:spcPts val="232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170432" y="5009799"/>
            <a:ext cx="184864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 отказа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1197862" y="5226421"/>
            <a:ext cx="4046512" cy="2967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650" i="1" spc="39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1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2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Р</a:t>
            </a:r>
            <a:r>
              <a:rPr sz="1650" i="1" spc="33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-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);</a:t>
            </a:r>
            <a:r>
              <a:rPr sz="1650" i="1" spc="1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650" i="1" spc="37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80</a:t>
            </a:r>
            <a:r>
              <a:rPr sz="1650" spc="-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5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1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2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1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80</a:t>
            </a:r>
            <a:r>
              <a:rPr sz="1650" spc="-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5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65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29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18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1313688" y="5359150"/>
            <a:ext cx="219316" cy="205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4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2310384" y="5359150"/>
            <a:ext cx="219316" cy="205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4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2913888" y="5359150"/>
            <a:ext cx="219316" cy="205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4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4023359" y="5359150"/>
            <a:ext cx="219316" cy="205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4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1170432" y="5531007"/>
            <a:ext cx="154367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Частота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2307336" y="5771974"/>
            <a:ext cx="408932" cy="215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3"/>
              </a:lnSpc>
              <a:spcBef>
                <a:spcPts val="0"/>
              </a:spcBef>
              <a:spcAft>
                <a:spcPts val="0"/>
              </a:spcAft>
            </a:pPr>
            <a:r>
              <a:rPr sz="1150" spc="41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1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150" spc="1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1234440" y="5808379"/>
            <a:ext cx="1205308" cy="285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600" i="1" spc="47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spc="2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00" i="1" spc="-24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00" i="1" spc="-1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00" spc="6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00" spc="-1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2648712" y="5808379"/>
            <a:ext cx="1045807" cy="285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00" spc="-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00" spc="3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00" i="1" spc="15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spc="2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00" i="1" spc="-24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);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2474976" y="5860617"/>
            <a:ext cx="197270" cy="150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81"/>
              </a:lnSpc>
              <a:spcBef>
                <a:spcPts val="0"/>
              </a:spcBef>
              <a:spcAft>
                <a:spcPts val="0"/>
              </a:spcAft>
            </a:pPr>
            <a:r>
              <a:rPr sz="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1310640" y="5931733"/>
            <a:ext cx="216500" cy="1980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1981200" y="5931733"/>
            <a:ext cx="216500" cy="1980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2923032" y="5931733"/>
            <a:ext cx="411572" cy="1980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150" i="1" spc="73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1170432" y="6092378"/>
            <a:ext cx="3745337" cy="586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07" marR="0">
              <a:lnSpc>
                <a:spcPts val="1945"/>
              </a:lnSpc>
              <a:spcBef>
                <a:spcPts val="0"/>
              </a:spcBef>
              <a:spcAft>
                <a:spcPts val="0"/>
              </a:spcAft>
            </a:pPr>
            <a:r>
              <a:rPr sz="1600" i="1" spc="1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750" i="1" baseline="-23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750" i="1" spc="-252" baseline="-23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spc="2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80</a:t>
            </a:r>
            <a:r>
              <a:rPr sz="1600" spc="-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00" i="1" spc="-1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spc="202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00" spc="-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600" i="1" spc="-1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</a:t>
            </a:r>
            <a:r>
              <a:rPr sz="1600" spc="-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4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150" spc="17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1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150" spc="1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00" spc="-1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00" i="1" spc="-1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82</a:t>
            </a:r>
            <a:r>
              <a:rPr sz="1600" spc="-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00" spc="-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600" i="1" spc="-1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28</a:t>
            </a:r>
            <a:r>
              <a:rPr sz="1600" spc="-1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4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750" spc="17" baseline="450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750" baseline="4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750" spc="139" baseline="4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baseline="42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</a:p>
          <a:p>
            <a:pPr marL="0" marR="0">
              <a:lnSpc>
                <a:spcPts val="1780"/>
              </a:lnSpc>
              <a:spcBef>
                <a:spcPts val="99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 время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1737360" y="6656592"/>
            <a:ext cx="343955" cy="6082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911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  <a:p>
            <a:pPr marL="0" marR="0">
              <a:lnSpc>
                <a:spcPts val="2026"/>
              </a:lnSpc>
              <a:spcBef>
                <a:spcPts val="357"/>
              </a:spcBef>
              <a:spcAft>
                <a:spcPts val="0"/>
              </a:spcAft>
            </a:pPr>
            <a:r>
              <a:rPr sz="1650" spc="7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i="1" baseline="-26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2590800" y="6656592"/>
            <a:ext cx="257417" cy="27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1197862" y="6763656"/>
            <a:ext cx="624290" cy="336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800" i="1" baseline="-26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tc</a:t>
            </a:r>
            <a:r>
              <a:rPr sz="1800" i="1" spc="240" baseline="-26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033016" y="6763656"/>
            <a:ext cx="267673" cy="295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70" name="object 70"/>
          <p:cNvSpPr txBox="1"/>
          <p:nvPr/>
        </p:nvSpPr>
        <p:spPr>
          <a:xfrm>
            <a:off x="3142488" y="6763656"/>
            <a:ext cx="953369" cy="333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65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758</a:t>
            </a:r>
            <a:r>
              <a:rPr sz="2400" baseline="-189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(ч).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2886456" y="6924579"/>
            <a:ext cx="312756" cy="221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7"/>
              </a:lnSpc>
              <a:spcBef>
                <a:spcPts val="0"/>
              </a:spcBef>
              <a:spcAft>
                <a:spcPts val="0"/>
              </a:spcAft>
            </a:pPr>
            <a:r>
              <a:rPr sz="1200" spc="13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2194560" y="6958728"/>
            <a:ext cx="821104" cy="295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535" marR="0">
              <a:lnSpc>
                <a:spcPts val="2026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i="1" spc="14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  <a:p>
            <a:pPr marL="0" marR="0">
              <a:lnSpc>
                <a:spcPts val="1831"/>
              </a:lnSpc>
              <a:spcBef>
                <a:spcPts val="50"/>
              </a:spcBef>
              <a:spcAft>
                <a:spcPts val="0"/>
              </a:spcAft>
            </a:pPr>
            <a:r>
              <a:rPr sz="1650" spc="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132</a:t>
            </a:r>
            <a:r>
              <a:rPr sz="1650" spc="4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1170432" y="7467373"/>
            <a:ext cx="5914337" cy="498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-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 5</a:t>
            </a:r>
          </a:p>
          <a:p>
            <a:pPr marL="0" marR="0">
              <a:lnSpc>
                <a:spcPts val="1780"/>
              </a:lnSpc>
              <a:spcBef>
                <a:spcPts val="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элемента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до</a:t>
            </a:r>
            <a:r>
              <a:rPr sz="1600" spc="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</a:t>
            </a:r>
            <a:r>
              <a:rPr sz="160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подчинено</a:t>
            </a:r>
            <a:r>
              <a:rPr sz="1600" spc="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экспоненциальному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4011168" y="7926528"/>
            <a:ext cx="1241282" cy="337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8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700" i="1" spc="-1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spc="1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700" spc="31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800" spc="13" baseline="45176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baseline="451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</a:p>
        </p:txBody>
      </p:sp>
      <p:sp>
        <p:nvSpPr>
          <p:cNvPr id="75" name="object 75"/>
          <p:cNvSpPr txBox="1"/>
          <p:nvPr/>
        </p:nvSpPr>
        <p:spPr>
          <a:xfrm>
            <a:off x="719328" y="8005983"/>
            <a:ext cx="3346458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закону</a:t>
            </a:r>
            <a:r>
              <a:rPr sz="1600" spc="1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распределения</a:t>
            </a:r>
            <a:r>
              <a:rPr sz="1600" spc="1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spc="1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параметром</a:t>
            </a:r>
          </a:p>
        </p:txBody>
      </p:sp>
      <p:sp>
        <p:nvSpPr>
          <p:cNvPr id="76" name="object 76"/>
          <p:cNvSpPr txBox="1"/>
          <p:nvPr/>
        </p:nvSpPr>
        <p:spPr>
          <a:xfrm>
            <a:off x="5202936" y="7973959"/>
            <a:ext cx="1881596" cy="296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baseline="464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  <a:r>
              <a:rPr sz="160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вы-</a:t>
            </a:r>
          </a:p>
        </p:txBody>
      </p:sp>
      <p:sp>
        <p:nvSpPr>
          <p:cNvPr id="77" name="object 77"/>
          <p:cNvSpPr txBox="1"/>
          <p:nvPr/>
        </p:nvSpPr>
        <p:spPr>
          <a:xfrm>
            <a:off x="719328" y="8240680"/>
            <a:ext cx="6360390" cy="514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числить</a:t>
            </a:r>
            <a:r>
              <a:rPr sz="1600" spc="4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количественные</a:t>
            </a:r>
            <a:r>
              <a:rPr sz="1600" spc="40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характеристики</a:t>
            </a:r>
            <a:r>
              <a:rPr sz="1600" spc="4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</a:t>
            </a:r>
            <a:r>
              <a:rPr sz="1600" spc="3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элемента:</a:t>
            </a:r>
            <a:r>
              <a:rPr sz="1600" spc="40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p(t),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q(t),</a:t>
            </a:r>
            <a:r>
              <a:rPr sz="1600" i="1" spc="-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f(t),</a:t>
            </a:r>
            <a:r>
              <a:rPr sz="1600" i="1" spc="-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00" i="1" baseline="-15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1000 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1170432" y="8707910"/>
            <a:ext cx="96460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Решение.</a:t>
            </a:r>
          </a:p>
        </p:txBody>
      </p:sp>
      <p:sp>
        <p:nvSpPr>
          <p:cNvPr id="79" name="object 79"/>
          <p:cNvSpPr txBox="1"/>
          <p:nvPr/>
        </p:nvSpPr>
        <p:spPr>
          <a:xfrm>
            <a:off x="1170432" y="8941720"/>
            <a:ext cx="5656315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-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Используем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формулы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(2.6),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(2.7),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(2.8),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(2.10)</a:t>
            </a:r>
            <a:r>
              <a:rPr sz="1600" spc="-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для</a:t>
            </a:r>
            <a:r>
              <a:rPr sz="1600" spc="-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-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p(t),</a:t>
            </a:r>
            <a:r>
              <a:rPr sz="1600" i="1" spc="-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spc="-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q(t),</a:t>
            </a:r>
            <a:r>
              <a:rPr sz="1600" i="1" spc="-3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spc="-2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f(t),</a:t>
            </a:r>
            <a:r>
              <a:rPr sz="1600" i="1" spc="-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spc="-2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00" i="1" spc="-28" baseline="-14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.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1.</a:t>
            </a:r>
            <a:r>
              <a:rPr sz="1600" spc="-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Вычислим</a:t>
            </a:r>
            <a:r>
              <a:rPr sz="1600" spc="-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работы:</a:t>
            </a:r>
          </a:p>
        </p:txBody>
      </p:sp>
      <p:sp>
        <p:nvSpPr>
          <p:cNvPr id="80" name="object 80"/>
          <p:cNvSpPr txBox="1"/>
          <p:nvPr/>
        </p:nvSpPr>
        <p:spPr>
          <a:xfrm>
            <a:off x="2968752" y="9427061"/>
            <a:ext cx="265160" cy="169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50" spc="-11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8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</a:p>
        </p:txBody>
      </p:sp>
      <p:sp>
        <p:nvSpPr>
          <p:cNvPr id="81" name="object 81"/>
          <p:cNvSpPr txBox="1"/>
          <p:nvPr/>
        </p:nvSpPr>
        <p:spPr>
          <a:xfrm>
            <a:off x="1225296" y="9447788"/>
            <a:ext cx="1887439" cy="337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i="1" spc="7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</a:t>
            </a:r>
            <a:r>
              <a:rPr sz="1700" i="1" spc="-12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1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spc="1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800" spc="37" baseline="45176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spc="13" baseline="45176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i="1" baseline="4517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800" i="1" spc="249" baseline="4517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spc="1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800" spc="61" baseline="45176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spc="72" baseline="451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800" i="1" spc="-60" baseline="4517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800" spc="-48" baseline="451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800" spc="-132" baseline="45176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800" baseline="451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82" name="object 82"/>
          <p:cNvSpPr txBox="1"/>
          <p:nvPr/>
        </p:nvSpPr>
        <p:spPr>
          <a:xfrm>
            <a:off x="3099816" y="9465338"/>
            <a:ext cx="195071" cy="208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83" name="object 83"/>
          <p:cNvSpPr txBox="1"/>
          <p:nvPr/>
        </p:nvSpPr>
        <p:spPr>
          <a:xfrm>
            <a:off x="3182112" y="9533032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84" name="object 84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2037969" y="3347719"/>
            <a:ext cx="803148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60969" y="3347719"/>
            <a:ext cx="147637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70432" y="721263"/>
            <a:ext cx="359455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Подставляя</a:t>
            </a:r>
            <a:r>
              <a:rPr sz="1600" spc="-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исходные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данные, получим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25296" y="974957"/>
            <a:ext cx="2318666" cy="3573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i="1" spc="-1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</a:t>
            </a:r>
            <a:r>
              <a:rPr sz="17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10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6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spc="13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200" spc="85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spc="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200" i="1" spc="-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200" spc="-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200" spc="-132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200" spc="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300" spc="-11" baseline="43999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300" spc="103" baseline="406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800" spc="-108" baseline="40615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200" spc="3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38144" y="1056019"/>
            <a:ext cx="247837" cy="2762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553968" y="995683"/>
            <a:ext cx="1486651" cy="3494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200" spc="61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spc="72" baseline="63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800" i="1" spc="-60" baseline="63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800" baseline="63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025</a:t>
            </a:r>
            <a:r>
              <a:rPr sz="1800" spc="195" baseline="63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  <a:p>
            <a:pPr marL="682752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7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spc="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9753</a:t>
            </a:r>
            <a:r>
              <a:rPr sz="2400" baseline="-70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70432" y="1340008"/>
            <a:ext cx="435062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2.</a:t>
            </a:r>
            <a:r>
              <a:rPr sz="1600" spc="-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Вычислим</a:t>
            </a:r>
            <a:r>
              <a:rPr sz="1600" spc="-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 </a:t>
            </a:r>
            <a:r>
              <a:rPr sz="1600" i="1" spc="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(1000).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Имеем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97862" y="1542179"/>
            <a:ext cx="2898564" cy="299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700" i="1" spc="3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q(</a:t>
            </a:r>
            <a:r>
              <a:rPr sz="17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700" spc="-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10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spc="243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700" spc="8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spc="-1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</a:t>
            </a:r>
            <a:r>
              <a:rPr sz="17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700" spc="-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3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0247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86784" y="1589944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70432" y="1849023"/>
            <a:ext cx="268623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3.</a:t>
            </a:r>
            <a:r>
              <a:rPr sz="1600" spc="-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Вычислим</a:t>
            </a:r>
            <a:r>
              <a:rPr sz="1600" spc="-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частоту</a:t>
            </a:r>
            <a:r>
              <a:rPr sz="1600" spc="-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37488" y="2102717"/>
            <a:ext cx="3447287" cy="3580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700" i="1" spc="-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8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51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5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9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)p(t</a:t>
            </a:r>
            <a:r>
              <a:rPr sz="1700" i="1" spc="-1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700" i="1" spc="-1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spc="2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700" spc="79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spc="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800" spc="37" baseline="45176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baseline="451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 </a:t>
            </a:r>
            <a:r>
              <a:rPr sz="1700" spc="247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i="1" spc="13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200" spc="37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spc="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200" i="1" spc="-8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200" spc="-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200" spc="-132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2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300" spc="-11" baseline="43999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300" spc="79" baseline="43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200" spc="-36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572000" y="2208687"/>
            <a:ext cx="2091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420112" y="2507523"/>
            <a:ext cx="233348" cy="218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502408" y="2484957"/>
            <a:ext cx="2160466" cy="345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8328" marR="0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150" spc="4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150" i="1" spc="19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1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150" spc="79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baseline="65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200" spc="-172" baseline="65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1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  <a:p>
            <a:pPr marL="0" marR="0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1750" baseline="626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750" spc="92" baseline="626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50" spc="-1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650" i="1" spc="4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baseline="436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750" spc="-149" baseline="436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50" spc="49" baseline="436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510</a:t>
            </a:r>
            <a:r>
              <a:rPr sz="1750" spc="691" baseline="436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50" baseline="626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750" spc="185" baseline="626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7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i="1" spc="49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  <a:p>
            <a:pPr marL="1456944" marR="0">
              <a:lnSpc>
                <a:spcPts val="720"/>
              </a:lnSpc>
              <a:spcBef>
                <a:spcPts val="5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650" spc="-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650" spc="3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526280" y="2507523"/>
            <a:ext cx="233348" cy="218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608576" y="2507523"/>
            <a:ext cx="2559665" cy="33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750" baseline="626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750" spc="92" baseline="626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50" spc="7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i="1" spc="1040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150" spc="17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750" baseline="709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750" spc="234" baseline="709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baseline="46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</a:p>
          <a:p>
            <a:pPr marL="22860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spc="-1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9753</a:t>
            </a:r>
            <a:r>
              <a:rPr sz="1650" spc="115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650" spc="-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439</a:t>
            </a:r>
            <a:r>
              <a:rPr sz="1650" spc="4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63167" y="2539643"/>
            <a:ext cx="1593537" cy="291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6967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650" spc="-1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650" spc="3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650" i="1" spc="-10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7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9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7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i="1" spc="49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428488" y="2539643"/>
            <a:ext cx="475295" cy="291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8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080760" y="2539643"/>
            <a:ext cx="204022" cy="291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70432" y="2836575"/>
            <a:ext cx="432977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4.</a:t>
            </a:r>
            <a:r>
              <a:rPr sz="1600" spc="-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Вычислим</a:t>
            </a:r>
            <a:r>
              <a:rPr sz="1600" spc="-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 время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670304" y="3076290"/>
            <a:ext cx="270703" cy="575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1" marR="0"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  <a:p>
            <a:pPr marL="0" marR="0">
              <a:lnSpc>
                <a:spcPts val="2047"/>
              </a:lnSpc>
              <a:spcBef>
                <a:spcPts val="334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386584" y="3076290"/>
            <a:ext cx="258511" cy="2731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97862" y="3186151"/>
            <a:ext cx="561483" cy="339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800" i="1" baseline="-26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800" i="1" spc="273" baseline="-26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865376" y="3186151"/>
            <a:ext cx="268873" cy="298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898648" y="3186151"/>
            <a:ext cx="852294" cy="298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40000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633215" y="3260247"/>
            <a:ext cx="44211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(ч).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642616" y="3350751"/>
            <a:ext cx="313537" cy="223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200" spc="13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051304" y="3384272"/>
            <a:ext cx="724711" cy="298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775" marR="0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i="1" spc="5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  <a:p>
            <a:pPr marL="0" marR="0"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650" spc="-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650" spc="4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170432" y="3897280"/>
            <a:ext cx="40482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2.3</a:t>
            </a:r>
            <a:r>
              <a:rPr sz="1600" b="1" spc="24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Задачи для самостоятельного</a:t>
            </a:r>
            <a:r>
              <a:rPr sz="1600" b="1" spc="-22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решения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19328" y="4372263"/>
            <a:ext cx="6274359" cy="953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6.</a:t>
            </a:r>
            <a:r>
              <a:rPr sz="1600" spc="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Средняя</a:t>
            </a:r>
            <a:r>
              <a:rPr sz="1600" spc="1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наработка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до</a:t>
            </a:r>
            <a:r>
              <a:rPr sz="1600" spc="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</a:t>
            </a:r>
            <a:r>
              <a:rPr sz="1600" spc="3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i="1" spc="-11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L</a:t>
            </a:r>
            <a:r>
              <a:rPr sz="1950" baseline="-150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950" spc="133" baseline="-150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равна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460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часов.</a:t>
            </a:r>
            <a:r>
              <a:rPr sz="1600" spc="9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9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экспоненциального</a:t>
            </a:r>
            <a:r>
              <a:rPr sz="1600" spc="9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закона</a:t>
            </a:r>
            <a:r>
              <a:rPr sz="1600" spc="9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</a:t>
            </a:r>
            <a:r>
              <a:rPr sz="1600" spc="9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оопределить</a:t>
            </a:r>
          </a:p>
          <a:p>
            <a:pPr marL="0" marR="0">
              <a:lnSpc>
                <a:spcPts val="172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4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4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работы,</a:t>
            </a:r>
            <a:r>
              <a:rPr sz="1600" spc="4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частоту</a:t>
            </a:r>
            <a:r>
              <a:rPr sz="1600" spc="3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4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4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</a:p>
          <a:p>
            <a:pPr marL="0" marR="0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 800 часов работы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170432" y="5506624"/>
            <a:ext cx="5822688" cy="26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7.</a:t>
            </a:r>
            <a:r>
              <a:rPr sz="1600" spc="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управления</a:t>
            </a:r>
            <a:r>
              <a:rPr sz="1600" spc="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6000</a:t>
            </a:r>
            <a:r>
              <a:rPr sz="1600" spc="9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элементов,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со-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19328" y="5729128"/>
            <a:ext cx="627421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единенных</a:t>
            </a:r>
            <a:r>
              <a:rPr sz="1600" spc="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последовательно,</a:t>
            </a:r>
            <a:r>
              <a:rPr sz="16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средняя</a:t>
            </a:r>
            <a:r>
              <a:rPr sz="1600" spc="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901951" y="5919607"/>
            <a:ext cx="55472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-6</a:t>
            </a:r>
            <a:r>
              <a:rPr sz="1050" spc="11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719328" y="5951631"/>
            <a:ext cx="627535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</a:t>
            </a:r>
            <a:r>
              <a:rPr sz="1600" i="1" spc="6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(t)</a:t>
            </a:r>
            <a:r>
              <a:rPr sz="1600" i="1" spc="19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0,2∙10</a:t>
            </a:r>
            <a:r>
              <a:rPr sz="1600" spc="107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</a:t>
            </a:r>
            <a:r>
              <a:rPr sz="1600" spc="4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  <a:r>
              <a:rPr sz="1600" spc="20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Необходимо</a:t>
            </a:r>
            <a:r>
              <a:rPr sz="1600" spc="1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2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2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807720" y="6044575"/>
            <a:ext cx="280317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spc="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719328" y="6171087"/>
            <a:ext cx="6273734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</a:t>
            </a:r>
            <a:r>
              <a:rPr sz="1600" spc="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Т</a:t>
            </a:r>
            <a:r>
              <a:rPr sz="1600" i="1" spc="5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600" spc="7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</a:t>
            </a:r>
            <a:r>
              <a:rPr sz="1600" spc="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систе-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719328" y="6393592"/>
            <a:ext cx="4698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мы.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170432" y="6838599"/>
            <a:ext cx="5822688" cy="26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8.</a:t>
            </a:r>
            <a:r>
              <a:rPr sz="1600" spc="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управления</a:t>
            </a:r>
            <a:r>
              <a:rPr sz="1600" spc="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5000</a:t>
            </a:r>
            <a:r>
              <a:rPr sz="1600" spc="9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элементов,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со-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719328" y="7061104"/>
            <a:ext cx="627421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единенных</a:t>
            </a:r>
            <a:r>
              <a:rPr sz="1600" spc="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последовательно,</a:t>
            </a:r>
            <a:r>
              <a:rPr sz="16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средняя</a:t>
            </a:r>
            <a:r>
              <a:rPr sz="1600" spc="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1901951" y="7251583"/>
            <a:ext cx="55472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-6</a:t>
            </a:r>
            <a:r>
              <a:rPr sz="1050" spc="11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719328" y="7283607"/>
            <a:ext cx="62752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</a:t>
            </a:r>
            <a:r>
              <a:rPr sz="1600" i="1" spc="6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(t)</a:t>
            </a:r>
            <a:r>
              <a:rPr sz="1600" i="1" spc="19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0,3∙10</a:t>
            </a:r>
            <a:r>
              <a:rPr sz="1600" spc="107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</a:t>
            </a:r>
            <a:r>
              <a:rPr sz="1600" spc="4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  <a:r>
              <a:rPr sz="1600" spc="20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Необходимо</a:t>
            </a:r>
            <a:r>
              <a:rPr sz="1600" spc="1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2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2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807720" y="7376550"/>
            <a:ext cx="280317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spc="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719328" y="7503063"/>
            <a:ext cx="627659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</a:t>
            </a:r>
            <a:r>
              <a:rPr sz="1600" spc="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Т</a:t>
            </a:r>
            <a:r>
              <a:rPr sz="1600" i="1" spc="10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120</a:t>
            </a:r>
            <a:r>
              <a:rPr sz="1600" spc="1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</a:t>
            </a:r>
            <a:r>
              <a:rPr sz="1600" spc="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1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1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сис-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719328" y="7725568"/>
            <a:ext cx="64967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темы.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1170432" y="8170575"/>
            <a:ext cx="5822528" cy="26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9.</a:t>
            </a:r>
            <a:r>
              <a:rPr sz="1600" spc="19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Невосстанавливаемая</a:t>
            </a:r>
            <a:r>
              <a:rPr sz="1600" spc="1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процессе</a:t>
            </a:r>
            <a:r>
              <a:rPr sz="1600" spc="1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электрон-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719328" y="8393080"/>
            <a:ext cx="627354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ная</a:t>
            </a:r>
            <a:r>
              <a:rPr sz="1600" spc="3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машина</a:t>
            </a:r>
            <a:r>
              <a:rPr sz="1600" spc="3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2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30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200000</a:t>
            </a:r>
            <a:r>
              <a:rPr sz="1600" spc="3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элементов,</a:t>
            </a:r>
            <a:r>
              <a:rPr sz="1600" spc="3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соединенных</a:t>
            </a:r>
            <a:r>
              <a:rPr sz="1600" spc="3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последова-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6373368" y="8583559"/>
            <a:ext cx="566914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-6</a:t>
            </a:r>
            <a:r>
              <a:rPr sz="1050" spc="12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05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719328" y="8615583"/>
            <a:ext cx="627201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тельно,</a:t>
            </a:r>
            <a:r>
              <a:rPr sz="1600" spc="3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средняя</a:t>
            </a:r>
            <a:r>
              <a:rPr sz="1600" spc="3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3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3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  <a:r>
              <a:rPr sz="1600" spc="3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</a:t>
            </a:r>
            <a:r>
              <a:rPr sz="1600" i="1" spc="6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(t)</a:t>
            </a:r>
            <a:r>
              <a:rPr sz="1600" i="1" spc="28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3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0,3∙10</a:t>
            </a:r>
            <a:r>
              <a:rPr sz="1600" spc="12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</a:t>
            </a:r>
            <a:r>
              <a:rPr sz="1600" spc="4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5248656" y="8708527"/>
            <a:ext cx="280317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spc="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719328" y="8835040"/>
            <a:ext cx="627393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2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2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2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2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2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электронной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719328" y="9057544"/>
            <a:ext cx="6273588" cy="486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машины</a:t>
            </a:r>
            <a:r>
              <a:rPr sz="1600" spc="2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2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</a:t>
            </a:r>
            <a:r>
              <a:rPr sz="1600" spc="2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суток</a:t>
            </a:r>
            <a:r>
              <a:rPr sz="1600" spc="2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2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2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2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элек-</a:t>
            </a:r>
          </a:p>
          <a:p>
            <a:pPr marL="0" marR="0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тронной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машины.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70432" y="712120"/>
            <a:ext cx="5822528" cy="26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10.</a:t>
            </a:r>
            <a:r>
              <a:rPr sz="1600" spc="1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1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1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12600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элементов,</a:t>
            </a:r>
            <a:r>
              <a:rPr sz="1600" spc="1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средняя</a:t>
            </a:r>
            <a:r>
              <a:rPr sz="1600" spc="1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17136" y="945587"/>
            <a:ext cx="318246" cy="227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4"/>
              </a:lnSpc>
              <a:spcBef>
                <a:spcPts val="0"/>
              </a:spcBef>
              <a:spcAft>
                <a:spcPts val="0"/>
              </a:spcAft>
            </a:pPr>
            <a:r>
              <a:rPr sz="1200" spc="37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9328" y="996732"/>
            <a:ext cx="2936662" cy="29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тенсивность</a:t>
            </a:r>
            <a:r>
              <a:rPr sz="1600" spc="4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4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  <a:r>
              <a:rPr sz="2200" baseline="11999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42944" y="996732"/>
            <a:ext cx="909754" cy="265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447" marR="0">
              <a:lnSpc>
                <a:spcPts val="1621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450" spc="-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</a:t>
            </a:r>
            <a:r>
              <a:rPr sz="1450" spc="3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  <a:p>
            <a:pPr marL="0" marR="0">
              <a:lnSpc>
                <a:spcPts val="1793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450" spc="88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51960" y="996732"/>
            <a:ext cx="198872" cy="265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3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24984" y="994038"/>
            <a:ext cx="2165030" cy="296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</a:t>
            </a:r>
            <a:r>
              <a:rPr sz="1600" baseline="46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  <a:r>
              <a:rPr sz="1600" spc="3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3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опреде-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508248" y="1094352"/>
            <a:ext cx="299873" cy="209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spc="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9328" y="1301287"/>
            <a:ext cx="3677846" cy="278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лить</a:t>
            </a:r>
            <a:r>
              <a:rPr sz="1600" spc="2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-2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-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),</a:t>
            </a:r>
            <a:r>
              <a:rPr sz="1650" i="1" spc="-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65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-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),</a:t>
            </a:r>
            <a:r>
              <a:rPr sz="1650" i="1" spc="25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650" i="1" spc="30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-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),</a:t>
            </a:r>
            <a:r>
              <a:rPr sz="1650" i="1" spc="-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50" i="1" spc="65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14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600" spc="-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89304" y="1405704"/>
            <a:ext cx="217892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47088" y="1405704"/>
            <a:ext cx="217892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404872" y="1405704"/>
            <a:ext cx="217892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002280" y="1405704"/>
            <a:ext cx="258889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tc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70432" y="1785015"/>
            <a:ext cx="5825736" cy="26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11.</a:t>
            </a:r>
            <a:r>
              <a:rPr sz="1600" spc="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прибора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до</a:t>
            </a:r>
            <a:r>
              <a:rPr sz="1600" spc="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подчинено</a:t>
            </a:r>
            <a:r>
              <a:rPr sz="1600" spc="4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экспо-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97752" y="1975495"/>
            <a:ext cx="53948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-6</a:t>
            </a:r>
            <a:r>
              <a:rPr sz="1050" spc="10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19328" y="2007520"/>
            <a:ext cx="6271598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ненциальному</a:t>
            </a:r>
            <a:r>
              <a:rPr sz="1600" spc="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закону</a:t>
            </a:r>
            <a:r>
              <a:rPr sz="1600" spc="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распределения</a:t>
            </a:r>
            <a:r>
              <a:rPr sz="1600" spc="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spc="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параметром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</a:t>
            </a:r>
            <a:r>
              <a:rPr sz="1600" i="1" spc="58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(t)</a:t>
            </a:r>
            <a:r>
              <a:rPr sz="1600" i="1" spc="4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0,1∙10</a:t>
            </a:r>
            <a:r>
              <a:rPr sz="1600" spc="9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</a:t>
            </a:r>
            <a:r>
              <a:rPr sz="1600" spc="4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337048" y="2100463"/>
            <a:ext cx="280317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i="1" spc="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19328" y="2226975"/>
            <a:ext cx="627659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8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180</a:t>
            </a:r>
            <a:r>
              <a:rPr sz="1600" spc="1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1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1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1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количественные</a:t>
            </a:r>
            <a:r>
              <a:rPr sz="1600" spc="1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характеристики</a:t>
            </a:r>
            <a:r>
              <a:rPr sz="1600" spc="1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на-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19328" y="2449480"/>
            <a:ext cx="3248395" cy="279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дежности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элемента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p(t),</a:t>
            </a:r>
            <a:r>
              <a:rPr sz="1600" i="1" spc="-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q(t),</a:t>
            </a:r>
            <a:r>
              <a:rPr sz="1600" i="1" spc="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f(t),</a:t>
            </a:r>
            <a:r>
              <a:rPr sz="1600" i="1" spc="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00" i="1" baseline="-14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19328" y="2894487"/>
            <a:ext cx="6276592" cy="823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12.</a:t>
            </a:r>
            <a:r>
              <a:rPr sz="1600" spc="1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пяти</a:t>
            </a:r>
            <a:r>
              <a:rPr sz="1600" spc="1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приборов,</a:t>
            </a:r>
            <a:r>
              <a:rPr sz="1600" spc="1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</a:p>
          <a:p>
            <a:pPr marL="0" marR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8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8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  <a:r>
              <a:rPr sz="1600" spc="18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равно:</a:t>
            </a:r>
            <a:r>
              <a:rPr sz="2550" i="1" spc="44" baseline="75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200" spc="2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2550" baseline="7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2550" spc="-110" baseline="75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50" baseline="7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83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ч;</a:t>
            </a:r>
            <a:r>
              <a:rPr sz="1600" spc="2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i="1" spc="4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200" i="1" spc="1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200" spc="3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220</a:t>
            </a:r>
            <a:r>
              <a:rPr sz="2400" spc="10" baseline="-70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ч;</a:t>
            </a:r>
          </a:p>
          <a:p>
            <a:pPr marL="27431" marR="0">
              <a:lnSpc>
                <a:spcPts val="2063"/>
              </a:lnSpc>
              <a:spcBef>
                <a:spcPts val="0"/>
              </a:spcBef>
              <a:spcAft>
                <a:spcPts val="0"/>
              </a:spcAft>
            </a:pPr>
            <a:r>
              <a:rPr sz="1700" i="1" spc="2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200" i="1" spc="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200" spc="3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280</a:t>
            </a:r>
            <a:r>
              <a:rPr sz="1700" spc="17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i="1" spc="4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200" i="1" spc="1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  <a:r>
              <a:rPr sz="1200" spc="3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400</a:t>
            </a:r>
            <a:r>
              <a:rPr sz="1700" spc="17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i="1" spc="2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200" i="1" spc="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200" spc="3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700</a:t>
            </a:r>
          </a:p>
          <a:p>
            <a:pPr marL="3218687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1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1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приборов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справедлив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экс-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639824" y="3427887"/>
            <a:ext cx="31264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ч;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791968" y="3427887"/>
            <a:ext cx="31264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ч;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19328" y="3674775"/>
            <a:ext cx="6269443" cy="4867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поненциальный</a:t>
            </a:r>
            <a:r>
              <a:rPr sz="1600" spc="3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</a:t>
            </a:r>
            <a:r>
              <a:rPr sz="1600" spc="4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надежности.</a:t>
            </a:r>
            <a:r>
              <a:rPr sz="1600" spc="3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3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найти</a:t>
            </a:r>
            <a:r>
              <a:rPr sz="1600" spc="3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3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</a:p>
          <a:p>
            <a:pPr marL="0" marR="0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290506" y="9032240"/>
            <a:ext cx="5755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70432" y="724311"/>
            <a:ext cx="5562289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3</a:t>
            </a:r>
            <a:r>
              <a:rPr sz="1600" b="1" spc="-24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ПОСЛЕДОВАТЕЛЬНОЕ</a:t>
            </a:r>
            <a:r>
              <a:rPr sz="1600" b="1" spc="19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СОЕДИНЕНИЕ</a:t>
            </a:r>
            <a:r>
              <a:rPr sz="1600" b="1" spc="2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ЭЛЕМЕНТОВ</a:t>
            </a:r>
          </a:p>
          <a:p>
            <a:pPr marL="152109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В</a:t>
            </a:r>
            <a:r>
              <a:rPr sz="1600" b="1" spc="18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СИСТЕМУ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0432" y="1425351"/>
            <a:ext cx="2703468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3.1 Теоретические</a:t>
            </a:r>
            <a:r>
              <a:rPr sz="1600" b="1" spc="15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сведения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9328" y="1891696"/>
            <a:ext cx="6276783" cy="143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Соединение</a:t>
            </a:r>
            <a:r>
              <a:rPr sz="1600" spc="28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</a:t>
            </a:r>
            <a:r>
              <a:rPr sz="1600" spc="3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называется</a:t>
            </a:r>
            <a:r>
              <a:rPr sz="1600" spc="2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последовательным,</a:t>
            </a:r>
            <a:r>
              <a:rPr sz="1600" spc="30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если</a:t>
            </a:r>
            <a:r>
              <a:rPr sz="1600" spc="30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от-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каз</a:t>
            </a:r>
            <a:r>
              <a:rPr sz="1600" spc="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хотя</a:t>
            </a:r>
            <a:r>
              <a:rPr sz="1600" spc="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бы</a:t>
            </a:r>
            <a:r>
              <a:rPr sz="1600" spc="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одного</a:t>
            </a:r>
            <a:r>
              <a:rPr sz="1600" spc="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элемента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приводит</a:t>
            </a:r>
            <a:r>
              <a:rPr sz="1600" spc="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</a:t>
            </a:r>
            <a:r>
              <a:rPr sz="1600" spc="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отказу</a:t>
            </a:r>
            <a:r>
              <a:rPr sz="1600" spc="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всей</a:t>
            </a:r>
            <a:r>
              <a:rPr sz="1600" spc="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системы.</a:t>
            </a:r>
            <a:r>
              <a:rPr sz="1600" spc="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Систе-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ма</a:t>
            </a:r>
            <a:r>
              <a:rPr sz="1600" spc="38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последовательно</a:t>
            </a:r>
            <a:r>
              <a:rPr sz="1600" spc="3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соединенных</a:t>
            </a:r>
            <a:r>
              <a:rPr sz="1600" spc="3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</a:t>
            </a:r>
            <a:r>
              <a:rPr sz="1600" spc="38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работоспособна</a:t>
            </a:r>
            <a:r>
              <a:rPr sz="1600" spc="3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тогда,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когда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работоспособны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все 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ее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элементы.</a:t>
            </a:r>
          </a:p>
          <a:p>
            <a:pPr marL="451104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</a:t>
            </a:r>
            <a:r>
              <a:rPr sz="1600" spc="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определяет-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ся формулой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04232" y="3312250"/>
            <a:ext cx="227021" cy="203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03704" y="3421568"/>
            <a:ext cx="3468098" cy="33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-2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5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1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22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</a:t>
            </a:r>
            <a:r>
              <a:rPr sz="1650" i="1" spc="-2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17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5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2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50" i="1" spc="-1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i="1" spc="-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dirty="0">
                <a:solidFill>
                  <a:srgbClr val="000000"/>
                </a:solidFill>
                <a:latin typeface="SWBTTE+MT Extra"/>
                <a:cs typeface="SWBTTE+MT Extra"/>
              </a:rPr>
              <a:t></a:t>
            </a:r>
            <a:r>
              <a:rPr sz="1650" spc="-1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4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</a:t>
            </a:r>
            <a:r>
              <a:rPr sz="1900" spc="-7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20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</a:t>
            </a:r>
            <a:r>
              <a:rPr sz="1650" i="1" spc="-2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35168" y="3488847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52006" y="3488847"/>
            <a:ext cx="5436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98192" y="3556089"/>
            <a:ext cx="218641" cy="203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968752" y="3556089"/>
            <a:ext cx="227021" cy="203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532632" y="3556089"/>
            <a:ext cx="227021" cy="203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1960" y="3556089"/>
            <a:ext cx="227021" cy="203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184648" y="3556089"/>
            <a:ext cx="193864" cy="203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843272" y="3685340"/>
            <a:ext cx="361134" cy="220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spc="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200" spc="-35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9328" y="3882943"/>
            <a:ext cx="6180571" cy="305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  <a:r>
              <a:rPr sz="1600" spc="2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spc="-14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50" i="1" baseline="-194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750" i="1" spc="-157" baseline="-194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2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 безотказной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-го элемента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106168" y="4139753"/>
            <a:ext cx="265776" cy="2912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70432" y="4163359"/>
            <a:ext cx="1986452" cy="278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Если</a:t>
            </a:r>
            <a:r>
              <a:rPr sz="1600" spc="-1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spc="20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</a:t>
            </a:r>
            <a:r>
              <a:rPr sz="1650" i="1" spc="-2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14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</a:t>
            </a:r>
            <a:r>
              <a:rPr sz="1650" i="1" spc="-8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14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то,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722120" y="4267776"/>
            <a:ext cx="193396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252215" y="4490907"/>
            <a:ext cx="1348794" cy="276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7"/>
              </a:lnSpc>
              <a:spcBef>
                <a:spcPts val="0"/>
              </a:spcBef>
              <a:spcAft>
                <a:spcPts val="0"/>
              </a:spcAft>
            </a:pP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00" i="1" spc="-7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8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138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00" i="1" spc="3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8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755136" y="4466310"/>
            <a:ext cx="270538" cy="3018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081271" y="4448183"/>
            <a:ext cx="229276" cy="208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468368" y="4516024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451875" y="4516024"/>
            <a:ext cx="5436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(3.2)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346703" y="4597534"/>
            <a:ext cx="220643" cy="208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090160" y="4758498"/>
            <a:ext cx="265776" cy="2912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170432" y="4782103"/>
            <a:ext cx="5819480" cy="278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Выразим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2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14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через</a:t>
            </a:r>
            <a:r>
              <a:rPr sz="1600" spc="2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2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3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50" i="1" spc="-1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i="1" spc="-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19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</a:t>
            </a:r>
            <a:r>
              <a:rPr sz="1600" spc="2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си-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097024" y="4886520"/>
            <a:ext cx="217892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218176" y="4886520"/>
            <a:ext cx="193396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719328" y="5058568"/>
            <a:ext cx="1242329" cy="712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стемы.</a:t>
            </a:r>
          </a:p>
          <a:p>
            <a:pPr marL="451104" marR="0">
              <a:lnSpc>
                <a:spcPts val="1780"/>
              </a:lnSpc>
              <a:spcBef>
                <a:spcPts val="174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Имеем: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376928" y="5304844"/>
            <a:ext cx="194113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215384" y="5326180"/>
            <a:ext cx="227469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962656" y="5461633"/>
            <a:ext cx="1185232" cy="270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3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6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117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exp(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468624" y="5437614"/>
            <a:ext cx="267760" cy="295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035552" y="5431806"/>
            <a:ext cx="1325772" cy="353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17"/>
              </a:lnSpc>
              <a:spcBef>
                <a:spcPts val="0"/>
              </a:spcBef>
              <a:spcAft>
                <a:spcPts val="0"/>
              </a:spcAft>
            </a:pPr>
            <a:r>
              <a:rPr sz="1650" spc="126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</a:t>
            </a:r>
            <a:r>
              <a:rPr sz="1900" spc="54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</a:p>
          <a:p>
            <a:pPr marL="335279" marR="0">
              <a:lnSpc>
                <a:spcPts val="231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</a:t>
            </a:r>
            <a:r>
              <a:rPr sz="1900" spc="11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)dt )</a:t>
            </a:r>
          </a:p>
          <a:p>
            <a:pPr marL="545591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6407651" y="5506624"/>
            <a:ext cx="583946" cy="1477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1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(3.3)</a:t>
            </a:r>
          </a:p>
          <a:p>
            <a:pPr marL="0" marR="0">
              <a:lnSpc>
                <a:spcPts val="1780"/>
              </a:lnSpc>
              <a:spcBef>
                <a:spcPts val="30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(3.4)</a:t>
            </a:r>
          </a:p>
          <a:p>
            <a:pPr marL="24645" marR="0">
              <a:lnSpc>
                <a:spcPts val="1780"/>
              </a:lnSpc>
              <a:spcBef>
                <a:spcPts val="292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(3.5)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063240" y="5570020"/>
            <a:ext cx="219038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4157471" y="5696120"/>
            <a:ext cx="355485" cy="222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200" i="1" spc="7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200" spc="-58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4367784" y="5734612"/>
            <a:ext cx="227469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61104" y="5920540"/>
            <a:ext cx="194113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3048000" y="6053310"/>
            <a:ext cx="2224932" cy="347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17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-2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exp(</a:t>
            </a:r>
            <a:r>
              <a:rPr sz="1650" i="1" spc="-1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102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</a:t>
            </a:r>
            <a:r>
              <a:rPr sz="1900" spc="-1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spc="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)dt )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1170432" y="6122319"/>
            <a:ext cx="47281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или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5141976" y="6122319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3142488" y="6185716"/>
            <a:ext cx="219038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4474464" y="6185716"/>
            <a:ext cx="219038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248912" y="6350308"/>
            <a:ext cx="227469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3959352" y="6546178"/>
            <a:ext cx="227021" cy="203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3197352" y="6658076"/>
            <a:ext cx="642602" cy="3322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spc="54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i="1" spc="163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50" i="1" spc="-1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i="1" spc="-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3733800" y="6652447"/>
            <a:ext cx="993122" cy="337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7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spc="230" dirty="0">
                <a:solidFill>
                  <a:srgbClr val="000000"/>
                </a:solidFill>
                <a:latin typeface="FEVUPN+Symbol"/>
                <a:cs typeface="FEVUPN+Symbol"/>
              </a:rPr>
              <a:t></a:t>
            </a: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</a:p>
          <a:p>
            <a:pPr marL="496823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800" i="1" spc="171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50" i="1" spc="-1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i="1" spc="-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1170432" y="6719728"/>
            <a:ext cx="43064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3901440" y="6913172"/>
            <a:ext cx="351989" cy="220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spc="7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200" spc="-83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1917192" y="7090217"/>
            <a:ext cx="265776" cy="2912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2118360" y="7113824"/>
            <a:ext cx="431504" cy="2668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50" i="1" spc="-1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i="1" spc="-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1170432" y="7128159"/>
            <a:ext cx="6329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Здесь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2667000" y="7128159"/>
            <a:ext cx="25448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3014415" y="7128159"/>
            <a:ext cx="397334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15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5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-го</a:t>
            </a:r>
            <a:r>
              <a:rPr sz="1600" spc="15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элемента;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2045207" y="7218240"/>
            <a:ext cx="193396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743712" y="7370633"/>
            <a:ext cx="626576" cy="3295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50" spc="-1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50" i="1" spc="138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1298448" y="7408575"/>
            <a:ext cx="312895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 интенсивность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системы.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1170432" y="7667656"/>
            <a:ext cx="556769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 отказа системы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интервале времени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(0,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600" spc="-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равна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3550920" y="7920826"/>
            <a:ext cx="227021" cy="203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2508504" y="8059648"/>
            <a:ext cx="639554" cy="308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8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800" i="1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800" i="1" spc="-263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3044952" y="8030144"/>
            <a:ext cx="937632" cy="3306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1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50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spc="235" dirty="0">
                <a:solidFill>
                  <a:srgbClr val="000000"/>
                </a:solidFill>
                <a:latin typeface="FEVUPN+Symbol"/>
                <a:cs typeface="FEVUPN+Symbol"/>
              </a:rPr>
              <a:t></a:t>
            </a: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3904488" y="8059648"/>
            <a:ext cx="511291" cy="302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2500" i="1" spc="243" baseline="164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2500" i="1" spc="-461" baseline="164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500" i="1" spc="219" baseline="164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6445184" y="8097423"/>
            <a:ext cx="5436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(3.6)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3837432" y="8164666"/>
            <a:ext cx="193864" cy="203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3493008" y="8293916"/>
            <a:ext cx="351989" cy="220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spc="7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200" spc="-83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1170432" y="8493664"/>
            <a:ext cx="5187912" cy="273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Частота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 системы</a:t>
            </a:r>
            <a:r>
              <a:rPr sz="1600" spc="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00" i="1" spc="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200" i="1" baseline="-1515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200" i="1" spc="-127" baseline="-1515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400" spc="-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</a:t>
            </a:r>
            <a:r>
              <a:rPr sz="1400" i="1" spc="6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4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400" spc="-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определяется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соотношением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3304032" y="8760892"/>
            <a:ext cx="716817" cy="314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2500" i="1" baseline="36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dP</a:t>
            </a:r>
            <a:r>
              <a:rPr sz="1200" i="1" spc="1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2500" i="1" spc="243" baseline="36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2500" i="1" spc="-461" baseline="36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500" i="1" baseline="36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70" name="object 70"/>
          <p:cNvSpPr txBox="1"/>
          <p:nvPr/>
        </p:nvSpPr>
        <p:spPr>
          <a:xfrm>
            <a:off x="2474976" y="8895004"/>
            <a:ext cx="582705" cy="314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7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800" i="1" spc="115" baseline="-26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2953512" y="8870764"/>
            <a:ext cx="442559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3907536" y="8938672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6445794" y="8938672"/>
            <a:ext cx="5436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(3.7)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3489959" y="9062644"/>
            <a:ext cx="317826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dt</a:t>
            </a:r>
          </a:p>
        </p:txBody>
      </p:sp>
      <p:sp>
        <p:nvSpPr>
          <p:cNvPr id="75" name="object 75"/>
          <p:cNvSpPr txBox="1"/>
          <p:nvPr/>
        </p:nvSpPr>
        <p:spPr>
          <a:xfrm>
            <a:off x="1170432" y="9298336"/>
            <a:ext cx="296446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</a:p>
        </p:txBody>
      </p:sp>
      <p:sp>
        <p:nvSpPr>
          <p:cNvPr id="76" name="object 76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2082736" y="8944610"/>
            <a:ext cx="651891" cy="272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3697414" y="6074537"/>
            <a:ext cx="221932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785996" y="5219763"/>
            <a:ext cx="43453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14890" y="5219763"/>
            <a:ext cx="244030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36632" y="996568"/>
            <a:ext cx="480821" cy="12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60064" y="729207"/>
            <a:ext cx="609074" cy="607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79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2500" i="1" spc="70" baseline="33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200" i="1" spc="1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2500" i="1" spc="243" baseline="33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2500" i="1" spc="-485" baseline="33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500" i="1" baseline="33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  <a:p>
            <a:pPr marL="0" marR="0">
              <a:lnSpc>
                <a:spcPts val="1822"/>
              </a:lnSpc>
              <a:spcBef>
                <a:spcPts val="273"/>
              </a:spcBef>
              <a:spcAft>
                <a:spcPts val="0"/>
              </a:spcAft>
            </a:pPr>
            <a:r>
              <a:rPr sz="1650" i="1" spc="-26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800" i="1" spc="115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676144" y="839444"/>
            <a:ext cx="624314" cy="332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spc="-1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i="1" spc="115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97352" y="839444"/>
            <a:ext cx="443856" cy="294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7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059936" y="904143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44894" y="904143"/>
            <a:ext cx="547604" cy="111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(3.8)</a:t>
            </a:r>
          </a:p>
          <a:p>
            <a:pPr marL="7272" marR="0">
              <a:lnSpc>
                <a:spcPts val="1780"/>
              </a:lnSpc>
              <a:spcBef>
                <a:spcPts val="49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(3.9)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70432" y="1303432"/>
            <a:ext cx="404861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 время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 системы: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276600" y="1535599"/>
            <a:ext cx="259432" cy="222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FEVUPN+Symbol"/>
                <a:cs typeface="FEVUPN+Symbol"/>
              </a:rPr>
              <a:t>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743200" y="1685526"/>
            <a:ext cx="1472559" cy="347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17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50" i="1" spc="125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</a:t>
            </a:r>
            <a:r>
              <a:rPr sz="1900" spc="-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18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50" i="1" spc="-1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i="1" spc="-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)dt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111752" y="1754535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04744" y="1817932"/>
            <a:ext cx="261677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tc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526536" y="1817932"/>
            <a:ext cx="219038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294888" y="1982524"/>
            <a:ext cx="227469" cy="20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19328" y="2153823"/>
            <a:ext cx="6266915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случае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экспоненциального</a:t>
            </a:r>
            <a:r>
              <a:rPr sz="1600" spc="1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закона</a:t>
            </a:r>
            <a:r>
              <a:rPr sz="1600" spc="1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</a:t>
            </a:r>
            <a:r>
              <a:rPr sz="1600" spc="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всех</a:t>
            </a:r>
            <a:r>
              <a:rPr sz="1600" spc="1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имеем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602992" y="2601417"/>
            <a:ext cx="1763646" cy="30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01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2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spc="25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5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7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spc="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const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264152" y="2656744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344890" y="2656744"/>
            <a:ext cx="64568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(3.10)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734056" y="2736629"/>
            <a:ext cx="195624" cy="210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2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444240" y="2736629"/>
            <a:ext cx="195624" cy="210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2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447288" y="2939355"/>
            <a:ext cx="234444" cy="219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3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624328" y="3056307"/>
            <a:ext cx="1714088" cy="359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32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spc="4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800" i="1" spc="-1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800" i="1" spc="-3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800" i="1" spc="-1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8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000000"/>
                </a:solidFill>
                <a:latin typeface="FEVUPN+Symbol"/>
                <a:cs typeface="FEVUPN+Symbol"/>
              </a:rPr>
              <a:t></a:t>
            </a:r>
            <a:r>
              <a:rPr sz="2050" spc="-19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spc="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80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758440" y="3204531"/>
            <a:ext cx="225230" cy="219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3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749040" y="3204531"/>
            <a:ext cx="197989" cy="219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3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194048" y="3168808"/>
            <a:ext cx="32494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3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300" i="1" spc="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345079" y="3168808"/>
            <a:ext cx="64568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(3.11)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383280" y="3344277"/>
            <a:ext cx="371604" cy="239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3"/>
              </a:lnSpc>
              <a:spcBef>
                <a:spcPts val="0"/>
              </a:spcBef>
              <a:spcAft>
                <a:spcPts val="0"/>
              </a:spcAft>
            </a:pPr>
            <a:r>
              <a:rPr sz="1300" i="1" spc="9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300" spc="-89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3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685288" y="3540313"/>
            <a:ext cx="1833709" cy="3590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2700" i="1" spc="-188" baseline="105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950" i="1" baseline="-18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950" i="1" spc="-248" baseline="-18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700" i="1" spc="265" baseline="105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2700" i="1" spc="-528" baseline="105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700" i="1" baseline="105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2700" i="1" spc="-338" baseline="105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700" baseline="10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2700" spc="-22" baseline="105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00" i="1" baseline="105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exp(</a:t>
            </a:r>
            <a:r>
              <a:rPr sz="2700" i="1" spc="-310" baseline="105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700" spc="44" baseline="105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2700" spc="44" baseline="105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2700" i="1" baseline="105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2700" i="1" spc="-263" baseline="105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700" i="1" spc="145" baseline="105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6344499" y="3607720"/>
            <a:ext cx="645793" cy="1340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42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(3.12)</a:t>
            </a:r>
          </a:p>
          <a:p>
            <a:pPr marL="0" marR="0">
              <a:lnSpc>
                <a:spcPts val="1780"/>
              </a:lnSpc>
              <a:spcBef>
                <a:spcPts val="112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(3.13)</a:t>
            </a:r>
          </a:p>
          <a:p>
            <a:pPr marL="261" marR="0">
              <a:lnSpc>
                <a:spcPts val="1780"/>
              </a:lnSpc>
              <a:spcBef>
                <a:spcPts val="100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(3.14)</a:t>
            </a:r>
          </a:p>
          <a:p>
            <a:pPr marL="290" marR="0">
              <a:lnSpc>
                <a:spcPts val="1780"/>
              </a:lnSpc>
              <a:spcBef>
                <a:spcPts val="100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(3.15)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678936" y="3872324"/>
            <a:ext cx="440781" cy="2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50" spc="82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50" spc="1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350" i="1" spc="57" baseline="-2495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2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810256" y="3911477"/>
            <a:ext cx="995732" cy="356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5"/>
              </a:lnSpc>
              <a:spcBef>
                <a:spcPts val="0"/>
              </a:spcBef>
              <a:spcAft>
                <a:spcPts val="0"/>
              </a:spcAft>
            </a:pPr>
            <a:r>
              <a:rPr sz="1750" i="1" spc="-1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900" i="1" baseline="-260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900" i="1" spc="-213" baseline="-260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750" i="1" spc="-1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750" i="1" spc="-3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50" i="1" spc="-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5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005071" y="3976527"/>
            <a:ext cx="2091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895344" y="4241697"/>
            <a:ext cx="426749" cy="252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200" spc="61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spc="13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300" i="1" spc="55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752344" y="4280467"/>
            <a:ext cx="1272030" cy="30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5"/>
              </a:lnSpc>
              <a:spcBef>
                <a:spcPts val="0"/>
              </a:spcBef>
              <a:spcAft>
                <a:spcPts val="0"/>
              </a:spcAft>
            </a:pP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700" i="1" spc="5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5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30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70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199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4206240" y="4330096"/>
            <a:ext cx="2091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2837688" y="4411660"/>
            <a:ext cx="220616" cy="20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3563112" y="4411660"/>
            <a:ext cx="220616" cy="20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2749296" y="4595265"/>
            <a:ext cx="1517933" cy="3782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5"/>
              </a:lnSpc>
              <a:spcBef>
                <a:spcPts val="0"/>
              </a:spcBef>
              <a:spcAft>
                <a:spcPts val="0"/>
              </a:spcAft>
            </a:pPr>
            <a:r>
              <a:rPr sz="1700" i="1" spc="8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800" i="1" baseline="-23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800" i="1" spc="-191" baseline="-23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8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1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700" spc="-1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spc="1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800" spc="61" baseline="46588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spc="13" baseline="4658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300" i="1" spc="55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800" i="1" baseline="4658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4157471" y="4683663"/>
            <a:ext cx="2091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3322320" y="4952503"/>
            <a:ext cx="347095" cy="608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59" marR="0">
              <a:lnSpc>
                <a:spcPts val="1834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  <a:p>
            <a:pPr marL="0" marR="0">
              <a:lnSpc>
                <a:spcPts val="2029"/>
              </a:lnSpc>
              <a:spcBef>
                <a:spcPts val="378"/>
              </a:spcBef>
              <a:spcAft>
                <a:spcPts val="0"/>
              </a:spcAft>
            </a:pPr>
            <a:r>
              <a:rPr sz="2500" spc="102" baseline="340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3950208" y="4952503"/>
            <a:ext cx="257561" cy="271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4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2791968" y="5059534"/>
            <a:ext cx="621399" cy="3369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800" i="1" baseline="-26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tc</a:t>
            </a:r>
            <a:r>
              <a:rPr sz="1800" i="1" spc="215" baseline="-26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3614928" y="5059534"/>
            <a:ext cx="267831" cy="295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4258056" y="5171343"/>
            <a:ext cx="20912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6344919" y="5171343"/>
            <a:ext cx="64568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(3.16)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3852671" y="5237706"/>
            <a:ext cx="227514" cy="204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3794759" y="5343267"/>
            <a:ext cx="532466" cy="4865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" marR="0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8" dirty="0">
                <a:solidFill>
                  <a:srgbClr val="000000"/>
                </a:solidFill>
                <a:latin typeface="FEVUPN+Symbol"/>
                <a:cs typeface="FEVUPN+Symbol"/>
              </a:rPr>
              <a:t></a:t>
            </a:r>
            <a:r>
              <a:rPr sz="1650" spc="54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i="1" baseline="-1216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  <a:p>
            <a:pPr marL="0" marR="0">
              <a:lnSpc>
                <a:spcPts val="1367"/>
              </a:lnSpc>
              <a:spcBef>
                <a:spcPts val="0"/>
              </a:spcBef>
              <a:spcAft>
                <a:spcPts val="0"/>
              </a:spcAft>
            </a:pPr>
            <a:r>
              <a:rPr sz="1200" i="1" spc="7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200" spc="-58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3755136" y="5807176"/>
            <a:ext cx="256870" cy="269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3160776" y="5917412"/>
            <a:ext cx="629784" cy="332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8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800" i="1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tc</a:t>
            </a:r>
            <a:r>
              <a:rPr sz="1800" i="1" spc="265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3959352" y="5982111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6344310" y="5982111"/>
            <a:ext cx="64568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(3.17)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719328" y="6082004"/>
            <a:ext cx="5281187" cy="6123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704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spc="7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i="1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  <a:p>
            <a:pPr marL="0" marR="0">
              <a:lnSpc>
                <a:spcPts val="1801"/>
              </a:lnSpc>
              <a:spcBef>
                <a:spcPts val="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spc="8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750" i="1" baseline="-1948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tc</a:t>
            </a:r>
            <a:r>
              <a:rPr sz="1750" i="1" spc="330" baseline="-1948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 время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-го элемента.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719328" y="6664863"/>
            <a:ext cx="6274101" cy="11969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1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расчете</a:t>
            </a:r>
            <a:r>
              <a:rPr sz="1600" spc="1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</a:t>
            </a:r>
            <a:r>
              <a:rPr sz="1600" spc="1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</a:t>
            </a:r>
            <a:r>
              <a:rPr sz="1600" spc="1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</a:t>
            </a:r>
            <a:r>
              <a:rPr sz="1600" spc="1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приходится</a:t>
            </a:r>
            <a:r>
              <a:rPr sz="1600" spc="1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перемножать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вероятности</a:t>
            </a:r>
            <a:r>
              <a:rPr sz="1600" spc="2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2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2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отдельных</a:t>
            </a:r>
            <a:r>
              <a:rPr sz="1600" spc="2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</a:t>
            </a:r>
            <a:r>
              <a:rPr sz="1600" spc="2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расчета,</a:t>
            </a:r>
            <a:r>
              <a:rPr sz="1600" spc="2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воз-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водить</a:t>
            </a:r>
            <a:r>
              <a:rPr sz="16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их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степень</a:t>
            </a:r>
            <a:r>
              <a:rPr sz="1600" spc="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извлекать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корни.</a:t>
            </a:r>
            <a:r>
              <a:rPr sz="1600" spc="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значениях</a:t>
            </a:r>
            <a:r>
              <a:rPr sz="16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Р(t)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близких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единице,</a:t>
            </a:r>
            <a:r>
              <a:rPr sz="1600" spc="20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эти</a:t>
            </a:r>
            <a:r>
              <a:rPr sz="1600" spc="1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вычисления</a:t>
            </a:r>
            <a:r>
              <a:rPr sz="1600" spc="1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можно</a:t>
            </a:r>
            <a:r>
              <a:rPr sz="1600" spc="19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spc="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достаточной</a:t>
            </a:r>
            <a:r>
              <a:rPr sz="1600" spc="1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практики</a:t>
            </a:r>
            <a:r>
              <a:rPr sz="1600" spc="1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точно-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стью</a:t>
            </a:r>
            <a:r>
              <a:rPr sz="1600" spc="-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выполнять по следующим приближенным формулам: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4520184" y="7875348"/>
            <a:ext cx="232016" cy="21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2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5248656" y="7860166"/>
            <a:ext cx="262556" cy="311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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2081784" y="7986642"/>
            <a:ext cx="3323305" cy="350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7"/>
              </a:lnSpc>
              <a:spcBef>
                <a:spcPts val="0"/>
              </a:spcBef>
              <a:spcAft>
                <a:spcPts val="0"/>
              </a:spcAft>
            </a:pP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50" i="1" spc="5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750" i="1" spc="-1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750" i="1" spc="-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spc="6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)P</a:t>
            </a:r>
            <a:r>
              <a:rPr sz="1750" i="1" spc="22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750" i="1" spc="-1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750" i="1" spc="-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spc="8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50" dirty="0">
                <a:solidFill>
                  <a:srgbClr val="000000"/>
                </a:solidFill>
                <a:latin typeface="SWBTTE+MT Extra"/>
                <a:cs typeface="SWBTTE+MT Extra"/>
              </a:rPr>
              <a:t></a:t>
            </a:r>
            <a:r>
              <a:rPr sz="1750" spc="-14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50" i="1" spc="34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spc="2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50" i="1" spc="-24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50" i="1" spc="-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750" spc="-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750" spc="-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75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FEVUPN+Symbol"/>
                <a:cs typeface="FEVUPN+Symbol"/>
              </a:rPr>
              <a:t></a:t>
            </a:r>
            <a:r>
              <a:rPr sz="2000" spc="-1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750" i="1" spc="29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750" i="1" spc="-1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750" i="1" spc="-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spc="-3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),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5248656" y="8073526"/>
            <a:ext cx="262556" cy="311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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2185416" y="8131379"/>
            <a:ext cx="232016" cy="21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2706624" y="8131379"/>
            <a:ext cx="232016" cy="21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3508248" y="8131379"/>
            <a:ext cx="232016" cy="21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2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4821936" y="8131379"/>
            <a:ext cx="196639" cy="21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2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456176" y="8265584"/>
            <a:ext cx="372224" cy="23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50" i="1" spc="10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250" spc="-38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2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248656" y="8289935"/>
            <a:ext cx="262556" cy="311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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5248656" y="8417951"/>
            <a:ext cx="262556" cy="311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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273808" y="8521524"/>
            <a:ext cx="232016" cy="21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2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70" name="object 70"/>
          <p:cNvSpPr txBox="1"/>
          <p:nvPr/>
        </p:nvSpPr>
        <p:spPr>
          <a:xfrm>
            <a:off x="2081784" y="8545967"/>
            <a:ext cx="2018761" cy="311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0"/>
              </a:lnSpc>
              <a:spcBef>
                <a:spcPts val="0"/>
              </a:spcBef>
              <a:spcAft>
                <a:spcPts val="0"/>
              </a:spcAft>
            </a:pP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50" i="1" spc="87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750" i="1" spc="-1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750" i="1" spc="-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50" i="1" spc="-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50" spc="-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750" spc="-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75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Nq</a:t>
            </a:r>
            <a:r>
              <a:rPr sz="1750" i="1" spc="36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750" i="1" spc="-1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750" i="1" spc="-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spc="-3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),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248656" y="8585591"/>
            <a:ext cx="262556" cy="311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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2197608" y="8686116"/>
            <a:ext cx="196639" cy="21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2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3517392" y="8686116"/>
            <a:ext cx="196639" cy="21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2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6349941" y="8755792"/>
            <a:ext cx="64568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(3.18)</a:t>
            </a:r>
          </a:p>
        </p:txBody>
      </p:sp>
      <p:sp>
        <p:nvSpPr>
          <p:cNvPr id="75" name="object 75"/>
          <p:cNvSpPr txBox="1"/>
          <p:nvPr/>
        </p:nvSpPr>
        <p:spPr>
          <a:xfrm>
            <a:off x="5248656" y="8798951"/>
            <a:ext cx="262556" cy="311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</a:t>
            </a:r>
          </a:p>
        </p:txBody>
      </p:sp>
      <p:sp>
        <p:nvSpPr>
          <p:cNvPr id="76" name="object 76"/>
          <p:cNvSpPr txBox="1"/>
          <p:nvPr/>
        </p:nvSpPr>
        <p:spPr>
          <a:xfrm>
            <a:off x="2075688" y="8926967"/>
            <a:ext cx="2232003" cy="311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0"/>
              </a:lnSpc>
              <a:spcBef>
                <a:spcPts val="0"/>
              </a:spcBef>
              <a:spcAft>
                <a:spcPts val="0"/>
              </a:spcAft>
            </a:pPr>
            <a:r>
              <a:rPr sz="1900" i="1" baseline="345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900" i="1" spc="195" baseline="345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 (</a:t>
            </a:r>
            <a:r>
              <a:rPr sz="1750" i="1" spc="-1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750" i="1" spc="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50" i="1" spc="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50" spc="-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750" spc="-1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75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750" i="1" spc="29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750" i="1" spc="-1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750" i="1" spc="-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50" i="1" spc="-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/</a:t>
            </a:r>
            <a:r>
              <a:rPr sz="1750" i="1" spc="13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spc="10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n,</a:t>
            </a:r>
          </a:p>
        </p:txBody>
      </p:sp>
      <p:sp>
        <p:nvSpPr>
          <p:cNvPr id="77" name="object 77"/>
          <p:cNvSpPr txBox="1"/>
          <p:nvPr/>
        </p:nvSpPr>
        <p:spPr>
          <a:xfrm>
            <a:off x="5248656" y="9015359"/>
            <a:ext cx="262556" cy="311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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356104" y="9064068"/>
            <a:ext cx="196639" cy="21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2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79" name="object 79"/>
          <p:cNvSpPr txBox="1"/>
          <p:nvPr/>
        </p:nvSpPr>
        <p:spPr>
          <a:xfrm>
            <a:off x="3416808" y="9064068"/>
            <a:ext cx="196639" cy="21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2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80" name="object 80"/>
          <p:cNvSpPr txBox="1"/>
          <p:nvPr/>
        </p:nvSpPr>
        <p:spPr>
          <a:xfrm>
            <a:off x="5248656" y="9231767"/>
            <a:ext cx="262556" cy="311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</a:t>
            </a:r>
          </a:p>
        </p:txBody>
      </p:sp>
      <p:sp>
        <p:nvSpPr>
          <p:cNvPr id="81" name="object 81"/>
          <p:cNvSpPr txBox="1"/>
          <p:nvPr/>
        </p:nvSpPr>
        <p:spPr>
          <a:xfrm>
            <a:off x="5248656" y="9311015"/>
            <a:ext cx="262556" cy="311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</a:t>
            </a:r>
          </a:p>
        </p:txBody>
      </p:sp>
      <p:sp>
        <p:nvSpPr>
          <p:cNvPr id="82" name="object 82"/>
          <p:cNvSpPr txBox="1"/>
          <p:nvPr/>
        </p:nvSpPr>
        <p:spPr>
          <a:xfrm>
            <a:off x="1078990" y="9621182"/>
            <a:ext cx="521465" cy="307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450" i="1" baseline="-26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450" i="1" spc="-146" baseline="-26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-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</a:t>
            </a:r>
            <a:r>
              <a:rPr sz="1650" i="1" spc="9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</a:p>
        </p:txBody>
      </p:sp>
      <p:sp>
        <p:nvSpPr>
          <p:cNvPr id="83" name="object 83"/>
          <p:cNvSpPr txBox="1"/>
          <p:nvPr/>
        </p:nvSpPr>
        <p:spPr>
          <a:xfrm>
            <a:off x="719328" y="9658000"/>
            <a:ext cx="43064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</a:p>
        </p:txBody>
      </p:sp>
      <p:sp>
        <p:nvSpPr>
          <p:cNvPr id="84" name="object 84"/>
          <p:cNvSpPr txBox="1"/>
          <p:nvPr/>
        </p:nvSpPr>
        <p:spPr>
          <a:xfrm>
            <a:off x="1530096" y="9658000"/>
            <a:ext cx="320835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 отказа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-го элемента.</a:t>
            </a:r>
          </a:p>
        </p:txBody>
      </p:sp>
      <p:sp>
        <p:nvSpPr>
          <p:cNvPr id="85" name="object 85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4098798" y="9288272"/>
            <a:ext cx="337756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3529774" y="9288272"/>
            <a:ext cx="334327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77705" y="9288272"/>
            <a:ext cx="317372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94744" y="8232521"/>
            <a:ext cx="338327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23625" y="8232521"/>
            <a:ext cx="33928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87889" y="8232521"/>
            <a:ext cx="335089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07245" y="8232521"/>
            <a:ext cx="348995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78939" y="8232521"/>
            <a:ext cx="318134" cy="12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27060" y="8232521"/>
            <a:ext cx="320039" cy="12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03557" y="5703824"/>
            <a:ext cx="487108" cy="12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2623" y="5703824"/>
            <a:ext cx="392620" cy="127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37354" y="4806378"/>
            <a:ext cx="324231" cy="127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96996" y="4806378"/>
            <a:ext cx="215836" cy="127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432" y="724311"/>
            <a:ext cx="2669388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3.2</a:t>
            </a:r>
            <a:r>
              <a:rPr sz="1600" b="1" spc="22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Решение типовых задач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70432" y="1191542"/>
            <a:ext cx="118173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 № </a:t>
            </a:r>
            <a:r>
              <a:rPr sz="1600" u="sng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70432" y="1422303"/>
            <a:ext cx="582071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6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6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6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трех</a:t>
            </a:r>
            <a:r>
              <a:rPr sz="1600" spc="64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устройств.</a:t>
            </a:r>
            <a:r>
              <a:rPr sz="1600" spc="6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6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602736" y="1594529"/>
            <a:ext cx="2589876" cy="413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59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7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2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16</a:t>
            </a:r>
            <a:r>
              <a:rPr sz="1700" spc="-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spc="103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700" spc="128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2400" spc="-439" dirty="0">
                <a:solidFill>
                  <a:srgbClr val="000000"/>
                </a:solidFill>
                <a:latin typeface="FEVUPN+Symbol"/>
                <a:cs typeface="FEVUPN+Symbol"/>
              </a:rPr>
              <a:t>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ч</a:t>
            </a:r>
            <a:r>
              <a:rPr sz="1700" i="1" spc="118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FEVUPN+Symbol"/>
                <a:cs typeface="FEVUPN+Symbol"/>
              </a:rPr>
              <a:t>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spc="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const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745736" y="1652492"/>
            <a:ext cx="678025" cy="22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6"/>
              </a:lnSpc>
              <a:spcBef>
                <a:spcPts val="0"/>
              </a:spcBef>
              <a:spcAft>
                <a:spcPts val="0"/>
              </a:spcAft>
            </a:pPr>
            <a:r>
              <a:rPr sz="1200" spc="37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200" spc="13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200" spc="-58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19328" y="1739296"/>
            <a:ext cx="293321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электронного</a:t>
            </a:r>
            <a:r>
              <a:rPr sz="1600" spc="2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устройства</a:t>
            </a:r>
            <a:r>
              <a:rPr sz="1600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равна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096000" y="1739296"/>
            <a:ext cx="89391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  <a:r>
              <a:rPr sz="160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Интен-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715512" y="1819571"/>
            <a:ext cx="229969" cy="2099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19328" y="1998375"/>
            <a:ext cx="627668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сивности</a:t>
            </a:r>
            <a:r>
              <a:rPr sz="1600" spc="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двух</a:t>
            </a:r>
            <a:r>
              <a:rPr sz="1600" spc="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электромеханических</a:t>
            </a:r>
            <a:r>
              <a:rPr sz="1600" spc="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устройств</a:t>
            </a:r>
            <a:r>
              <a:rPr sz="1600" spc="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линейно</a:t>
            </a:r>
            <a:r>
              <a:rPr sz="1600" spc="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зави-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19328" y="2233071"/>
            <a:ext cx="509839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сят от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определяются следующими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формулами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215640" y="2401154"/>
            <a:ext cx="582580" cy="411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FEVUPN+Symbol"/>
                <a:cs typeface="FEVUPN+Symbol"/>
              </a:rPr>
              <a:t></a:t>
            </a:r>
            <a:r>
              <a:rPr sz="2400" spc="14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FEVUPN+Symbol"/>
                <a:cs typeface="FEVUPN+Symbol"/>
              </a:rPr>
              <a:t>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474208" y="2401154"/>
            <a:ext cx="636259" cy="411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FEVUPN+Symbol"/>
                <a:cs typeface="FEVUPN+Symbol"/>
              </a:rPr>
              <a:t></a:t>
            </a:r>
            <a:r>
              <a:rPr sz="2400" spc="13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FEVUPN+Symbol"/>
                <a:cs typeface="FEVUPN+Symbol"/>
              </a:rPr>
              <a:t></a:t>
            </a:r>
          </a:p>
          <a:p>
            <a:pPr marL="45720" marR="0">
              <a:lnSpc>
                <a:spcPts val="1877"/>
              </a:lnSpc>
              <a:spcBef>
                <a:spcPts val="0"/>
              </a:spcBef>
              <a:spcAft>
                <a:spcPts val="0"/>
              </a:spcAft>
            </a:pP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ч</a:t>
            </a:r>
          </a:p>
          <a:p>
            <a:pPr marL="432815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813304" y="2458557"/>
            <a:ext cx="323764" cy="226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3"/>
              </a:lnSpc>
              <a:spcBef>
                <a:spcPts val="0"/>
              </a:spcBef>
              <a:spcAft>
                <a:spcPts val="0"/>
              </a:spcAft>
            </a:pPr>
            <a:r>
              <a:rPr sz="1200" spc="85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389376" y="2458557"/>
            <a:ext cx="313661" cy="226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58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895088" y="2458557"/>
            <a:ext cx="643804" cy="226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3"/>
              </a:lnSpc>
              <a:spcBef>
                <a:spcPts val="0"/>
              </a:spcBef>
              <a:spcAft>
                <a:spcPts val="0"/>
              </a:spcAft>
            </a:pPr>
            <a:r>
              <a:rPr sz="1200" spc="61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  <a:r>
              <a:rPr sz="1200" spc="6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200" spc="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200" i="1" spc="-3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5647944" y="2458557"/>
            <a:ext cx="313661" cy="226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58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624584" y="2494254"/>
            <a:ext cx="3680829" cy="339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9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8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23</a:t>
            </a:r>
            <a:r>
              <a:rPr sz="1700" spc="103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700" spc="130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700" i="1" spc="107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ч</a:t>
            </a:r>
            <a:r>
              <a:rPr sz="1700" i="1" spc="159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i="1" spc="-13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spc="51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baseline="-24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800" spc="222" baseline="-24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06</a:t>
            </a:r>
            <a:r>
              <a:rPr sz="1700" spc="-1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spc="103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700" spc="12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755648" y="2625478"/>
            <a:ext cx="229276" cy="208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19328" y="2803047"/>
            <a:ext cx="6273735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Необходимо</a:t>
            </a:r>
            <a:r>
              <a:rPr sz="1600" spc="3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рассчитать</a:t>
            </a:r>
            <a:r>
              <a:rPr sz="1600" spc="3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3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3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3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лия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 течение 100 часов.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170432" y="3273325"/>
            <a:ext cx="3243146" cy="494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Решение.</a:t>
            </a:r>
          </a:p>
          <a:p>
            <a:pPr marL="0" marR="0">
              <a:lnSpc>
                <a:spcPts val="1780"/>
              </a:lnSpc>
              <a:spcBef>
                <a:spcPts val="3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основании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формулы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(3.3)</a:t>
            </a:r>
            <a:r>
              <a:rPr sz="1600" spc="-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имеем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041648" y="3758188"/>
            <a:ext cx="501286" cy="310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</a:t>
            </a:r>
            <a:r>
              <a:rPr sz="1650" spc="88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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6306312" y="3758188"/>
            <a:ext cx="350742" cy="310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spc="111" dirty="0">
                <a:solidFill>
                  <a:srgbClr val="000000"/>
                </a:solidFill>
                <a:latin typeface="FEVUPN+Symbol"/>
                <a:cs typeface="FEVUPN+Symbol"/>
              </a:rPr>
              <a:t>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663952" y="3786953"/>
            <a:ext cx="194109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4407408" y="3786953"/>
            <a:ext cx="194109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5090160" y="3786953"/>
            <a:ext cx="194109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5803392" y="3786953"/>
            <a:ext cx="194109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2490216" y="3808290"/>
            <a:ext cx="227461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203960" y="3913928"/>
            <a:ext cx="5233775" cy="353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17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2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7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exp(</a:t>
            </a:r>
            <a:r>
              <a:rPr sz="1650" i="1" spc="-10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126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</a:t>
            </a:r>
            <a:r>
              <a:rPr sz="1900" spc="-10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</a:t>
            </a:r>
            <a:r>
              <a:rPr sz="1900" spc="-1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spc="2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)dt )</a:t>
            </a:r>
            <a:r>
              <a:rPr sz="1650" i="1" spc="-7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exp</a:t>
            </a:r>
            <a:r>
              <a:rPr sz="1650" i="1" spc="55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50" spc="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</a:t>
            </a:r>
            <a:r>
              <a:rPr sz="1900" spc="-1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spc="2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dt</a:t>
            </a:r>
            <a:r>
              <a:rPr sz="1650" i="1" spc="-2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65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</a:t>
            </a:r>
            <a:r>
              <a:rPr sz="1900" spc="-1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spc="4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dt</a:t>
            </a:r>
            <a:r>
              <a:rPr sz="1650" i="1" spc="-2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65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</a:t>
            </a:r>
            <a:r>
              <a:rPr sz="1900" spc="-1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spc="3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dt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6556248" y="3919732"/>
            <a:ext cx="267749" cy="29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4041648" y="3956308"/>
            <a:ext cx="256255" cy="29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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6306312" y="3956308"/>
            <a:ext cx="350742" cy="316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488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</a:t>
            </a:r>
          </a:p>
          <a:p>
            <a:pPr marL="0" marR="0">
              <a:lnSpc>
                <a:spcPts val="2027"/>
              </a:lnSpc>
              <a:spcBef>
                <a:spcPts val="5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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4309872" y="3977644"/>
            <a:ext cx="233062" cy="29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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313688" y="4049081"/>
            <a:ext cx="219031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2886456" y="4049081"/>
            <a:ext cx="194109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4617720" y="4049081"/>
            <a:ext cx="227461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5318760" y="4049081"/>
            <a:ext cx="227461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6025896" y="4049081"/>
            <a:ext cx="227461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4041648" y="4139188"/>
            <a:ext cx="501286" cy="310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</a:t>
            </a:r>
            <a:r>
              <a:rPr sz="1650" spc="88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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6306312" y="4139188"/>
            <a:ext cx="350743" cy="310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spc="111" dirty="0">
                <a:solidFill>
                  <a:srgbClr val="000000"/>
                </a:solidFill>
                <a:latin typeface="FEVUPN+Symbol"/>
                <a:cs typeface="FEVUPN+Symbol"/>
              </a:rPr>
              <a:t>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2429256" y="4178231"/>
            <a:ext cx="358525" cy="222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200" i="1" spc="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200" spc="-58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2651760" y="4213674"/>
            <a:ext cx="227461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4395216" y="4213674"/>
            <a:ext cx="227461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5081016" y="4213674"/>
            <a:ext cx="227461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5791200" y="4213674"/>
            <a:ext cx="227461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1676400" y="4468372"/>
            <a:ext cx="470806" cy="310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</a:t>
            </a:r>
            <a:r>
              <a:rPr sz="1650" spc="8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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5090160" y="4468372"/>
            <a:ext cx="318406" cy="310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spc="39" dirty="0">
                <a:solidFill>
                  <a:srgbClr val="000000"/>
                </a:solidFill>
                <a:latin typeface="FEVUPN+Symbol"/>
                <a:cs typeface="FEVUPN+Symbol"/>
              </a:rPr>
              <a:t>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3496056" y="4497138"/>
            <a:ext cx="227461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4831080" y="4497138"/>
            <a:ext cx="340237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spc="4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200" i="1" spc="-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3401568" y="4538108"/>
            <a:ext cx="210792" cy="2708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2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4742688" y="4538108"/>
            <a:ext cx="210792" cy="2708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2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1914144" y="4617724"/>
            <a:ext cx="233062" cy="29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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3154680" y="4614095"/>
            <a:ext cx="321949" cy="222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200" spc="85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4498848" y="4614095"/>
            <a:ext cx="315853" cy="222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200" spc="37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5090160" y="4617724"/>
            <a:ext cx="233062" cy="29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</a:t>
            </a:r>
          </a:p>
        </p:txBody>
      </p:sp>
      <p:sp>
        <p:nvSpPr>
          <p:cNvPr id="70" name="object 70"/>
          <p:cNvSpPr txBox="1"/>
          <p:nvPr/>
        </p:nvSpPr>
        <p:spPr>
          <a:xfrm>
            <a:off x="1197862" y="4648204"/>
            <a:ext cx="2086166" cy="29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exp</a:t>
            </a:r>
            <a:r>
              <a:rPr sz="1650" i="1" spc="4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50" spc="67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spc="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50" i="1" spc="-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65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23</a:t>
            </a:r>
            <a:r>
              <a:rPr sz="1650" spc="43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3657600" y="4648204"/>
            <a:ext cx="967548" cy="29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65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2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06</a:t>
            </a:r>
            <a:r>
              <a:rPr sz="1650" spc="43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1676400" y="4672588"/>
            <a:ext cx="233062" cy="29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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5175504" y="4672588"/>
            <a:ext cx="233062" cy="29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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1914144" y="4748788"/>
            <a:ext cx="233062" cy="29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</a:t>
            </a:r>
          </a:p>
        </p:txBody>
      </p:sp>
      <p:sp>
        <p:nvSpPr>
          <p:cNvPr id="75" name="object 75"/>
          <p:cNvSpPr txBox="1"/>
          <p:nvPr/>
        </p:nvSpPr>
        <p:spPr>
          <a:xfrm>
            <a:off x="5090160" y="4748788"/>
            <a:ext cx="233062" cy="29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</a:t>
            </a:r>
          </a:p>
        </p:txBody>
      </p:sp>
      <p:sp>
        <p:nvSpPr>
          <p:cNvPr id="76" name="object 76"/>
          <p:cNvSpPr txBox="1"/>
          <p:nvPr/>
        </p:nvSpPr>
        <p:spPr>
          <a:xfrm>
            <a:off x="2130552" y="4777553"/>
            <a:ext cx="227461" cy="204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77" name="object 77"/>
          <p:cNvSpPr txBox="1"/>
          <p:nvPr/>
        </p:nvSpPr>
        <p:spPr>
          <a:xfrm>
            <a:off x="3453384" y="4836813"/>
            <a:ext cx="257486" cy="2708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4773168" y="4836813"/>
            <a:ext cx="415116" cy="2708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2"/>
              </a:lnSpc>
              <a:spcBef>
                <a:spcPts val="0"/>
              </a:spcBef>
              <a:spcAft>
                <a:spcPts val="0"/>
              </a:spcAft>
            </a:pPr>
            <a:r>
              <a:rPr sz="165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650" i="1" spc="-10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79" name="object 79"/>
          <p:cNvSpPr txBox="1"/>
          <p:nvPr/>
        </p:nvSpPr>
        <p:spPr>
          <a:xfrm>
            <a:off x="1676400" y="4861564"/>
            <a:ext cx="233062" cy="29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</a:t>
            </a:r>
          </a:p>
        </p:txBody>
      </p:sp>
      <p:sp>
        <p:nvSpPr>
          <p:cNvPr id="80" name="object 80"/>
          <p:cNvSpPr txBox="1"/>
          <p:nvPr/>
        </p:nvSpPr>
        <p:spPr>
          <a:xfrm>
            <a:off x="5090160" y="4861564"/>
            <a:ext cx="318406" cy="332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344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</a:t>
            </a:r>
          </a:p>
          <a:p>
            <a:pPr marL="0" marR="0">
              <a:lnSpc>
                <a:spcPts val="2027"/>
              </a:lnSpc>
              <a:spcBef>
                <a:spcPts val="50"/>
              </a:spcBef>
              <a:spcAft>
                <a:spcPts val="0"/>
              </a:spcAft>
            </a:pPr>
            <a:r>
              <a:rPr sz="1650" spc="39" dirty="0">
                <a:solidFill>
                  <a:srgbClr val="000000"/>
                </a:solidFill>
                <a:latin typeface="FEVUPN+Symbol"/>
                <a:cs typeface="FEVUPN+Symbol"/>
              </a:rPr>
              <a:t></a:t>
            </a:r>
          </a:p>
        </p:txBody>
      </p:sp>
      <p:sp>
        <p:nvSpPr>
          <p:cNvPr id="81" name="object 81"/>
          <p:cNvSpPr txBox="1"/>
          <p:nvPr/>
        </p:nvSpPr>
        <p:spPr>
          <a:xfrm>
            <a:off x="1676400" y="4882900"/>
            <a:ext cx="470806" cy="310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</a:t>
            </a:r>
            <a:r>
              <a:rPr sz="1650" spc="8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</a:t>
            </a:r>
          </a:p>
        </p:txBody>
      </p:sp>
      <p:sp>
        <p:nvSpPr>
          <p:cNvPr id="82" name="object 82"/>
          <p:cNvSpPr txBox="1"/>
          <p:nvPr/>
        </p:nvSpPr>
        <p:spPr>
          <a:xfrm>
            <a:off x="1170432" y="5165248"/>
            <a:ext cx="164791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100</a:t>
            </a:r>
            <a:r>
              <a:rPr sz="1600" spc="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часов</a:t>
            </a:r>
          </a:p>
        </p:txBody>
      </p:sp>
      <p:sp>
        <p:nvSpPr>
          <p:cNvPr id="83" name="object 83"/>
          <p:cNvSpPr txBox="1"/>
          <p:nvPr/>
        </p:nvSpPr>
        <p:spPr>
          <a:xfrm>
            <a:off x="1834896" y="5409731"/>
            <a:ext cx="430036" cy="27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</a:t>
            </a:r>
            <a:r>
              <a:rPr sz="1450" spc="7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</a:t>
            </a:r>
          </a:p>
        </p:txBody>
      </p:sp>
      <p:sp>
        <p:nvSpPr>
          <p:cNvPr id="84" name="object 84"/>
          <p:cNvSpPr txBox="1"/>
          <p:nvPr/>
        </p:nvSpPr>
        <p:spPr>
          <a:xfrm>
            <a:off x="6114288" y="5409731"/>
            <a:ext cx="298972" cy="27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450" spc="44" dirty="0">
                <a:solidFill>
                  <a:srgbClr val="000000"/>
                </a:solidFill>
                <a:latin typeface="FEVUPN+Symbol"/>
                <a:cs typeface="FEVUPN+Symbol"/>
              </a:rPr>
              <a:t></a:t>
            </a:r>
          </a:p>
        </p:txBody>
      </p:sp>
      <p:sp>
        <p:nvSpPr>
          <p:cNvPr id="85" name="object 85"/>
          <p:cNvSpPr txBox="1"/>
          <p:nvPr/>
        </p:nvSpPr>
        <p:spPr>
          <a:xfrm>
            <a:off x="4511040" y="5434701"/>
            <a:ext cx="217885" cy="18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86" name="object 86"/>
          <p:cNvSpPr txBox="1"/>
          <p:nvPr/>
        </p:nvSpPr>
        <p:spPr>
          <a:xfrm>
            <a:off x="5888736" y="5434701"/>
            <a:ext cx="318470" cy="18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50" spc="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050" i="1" spc="-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87" name="object 87"/>
          <p:cNvSpPr txBox="1"/>
          <p:nvPr/>
        </p:nvSpPr>
        <p:spPr>
          <a:xfrm>
            <a:off x="4212336" y="5470308"/>
            <a:ext cx="427442" cy="241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</a:p>
        </p:txBody>
      </p:sp>
      <p:sp>
        <p:nvSpPr>
          <p:cNvPr id="88" name="object 88"/>
          <p:cNvSpPr txBox="1"/>
          <p:nvPr/>
        </p:nvSpPr>
        <p:spPr>
          <a:xfrm>
            <a:off x="5593080" y="5470308"/>
            <a:ext cx="427442" cy="241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</a:p>
        </p:txBody>
      </p:sp>
      <p:sp>
        <p:nvSpPr>
          <p:cNvPr id="89" name="object 89"/>
          <p:cNvSpPr txBox="1"/>
          <p:nvPr/>
        </p:nvSpPr>
        <p:spPr>
          <a:xfrm>
            <a:off x="2042160" y="5540795"/>
            <a:ext cx="222772" cy="262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</a:t>
            </a:r>
          </a:p>
        </p:txBody>
      </p:sp>
      <p:sp>
        <p:nvSpPr>
          <p:cNvPr id="90" name="object 90"/>
          <p:cNvSpPr txBox="1"/>
          <p:nvPr/>
        </p:nvSpPr>
        <p:spPr>
          <a:xfrm>
            <a:off x="2715768" y="5535559"/>
            <a:ext cx="297134" cy="198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1050" spc="48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91" name="object 91"/>
          <p:cNvSpPr txBox="1"/>
          <p:nvPr/>
        </p:nvSpPr>
        <p:spPr>
          <a:xfrm>
            <a:off x="4008120" y="5535559"/>
            <a:ext cx="300181" cy="198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1050" spc="72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</a:p>
        </p:txBody>
      </p:sp>
      <p:sp>
        <p:nvSpPr>
          <p:cNvPr id="92" name="object 92"/>
          <p:cNvSpPr txBox="1"/>
          <p:nvPr/>
        </p:nvSpPr>
        <p:spPr>
          <a:xfrm>
            <a:off x="5391912" y="5535559"/>
            <a:ext cx="297133" cy="198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1050" spc="48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93" name="object 93"/>
          <p:cNvSpPr txBox="1"/>
          <p:nvPr/>
        </p:nvSpPr>
        <p:spPr>
          <a:xfrm>
            <a:off x="6114288" y="5540795"/>
            <a:ext cx="814113" cy="3084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</a:t>
            </a:r>
            <a:r>
              <a:rPr sz="1450" spc="6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</a:p>
          <a:p>
            <a:pPr marL="76200" marR="0"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</a:t>
            </a:r>
            <a:r>
              <a:rPr sz="1450" spc="12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450" i="1" spc="-12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33</a:t>
            </a:r>
          </a:p>
        </p:txBody>
      </p:sp>
      <p:sp>
        <p:nvSpPr>
          <p:cNvPr id="94" name="object 94"/>
          <p:cNvSpPr txBox="1"/>
          <p:nvPr/>
        </p:nvSpPr>
        <p:spPr>
          <a:xfrm>
            <a:off x="749808" y="5565179"/>
            <a:ext cx="3389674" cy="2840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4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450" i="1" spc="16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450" i="1" spc="11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  <a:r>
              <a:rPr sz="1450" spc="-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450" i="1" spc="-5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45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i="1" spc="3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exp</a:t>
            </a:r>
            <a:r>
              <a:rPr sz="1450" spc="44" dirty="0">
                <a:solidFill>
                  <a:srgbClr val="000000"/>
                </a:solidFill>
                <a:latin typeface="FEVUPN+Symbol"/>
                <a:cs typeface="FEVUPN+Symbol"/>
              </a:rPr>
              <a:t></a:t>
            </a:r>
            <a:r>
              <a:rPr sz="1450" spc="5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450" i="1" spc="-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16</a:t>
            </a:r>
            <a:r>
              <a:rPr sz="1450" spc="46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450" spc="13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spc="46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  <a:r>
              <a:rPr sz="1450" spc="-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450" i="1" spc="-7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23</a:t>
            </a:r>
            <a:r>
              <a:rPr sz="1450" spc="45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95" name="object 95"/>
          <p:cNvSpPr txBox="1"/>
          <p:nvPr/>
        </p:nvSpPr>
        <p:spPr>
          <a:xfrm>
            <a:off x="4654296" y="5565179"/>
            <a:ext cx="868978" cy="262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450" spc="-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450" i="1" spc="-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06</a:t>
            </a:r>
            <a:r>
              <a:rPr sz="1450" spc="46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96" name="object 96"/>
          <p:cNvSpPr txBox="1"/>
          <p:nvPr/>
        </p:nvSpPr>
        <p:spPr>
          <a:xfrm>
            <a:off x="2042160" y="5653571"/>
            <a:ext cx="222772" cy="262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</a:t>
            </a:r>
          </a:p>
        </p:txBody>
      </p:sp>
      <p:sp>
        <p:nvSpPr>
          <p:cNvPr id="97" name="object 97"/>
          <p:cNvSpPr txBox="1"/>
          <p:nvPr/>
        </p:nvSpPr>
        <p:spPr>
          <a:xfrm>
            <a:off x="6114288" y="5653571"/>
            <a:ext cx="222772" cy="262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</a:t>
            </a:r>
          </a:p>
        </p:txBody>
      </p:sp>
      <p:sp>
        <p:nvSpPr>
          <p:cNvPr id="98" name="object 98"/>
          <p:cNvSpPr txBox="1"/>
          <p:nvPr/>
        </p:nvSpPr>
        <p:spPr>
          <a:xfrm>
            <a:off x="844296" y="5678542"/>
            <a:ext cx="210531" cy="18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99" name="object 99"/>
          <p:cNvSpPr txBox="1"/>
          <p:nvPr/>
        </p:nvSpPr>
        <p:spPr>
          <a:xfrm>
            <a:off x="4373880" y="5729388"/>
            <a:ext cx="244080" cy="241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100" name="object 100"/>
          <p:cNvSpPr txBox="1"/>
          <p:nvPr/>
        </p:nvSpPr>
        <p:spPr>
          <a:xfrm>
            <a:off x="5736336" y="5729388"/>
            <a:ext cx="381601" cy="241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45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450" i="1" spc="-9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101" name="object 101"/>
          <p:cNvSpPr txBox="1"/>
          <p:nvPr/>
        </p:nvSpPr>
        <p:spPr>
          <a:xfrm>
            <a:off x="1834896" y="5754155"/>
            <a:ext cx="430036" cy="281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</a:t>
            </a:r>
            <a:r>
              <a:rPr sz="1450" spc="7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</a:t>
            </a:r>
          </a:p>
        </p:txBody>
      </p:sp>
      <p:sp>
        <p:nvSpPr>
          <p:cNvPr id="102" name="object 102"/>
          <p:cNvSpPr txBox="1"/>
          <p:nvPr/>
        </p:nvSpPr>
        <p:spPr>
          <a:xfrm>
            <a:off x="6114288" y="5754155"/>
            <a:ext cx="298972" cy="293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450" spc="44" dirty="0">
                <a:solidFill>
                  <a:srgbClr val="000000"/>
                </a:solidFill>
                <a:latin typeface="FEVUPN+Symbol"/>
                <a:cs typeface="FEVUPN+Symbol"/>
              </a:rPr>
              <a:t></a:t>
            </a:r>
          </a:p>
          <a:p>
            <a:pPr marL="76200" marR="0"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</a:t>
            </a:r>
          </a:p>
        </p:txBody>
      </p:sp>
      <p:sp>
        <p:nvSpPr>
          <p:cNvPr id="103" name="object 103"/>
          <p:cNvSpPr txBox="1"/>
          <p:nvPr/>
        </p:nvSpPr>
        <p:spPr>
          <a:xfrm>
            <a:off x="1834896" y="5784635"/>
            <a:ext cx="222772" cy="262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FEVUPN+Symbol"/>
                <a:cs typeface="FEVUPN+Symbol"/>
              </a:rPr>
              <a:t></a:t>
            </a:r>
          </a:p>
        </p:txBody>
      </p:sp>
      <p:sp>
        <p:nvSpPr>
          <p:cNvPr id="104" name="object 104"/>
          <p:cNvSpPr txBox="1"/>
          <p:nvPr/>
        </p:nvSpPr>
        <p:spPr>
          <a:xfrm>
            <a:off x="1170432" y="6248173"/>
            <a:ext cx="118173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 № </a:t>
            </a:r>
            <a:r>
              <a:rPr sz="1600" u="sng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2.</a:t>
            </a:r>
          </a:p>
        </p:txBody>
      </p:sp>
      <p:sp>
        <p:nvSpPr>
          <p:cNvPr id="105" name="object 105"/>
          <p:cNvSpPr txBox="1"/>
          <p:nvPr/>
        </p:nvSpPr>
        <p:spPr>
          <a:xfrm>
            <a:off x="1170432" y="6481983"/>
            <a:ext cx="582244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1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трех</a:t>
            </a:r>
            <a:r>
              <a:rPr sz="1600" spc="1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блоков,</a:t>
            </a:r>
            <a:r>
              <a:rPr sz="1600" spc="1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1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ра-</a:t>
            </a:r>
          </a:p>
        </p:txBody>
      </p:sp>
      <p:sp>
        <p:nvSpPr>
          <p:cNvPr id="106" name="object 106"/>
          <p:cNvSpPr txBox="1"/>
          <p:nvPr/>
        </p:nvSpPr>
        <p:spPr>
          <a:xfrm>
            <a:off x="2660904" y="6694993"/>
            <a:ext cx="1025076" cy="359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800" i="1" spc="2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300" i="1" spc="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3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300" spc="2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800" spc="-16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160</a:t>
            </a:r>
          </a:p>
        </p:txBody>
      </p:sp>
      <p:sp>
        <p:nvSpPr>
          <p:cNvPr id="107" name="object 107"/>
          <p:cNvSpPr txBox="1"/>
          <p:nvPr/>
        </p:nvSpPr>
        <p:spPr>
          <a:xfrm>
            <a:off x="3947159" y="6694993"/>
            <a:ext cx="1073845" cy="359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800" i="1" spc="4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300" i="1" spc="16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3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300" spc="3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800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320</a:t>
            </a:r>
          </a:p>
        </p:txBody>
      </p:sp>
      <p:sp>
        <p:nvSpPr>
          <p:cNvPr id="108" name="object 108"/>
          <p:cNvSpPr txBox="1"/>
          <p:nvPr/>
        </p:nvSpPr>
        <p:spPr>
          <a:xfrm>
            <a:off x="4971288" y="6694993"/>
            <a:ext cx="2023123" cy="359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0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800" i="1" spc="4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300" i="1" spc="1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3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300" spc="29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80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600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  <a:r>
              <a:rPr sz="1600" spc="82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1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</a:p>
        </p:txBody>
      </p:sp>
      <p:sp>
        <p:nvSpPr>
          <p:cNvPr id="109" name="object 109"/>
          <p:cNvSpPr txBox="1"/>
          <p:nvPr/>
        </p:nvSpPr>
        <p:spPr>
          <a:xfrm>
            <a:off x="719328" y="6762399"/>
            <a:ext cx="199809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боты</a:t>
            </a:r>
            <a:r>
              <a:rPr sz="1600" spc="1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  <a:r>
              <a:rPr sz="1600" spc="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равно:</a:t>
            </a:r>
          </a:p>
        </p:txBody>
      </p:sp>
      <p:sp>
        <p:nvSpPr>
          <p:cNvPr id="110" name="object 110"/>
          <p:cNvSpPr txBox="1"/>
          <p:nvPr/>
        </p:nvSpPr>
        <p:spPr>
          <a:xfrm>
            <a:off x="3642359" y="6762399"/>
            <a:ext cx="364574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</a:p>
        </p:txBody>
      </p:sp>
      <p:sp>
        <p:nvSpPr>
          <p:cNvPr id="111" name="object 111"/>
          <p:cNvSpPr txBox="1"/>
          <p:nvPr/>
        </p:nvSpPr>
        <p:spPr>
          <a:xfrm>
            <a:off x="719328" y="7024528"/>
            <a:ext cx="6270055" cy="73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блоков</a:t>
            </a:r>
            <a:r>
              <a:rPr sz="1600" spc="3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справедлив</a:t>
            </a:r>
            <a:r>
              <a:rPr sz="1600" spc="2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экспоненциальный</a:t>
            </a:r>
            <a:r>
              <a:rPr sz="1600" spc="30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</a:t>
            </a:r>
            <a:r>
              <a:rPr sz="1600" spc="2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надежности.</a:t>
            </a:r>
            <a:r>
              <a:rPr sz="1600" spc="27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 время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системы.</a:t>
            </a:r>
          </a:p>
          <a:p>
            <a:pPr marL="451104" marR="0">
              <a:lnSpc>
                <a:spcPts val="1771"/>
              </a:lnSpc>
              <a:spcBef>
                <a:spcPts val="74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Решение.</a:t>
            </a:r>
          </a:p>
        </p:txBody>
      </p:sp>
      <p:sp>
        <p:nvSpPr>
          <p:cNvPr id="112" name="object 112"/>
          <p:cNvSpPr txBox="1"/>
          <p:nvPr/>
        </p:nvSpPr>
        <p:spPr>
          <a:xfrm>
            <a:off x="1170432" y="7725568"/>
            <a:ext cx="406617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Воспользовавшись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формулой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(3.17)</a:t>
            </a:r>
            <a:r>
              <a:rPr sz="1600" spc="-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получим</a:t>
            </a:r>
          </a:p>
        </p:txBody>
      </p:sp>
      <p:sp>
        <p:nvSpPr>
          <p:cNvPr id="113" name="object 113"/>
          <p:cNvSpPr txBox="1"/>
          <p:nvPr/>
        </p:nvSpPr>
        <p:spPr>
          <a:xfrm>
            <a:off x="1734312" y="7965159"/>
            <a:ext cx="256870" cy="269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14" name="object 114"/>
          <p:cNvSpPr txBox="1"/>
          <p:nvPr/>
        </p:nvSpPr>
        <p:spPr>
          <a:xfrm>
            <a:off x="2282952" y="7965159"/>
            <a:ext cx="256870" cy="269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15" name="object 115"/>
          <p:cNvSpPr txBox="1"/>
          <p:nvPr/>
        </p:nvSpPr>
        <p:spPr>
          <a:xfrm>
            <a:off x="3227832" y="7965159"/>
            <a:ext cx="256870" cy="269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16" name="object 116"/>
          <p:cNvSpPr txBox="1"/>
          <p:nvPr/>
        </p:nvSpPr>
        <p:spPr>
          <a:xfrm>
            <a:off x="3800856" y="7965159"/>
            <a:ext cx="256870" cy="269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17" name="object 117"/>
          <p:cNvSpPr txBox="1"/>
          <p:nvPr/>
        </p:nvSpPr>
        <p:spPr>
          <a:xfrm>
            <a:off x="4739640" y="7965159"/>
            <a:ext cx="256870" cy="269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18" name="object 118"/>
          <p:cNvSpPr txBox="1"/>
          <p:nvPr/>
        </p:nvSpPr>
        <p:spPr>
          <a:xfrm>
            <a:off x="5309616" y="7965159"/>
            <a:ext cx="256870" cy="269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19" name="object 119"/>
          <p:cNvSpPr txBox="1"/>
          <p:nvPr/>
        </p:nvSpPr>
        <p:spPr>
          <a:xfrm>
            <a:off x="1194816" y="8075396"/>
            <a:ext cx="526152" cy="332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spc="-1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baseline="-247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800" spc="102" baseline="-247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20" name="object 120"/>
          <p:cNvSpPr txBox="1"/>
          <p:nvPr/>
        </p:nvSpPr>
        <p:spPr>
          <a:xfrm>
            <a:off x="2005584" y="8075396"/>
            <a:ext cx="267072" cy="294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21" name="object 121"/>
          <p:cNvSpPr txBox="1"/>
          <p:nvPr/>
        </p:nvSpPr>
        <p:spPr>
          <a:xfrm>
            <a:off x="2535936" y="8075396"/>
            <a:ext cx="666360" cy="332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</a:t>
            </a:r>
            <a:r>
              <a:rPr sz="1650" i="1" spc="-9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102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baseline="-247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800" spc="222" baseline="-247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22" name="object 122"/>
          <p:cNvSpPr txBox="1"/>
          <p:nvPr/>
        </p:nvSpPr>
        <p:spPr>
          <a:xfrm>
            <a:off x="3514344" y="8075396"/>
            <a:ext cx="267072" cy="294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23" name="object 123"/>
          <p:cNvSpPr txBox="1"/>
          <p:nvPr/>
        </p:nvSpPr>
        <p:spPr>
          <a:xfrm>
            <a:off x="4062984" y="8075396"/>
            <a:ext cx="654168" cy="332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</a:t>
            </a:r>
            <a:r>
              <a:rPr sz="1650" i="1" spc="-9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54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baseline="-247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800" spc="174" baseline="-247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24" name="object 124"/>
          <p:cNvSpPr txBox="1"/>
          <p:nvPr/>
        </p:nvSpPr>
        <p:spPr>
          <a:xfrm>
            <a:off x="5020056" y="8075396"/>
            <a:ext cx="267072" cy="294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25" name="object 125"/>
          <p:cNvSpPr txBox="1"/>
          <p:nvPr/>
        </p:nvSpPr>
        <p:spPr>
          <a:xfrm>
            <a:off x="5571744" y="8099272"/>
            <a:ext cx="204635" cy="269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.</a:t>
            </a:r>
          </a:p>
        </p:txBody>
      </p:sp>
      <p:sp>
        <p:nvSpPr>
          <p:cNvPr id="126" name="object 126"/>
          <p:cNvSpPr txBox="1"/>
          <p:nvPr/>
        </p:nvSpPr>
        <p:spPr>
          <a:xfrm>
            <a:off x="719328" y="8263864"/>
            <a:ext cx="6273603" cy="774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0495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800" i="1" spc="27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800" baseline="-247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800" spc="1494" baseline="-247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160</a:t>
            </a:r>
          </a:p>
          <a:p>
            <a:pPr marL="451104" marR="0">
              <a:lnSpc>
                <a:spcPts val="1780"/>
              </a:lnSpc>
              <a:spcBef>
                <a:spcPts val="4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Здесь</a:t>
            </a:r>
            <a:r>
              <a:rPr sz="1600" spc="1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</a:t>
            </a:r>
            <a:r>
              <a:rPr sz="1600" i="1" baseline="-15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i="1" spc="124" baseline="-15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1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1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4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600" spc="-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-го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блока.</a:t>
            </a:r>
            <a:r>
              <a:rPr sz="1600" spc="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основании</a:t>
            </a:r>
            <a:r>
              <a:rPr sz="1600" spc="1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фор-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мулы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(3.11) имеем</a:t>
            </a:r>
          </a:p>
        </p:txBody>
      </p:sp>
      <p:sp>
        <p:nvSpPr>
          <p:cNvPr id="127" name="object 127"/>
          <p:cNvSpPr txBox="1"/>
          <p:nvPr/>
        </p:nvSpPr>
        <p:spPr>
          <a:xfrm>
            <a:off x="3118104" y="8263864"/>
            <a:ext cx="1046062" cy="308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8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800" i="1" spc="147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800" baseline="-247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  <a:r>
              <a:rPr sz="1800" spc="1734" baseline="-247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320</a:t>
            </a:r>
          </a:p>
        </p:txBody>
      </p:sp>
      <p:sp>
        <p:nvSpPr>
          <p:cNvPr id="128" name="object 128"/>
          <p:cNvSpPr txBox="1"/>
          <p:nvPr/>
        </p:nvSpPr>
        <p:spPr>
          <a:xfrm>
            <a:off x="4636008" y="8263864"/>
            <a:ext cx="1036917" cy="308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800" i="1" spc="123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800" baseline="-247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800" spc="1710" baseline="-247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600</a:t>
            </a:r>
          </a:p>
        </p:txBody>
      </p:sp>
      <p:sp>
        <p:nvSpPr>
          <p:cNvPr id="129" name="object 129"/>
          <p:cNvSpPr txBox="1"/>
          <p:nvPr/>
        </p:nvSpPr>
        <p:spPr>
          <a:xfrm>
            <a:off x="3081528" y="9016924"/>
            <a:ext cx="258465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30" name="object 130"/>
          <p:cNvSpPr txBox="1"/>
          <p:nvPr/>
        </p:nvSpPr>
        <p:spPr>
          <a:xfrm>
            <a:off x="3642359" y="9016924"/>
            <a:ext cx="258465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31" name="object 131"/>
          <p:cNvSpPr txBox="1"/>
          <p:nvPr/>
        </p:nvSpPr>
        <p:spPr>
          <a:xfrm>
            <a:off x="4212336" y="9016924"/>
            <a:ext cx="258465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1194816" y="9126796"/>
            <a:ext cx="1878167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spc="8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spc="7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65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spc="9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  <a:r>
              <a:rPr sz="165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spc="86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33" name="object 133"/>
          <p:cNvSpPr txBox="1"/>
          <p:nvPr/>
        </p:nvSpPr>
        <p:spPr>
          <a:xfrm>
            <a:off x="3352800" y="9126796"/>
            <a:ext cx="268823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</a:p>
        </p:txBody>
      </p:sp>
      <p:sp>
        <p:nvSpPr>
          <p:cNvPr id="134" name="object 134"/>
          <p:cNvSpPr txBox="1"/>
          <p:nvPr/>
        </p:nvSpPr>
        <p:spPr>
          <a:xfrm>
            <a:off x="3922776" y="9126796"/>
            <a:ext cx="268823" cy="29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</a:t>
            </a:r>
          </a:p>
        </p:txBody>
      </p:sp>
      <p:sp>
        <p:nvSpPr>
          <p:cNvPr id="135" name="object 135"/>
          <p:cNvSpPr txBox="1"/>
          <p:nvPr/>
        </p:nvSpPr>
        <p:spPr>
          <a:xfrm>
            <a:off x="4495800" y="9126796"/>
            <a:ext cx="1206235" cy="332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65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2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011</a:t>
            </a:r>
          </a:p>
          <a:p>
            <a:pPr marL="652271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spc="5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</a:p>
        </p:txBody>
      </p:sp>
      <p:sp>
        <p:nvSpPr>
          <p:cNvPr id="136" name="object 136"/>
          <p:cNvSpPr txBox="1"/>
          <p:nvPr/>
        </p:nvSpPr>
        <p:spPr>
          <a:xfrm>
            <a:off x="5318760" y="9162679"/>
            <a:ext cx="26516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</a:p>
        </p:txBody>
      </p:sp>
      <p:sp>
        <p:nvSpPr>
          <p:cNvPr id="137" name="object 137"/>
          <p:cNvSpPr txBox="1"/>
          <p:nvPr/>
        </p:nvSpPr>
        <p:spPr>
          <a:xfrm>
            <a:off x="1319784" y="9259915"/>
            <a:ext cx="219652" cy="205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</a:t>
            </a:r>
          </a:p>
        </p:txBody>
      </p:sp>
      <p:sp>
        <p:nvSpPr>
          <p:cNvPr id="138" name="object 138"/>
          <p:cNvSpPr txBox="1"/>
          <p:nvPr/>
        </p:nvSpPr>
        <p:spPr>
          <a:xfrm>
            <a:off x="1752600" y="9259915"/>
            <a:ext cx="228161" cy="205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39" name="object 139"/>
          <p:cNvSpPr txBox="1"/>
          <p:nvPr/>
        </p:nvSpPr>
        <p:spPr>
          <a:xfrm>
            <a:off x="2197608" y="9259915"/>
            <a:ext cx="228161" cy="205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140" name="object 140"/>
          <p:cNvSpPr txBox="1"/>
          <p:nvPr/>
        </p:nvSpPr>
        <p:spPr>
          <a:xfrm>
            <a:off x="2651760" y="9259915"/>
            <a:ext cx="228161" cy="205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141" name="object 141"/>
          <p:cNvSpPr txBox="1"/>
          <p:nvPr/>
        </p:nvSpPr>
        <p:spPr>
          <a:xfrm>
            <a:off x="2965704" y="9318676"/>
            <a:ext cx="1614445" cy="27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49"/>
              </a:lnSpc>
              <a:spcBef>
                <a:spcPts val="0"/>
              </a:spcBef>
              <a:spcAft>
                <a:spcPts val="0"/>
              </a:spcAft>
            </a:pP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160</a:t>
            </a:r>
            <a:r>
              <a:rPr sz="1650" spc="15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320</a:t>
            </a:r>
            <a:r>
              <a:rPr sz="1650" spc="15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600</a:t>
            </a:r>
          </a:p>
        </p:txBody>
      </p:sp>
      <p:sp>
        <p:nvSpPr>
          <p:cNvPr id="142" name="object 142"/>
          <p:cNvSpPr txBox="1"/>
          <p:nvPr/>
        </p:nvSpPr>
        <p:spPr>
          <a:xfrm>
            <a:off x="1170432" y="9554368"/>
            <a:ext cx="3853775" cy="2795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Здесь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λ</a:t>
            </a:r>
            <a:r>
              <a:rPr sz="1600" i="1" baseline="-15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 интенсивность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системы.</a:t>
            </a:r>
          </a:p>
        </p:txBody>
      </p:sp>
      <p:sp>
        <p:nvSpPr>
          <p:cNvPr id="143" name="object 143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3316414" y="7839329"/>
            <a:ext cx="1031747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2838450" y="7839329"/>
            <a:ext cx="246507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05228" y="1231265"/>
            <a:ext cx="472249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28025" y="1231265"/>
            <a:ext cx="245935" cy="12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0432" y="721263"/>
            <a:ext cx="360984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основании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формулы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(3.16)</a:t>
            </a:r>
            <a:r>
              <a:rPr sz="1600" spc="-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получим: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98320" y="963903"/>
            <a:ext cx="256870" cy="269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86584" y="963903"/>
            <a:ext cx="256870" cy="269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97862" y="1074140"/>
            <a:ext cx="623689" cy="332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800" i="1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tc</a:t>
            </a:r>
            <a:r>
              <a:rPr sz="1800" i="1" spc="241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33016" y="1074140"/>
            <a:ext cx="267072" cy="294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37104" y="1074140"/>
            <a:ext cx="831331" cy="3289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65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91</a:t>
            </a:r>
            <a:r>
              <a:rPr sz="2400" baseline="-174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(ч).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37360" y="1238732"/>
            <a:ext cx="1097877" cy="332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spc="78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i="1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800" i="1" spc="1777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2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011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70432" y="1773709"/>
            <a:ext cx="118173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 № </a:t>
            </a:r>
            <a:r>
              <a:rPr sz="1600" u="sng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70432" y="2004471"/>
            <a:ext cx="582263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12600</a:t>
            </a:r>
            <a:r>
              <a:rPr sz="16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элементов,</a:t>
            </a:r>
            <a:r>
              <a:rPr sz="16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средняя</a:t>
            </a:r>
            <a:r>
              <a:rPr sz="1600" spc="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от-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605784" y="2234396"/>
            <a:ext cx="313928" cy="2247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9"/>
              </a:lnSpc>
              <a:spcBef>
                <a:spcPts val="0"/>
              </a:spcBef>
              <a:spcAft>
                <a:spcPts val="0"/>
              </a:spcAft>
            </a:pPr>
            <a:r>
              <a:rPr sz="1200" spc="13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925824" y="2234396"/>
            <a:ext cx="389371" cy="3512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800" spc="37" baseline="56999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spc="168" baseline="56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343912" y="2267603"/>
            <a:ext cx="1708059" cy="299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15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</a:t>
            </a:r>
            <a:r>
              <a:rPr sz="1700" spc="-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spc="79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700" spc="13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ч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19328" y="2321463"/>
            <a:ext cx="62136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казов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590742" y="2321463"/>
            <a:ext cx="88634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565904" y="2321463"/>
            <a:ext cx="104017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851791" y="2321463"/>
            <a:ext cx="1144458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471928" y="2401160"/>
            <a:ext cx="296213" cy="20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ср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52856" y="2611927"/>
            <a:ext cx="3245231" cy="278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-2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-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),</a:t>
            </a:r>
            <a:r>
              <a:rPr sz="1650" i="1" spc="-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65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-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),</a:t>
            </a:r>
            <a:r>
              <a:rPr sz="1650" i="1" spc="25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650" i="1" spc="2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-2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),</a:t>
            </a:r>
            <a:r>
              <a:rPr sz="1650" i="1" spc="-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50" i="1" spc="62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i="1" spc="13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50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47344" y="2716344"/>
            <a:ext cx="217892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402080" y="2716344"/>
            <a:ext cx="217892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959864" y="2716344"/>
            <a:ext cx="217892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554224" y="2716344"/>
            <a:ext cx="258889" cy="201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tc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19328" y="2892343"/>
            <a:ext cx="6273734" cy="133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Здесь</a:t>
            </a:r>
            <a:r>
              <a:rPr sz="1600" spc="3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i="1" spc="-12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50" i="1" baseline="-1945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750" i="1" spc="-180" baseline="-1945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28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1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1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1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ние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  <a:p>
            <a:pPr marL="545592" marR="0">
              <a:lnSpc>
                <a:spcPts val="1801"/>
              </a:lnSpc>
              <a:spcBef>
                <a:spcPts val="148"/>
              </a:spcBef>
              <a:spcAft>
                <a:spcPts val="0"/>
              </a:spcAft>
            </a:pPr>
            <a:r>
              <a:rPr sz="1650" i="1" spc="1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750" i="1" baseline="-254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750" i="1" spc="-156" baseline="-2543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2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 вероятность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 течение времени 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  <a:p>
            <a:pPr marL="585216" marR="0">
              <a:lnSpc>
                <a:spcPts val="1801"/>
              </a:lnSpc>
              <a:spcBef>
                <a:spcPts val="123"/>
              </a:spcBef>
              <a:spcAft>
                <a:spcPts val="0"/>
              </a:spcAft>
            </a:pPr>
            <a:r>
              <a:rPr sz="1650" i="1" spc="2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750" i="1" baseline="-2543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750" i="1" spc="-180" baseline="-2543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3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частота</a:t>
            </a:r>
            <a:r>
              <a:rPr sz="1600" spc="1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или</a:t>
            </a:r>
            <a:r>
              <a:rPr sz="1600" spc="1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плотность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вероятности</a:t>
            </a:r>
            <a:r>
              <a:rPr sz="1600" spc="1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1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системы;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170432" y="4206031"/>
            <a:ext cx="5109386" cy="7723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30" marR="0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8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750" i="1" baseline="-254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tc</a:t>
            </a:r>
            <a:r>
              <a:rPr sz="1750" i="1" spc="-54" baseline="-254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–среднее время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</a:t>
            </a:r>
            <a:r>
              <a:rPr sz="1600" spc="-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системы.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  <a:p>
            <a:pPr marL="0" marR="0">
              <a:lnSpc>
                <a:spcPts val="1780"/>
              </a:lnSpc>
              <a:spcBef>
                <a:spcPts val="6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</a:t>
            </a:r>
            <a:r>
              <a:rPr sz="1600" spc="-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формуле (3.11) будет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489959" y="4940447"/>
            <a:ext cx="326373" cy="2403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2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3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535168" y="4940447"/>
            <a:ext cx="326373" cy="2403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2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3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402080" y="4977690"/>
            <a:ext cx="4260780" cy="321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9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spc="9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spc="15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800" spc="-8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800" i="1" spc="1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80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800" i="1" spc="-16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8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</a:t>
            </a:r>
            <a:r>
              <a:rPr sz="1800" spc="-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800" spc="1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8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800" spc="17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800" spc="1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8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12600</a:t>
            </a:r>
            <a:r>
              <a:rPr sz="1800" spc="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  <a:r>
              <a:rPr sz="1800" i="1" spc="-1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8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032</a:t>
            </a:r>
            <a:r>
              <a:rPr sz="1800" spc="-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800" spc="1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8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5782056" y="5026543"/>
            <a:ext cx="553963" cy="296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688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</a:p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spc="5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539240" y="5120853"/>
            <a:ext cx="225664" cy="220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3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023872" y="5120853"/>
            <a:ext cx="308222" cy="220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3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cp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1170432" y="5342031"/>
            <a:ext cx="151889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 (3.13) имеем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584704" y="5582252"/>
            <a:ext cx="443829" cy="234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50" spc="82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250" spc="1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4084320" y="5585301"/>
            <a:ext cx="1217010" cy="234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50" spc="1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  <a:r>
              <a:rPr sz="1250" i="1" spc="-4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25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032</a:t>
            </a:r>
            <a:r>
              <a:rPr sz="12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250" spc="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250" i="1" spc="-4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2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001</a:t>
            </a:r>
            <a:r>
              <a:rPr sz="12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25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706879" y="5621405"/>
            <a:ext cx="1001828" cy="356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5"/>
              </a:lnSpc>
              <a:spcBef>
                <a:spcPts val="0"/>
              </a:spcBef>
              <a:spcAft>
                <a:spcPts val="0"/>
              </a:spcAft>
            </a:pPr>
            <a:r>
              <a:rPr sz="1750" i="1" spc="-13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900" i="1" baseline="-260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900" i="1" spc="-213" baseline="-260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spc="2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50" i="1" spc="-26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50" i="1" spc="-3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5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926080" y="5621405"/>
            <a:ext cx="1285292" cy="356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5"/>
              </a:lnSpc>
              <a:spcBef>
                <a:spcPts val="0"/>
              </a:spcBef>
              <a:spcAft>
                <a:spcPts val="0"/>
              </a:spcAft>
            </a:pP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;</a:t>
            </a:r>
            <a:r>
              <a:rPr sz="1750" i="1" spc="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spc="-1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900" i="1" baseline="-260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900" i="1" spc="-189" baseline="-260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spc="2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75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750" spc="-1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50" i="1" spc="-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5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5242560" y="5621405"/>
            <a:ext cx="797803" cy="329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5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75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spc="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50" i="1" spc="-1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5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82</a:t>
            </a:r>
          </a:p>
          <a:p>
            <a:pPr marL="59436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2770632" y="5683058"/>
            <a:ext cx="202209" cy="162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78"/>
              </a:lnSpc>
              <a:spcBef>
                <a:spcPts val="0"/>
              </a:spcBef>
              <a:spcAft>
                <a:spcPts val="0"/>
              </a:spcAft>
            </a:pPr>
            <a:r>
              <a:rPr sz="9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170432" y="5945536"/>
            <a:ext cx="1726134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 (3.15) получим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438400" y="6186321"/>
            <a:ext cx="426749" cy="22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200" spc="61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2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1395984" y="6225091"/>
            <a:ext cx="1174495" cy="301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5"/>
              </a:lnSpc>
              <a:spcBef>
                <a:spcPts val="0"/>
              </a:spcBef>
              <a:spcAft>
                <a:spcPts val="0"/>
              </a:spcAft>
            </a:pP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700" i="1" spc="42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8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3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2810256" y="6225091"/>
            <a:ext cx="3531859" cy="339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5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4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00" i="1" spc="16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8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-1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);</a:t>
            </a:r>
            <a:r>
              <a:rPr sz="1700" i="1" spc="-6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700" i="1" spc="42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7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700" spc="-1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10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spc="243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1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700" spc="-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00" i="1" spc="16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7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700" spc="-1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70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30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18</a:t>
            </a:r>
          </a:p>
          <a:p>
            <a:pPr marL="3328415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  <a:p>
            <a:pPr marL="295656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200" i="1" spc="82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200" i="1" spc="396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200" i="1" spc="790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2615184" y="6281551"/>
            <a:ext cx="200151" cy="157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1514856" y="6356283"/>
            <a:ext cx="220616" cy="20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2231136" y="6356283"/>
            <a:ext cx="220616" cy="20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170432" y="6533799"/>
            <a:ext cx="151889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 (3.14) имеем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2026920" y="6771718"/>
            <a:ext cx="408932" cy="215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3"/>
              </a:lnSpc>
              <a:spcBef>
                <a:spcPts val="0"/>
              </a:spcBef>
              <a:spcAft>
                <a:spcPts val="0"/>
              </a:spcAft>
            </a:pPr>
            <a:r>
              <a:rPr sz="1150" spc="41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1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150" spc="1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4867656" y="6774766"/>
            <a:ext cx="303871" cy="215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3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1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6330696" y="6774766"/>
            <a:ext cx="303871" cy="215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3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1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963167" y="6808122"/>
            <a:ext cx="1196164" cy="2858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600" i="1" spc="49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spc="2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00" i="1" spc="-26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00" i="1" spc="-6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00" spc="6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spc="2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2374392" y="6808122"/>
            <a:ext cx="4738984" cy="294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00" spc="4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00" i="1" spc="15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spc="2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00" i="1" spc="-26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);</a:t>
            </a:r>
            <a:r>
              <a:rPr sz="1600" i="1" spc="22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f</a:t>
            </a:r>
            <a:r>
              <a:rPr sz="1600" i="1" spc="47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spc="23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00" i="1" spc="-6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  <a:r>
              <a:rPr sz="1600" i="1" spc="-13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032</a:t>
            </a:r>
            <a:r>
              <a:rPr sz="1600" spc="32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600" spc="13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2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00" i="1" spc="-18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82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00" spc="-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600" i="1" spc="-8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28</a:t>
            </a:r>
            <a:r>
              <a:rPr sz="1600" spc="32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600" spc="15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spc="5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6729984" y="6806574"/>
            <a:ext cx="26516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2191512" y="6860362"/>
            <a:ext cx="197270" cy="150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81"/>
              </a:lnSpc>
              <a:spcBef>
                <a:spcPts val="0"/>
              </a:spcBef>
              <a:spcAft>
                <a:spcPts val="0"/>
              </a:spcAft>
            </a:pPr>
            <a:r>
              <a:rPr sz="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1039367" y="6931477"/>
            <a:ext cx="216500" cy="1980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1716024" y="6931477"/>
            <a:ext cx="216500" cy="1980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2651760" y="6931477"/>
            <a:ext cx="993740" cy="1980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150" i="1" spc="78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150" i="1" spc="373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1170432" y="7332375"/>
            <a:ext cx="1726134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 (3.16) получим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2846832" y="7571968"/>
            <a:ext cx="346657" cy="607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  <a:p>
            <a:pPr marL="0" marR="0">
              <a:lnSpc>
                <a:spcPts val="2015"/>
              </a:lnSpc>
              <a:spcBef>
                <a:spcPts val="391"/>
              </a:spcBef>
              <a:spcAft>
                <a:spcPts val="0"/>
              </a:spcAft>
            </a:pPr>
            <a:r>
              <a:rPr sz="1650" spc="102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800" i="1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3779520" y="7571968"/>
            <a:ext cx="256870" cy="269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2307336" y="7682204"/>
            <a:ext cx="623688" cy="3322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8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800" i="1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tc</a:t>
            </a:r>
            <a:r>
              <a:rPr sz="1800" i="1" spc="217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3142488" y="7682204"/>
            <a:ext cx="267072" cy="294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4407408" y="7682204"/>
            <a:ext cx="1020307" cy="328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6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250</a:t>
            </a:r>
          </a:p>
          <a:p>
            <a:pPr marL="57896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(ч).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4148328" y="7839764"/>
            <a:ext cx="315413" cy="220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spc="37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3328415" y="7898104"/>
            <a:ext cx="948646" cy="269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  <a:r>
              <a:rPr sz="1650" spc="-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032</a:t>
            </a:r>
            <a:r>
              <a:rPr sz="1650" spc="4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70" name="object 70"/>
          <p:cNvSpPr txBox="1"/>
          <p:nvPr/>
        </p:nvSpPr>
        <p:spPr>
          <a:xfrm>
            <a:off x="3444240" y="7898104"/>
            <a:ext cx="204635" cy="269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3843528" y="7874228"/>
            <a:ext cx="204635" cy="294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1170432" y="8380887"/>
            <a:ext cx="1181851" cy="26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 № </a:t>
            </a:r>
            <a:r>
              <a:rPr sz="1600" u="sng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1170432" y="8615583"/>
            <a:ext cx="581907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3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3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37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двух</a:t>
            </a:r>
            <a:r>
              <a:rPr sz="1600" spc="4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устройств.</a:t>
            </a:r>
            <a:r>
              <a:rPr sz="1600" spc="3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Вероятности</a:t>
            </a:r>
            <a:r>
              <a:rPr sz="1600" spc="3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719328" y="8847232"/>
            <a:ext cx="6274793" cy="965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70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каждого</a:t>
            </a:r>
            <a:r>
              <a:rPr sz="1600" spc="6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6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них</a:t>
            </a:r>
            <a:r>
              <a:rPr sz="1600" spc="6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7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</a:t>
            </a:r>
            <a:r>
              <a:rPr sz="1600" spc="6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7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7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7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  <a:r>
              <a:rPr sz="1600" spc="7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7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равны: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Р1(100)</a:t>
            </a:r>
            <a:r>
              <a:rPr sz="1600" spc="1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0,95;</a:t>
            </a:r>
            <a:r>
              <a:rPr sz="1600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Р2(100)</a:t>
            </a:r>
            <a:r>
              <a:rPr sz="1600" spc="1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0,97.</a:t>
            </a:r>
            <a:r>
              <a:rPr sz="1600" spc="1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Справедлив</a:t>
            </a:r>
            <a:r>
              <a:rPr sz="1600" spc="2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экспоненциальный</a:t>
            </a:r>
            <a:r>
              <a:rPr sz="1600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надежности.</a:t>
            </a:r>
            <a:r>
              <a:rPr sz="1600" spc="3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Необходимо</a:t>
            </a:r>
            <a:r>
              <a:rPr sz="1600" spc="3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найти</a:t>
            </a:r>
            <a:r>
              <a:rPr sz="1600" spc="3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3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3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3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системы.</a:t>
            </a:r>
          </a:p>
        </p:txBody>
      </p:sp>
      <p:sp>
        <p:nvSpPr>
          <p:cNvPr id="75" name="object 75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"/>
          <p:cNvSpPr/>
          <p:nvPr/>
        </p:nvSpPr>
        <p:spPr>
          <a:xfrm>
            <a:off x="1763649" y="9127299"/>
            <a:ext cx="673227" cy="279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3272409" y="4003040"/>
            <a:ext cx="103651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04160" y="4003040"/>
            <a:ext cx="230695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70432" y="721263"/>
            <a:ext cx="964609" cy="26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0432" y="955959"/>
            <a:ext cx="4595611" cy="529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Найдем вероятность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изделия:</a:t>
            </a:r>
          </a:p>
          <a:p>
            <a:pPr marL="810767" marR="0">
              <a:lnSpc>
                <a:spcPts val="1881"/>
              </a:lnSpc>
              <a:spcBef>
                <a:spcPts val="28"/>
              </a:spcBef>
              <a:spcAft>
                <a:spcPts val="0"/>
              </a:spcAft>
            </a:pP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550" i="1" spc="3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spc="-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(100</a:t>
            </a:r>
            <a:r>
              <a:rPr sz="1550" spc="-3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550" spc="-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5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550" i="1" spc="-8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spc="-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(100)</a:t>
            </a: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550" spc="-15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550" i="1" spc="8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spc="-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(100</a:t>
            </a:r>
            <a:r>
              <a:rPr sz="1550" spc="-3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550" spc="-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50" spc="-6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0,95</a:t>
            </a:r>
            <a:r>
              <a:rPr sz="1550" spc="164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55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0,97</a:t>
            </a:r>
            <a:r>
              <a:rPr sz="15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50" spc="-6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0,92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75688" y="1329136"/>
            <a:ext cx="202896" cy="164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2"/>
              </a:lnSpc>
              <a:spcBef>
                <a:spcPts val="0"/>
              </a:spcBef>
              <a:spcAft>
                <a:spcPts val="0"/>
              </a:spcAft>
            </a:pPr>
            <a:r>
              <a:rPr sz="9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852928" y="1329136"/>
            <a:ext cx="209284" cy="164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2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541776" y="1329136"/>
            <a:ext cx="209284" cy="164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2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9328" y="1480215"/>
            <a:ext cx="6276651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Найдем</a:t>
            </a:r>
            <a:r>
              <a:rPr sz="1600" spc="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изделия,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воспользовавшись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мулой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84320" y="1957050"/>
            <a:ext cx="462750" cy="2815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4"/>
              </a:lnSpc>
              <a:spcBef>
                <a:spcPts val="0"/>
              </a:spcBef>
              <a:spcAft>
                <a:spcPts val="0"/>
              </a:spcAft>
            </a:pPr>
            <a:r>
              <a:rPr sz="1350" spc="75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350" spc="27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450" i="1" spc="58" baseline="-2488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3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60776" y="2000019"/>
            <a:ext cx="1049684" cy="3809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4"/>
              </a:lnSpc>
              <a:spcBef>
                <a:spcPts val="0"/>
              </a:spcBef>
              <a:spcAft>
                <a:spcPts val="0"/>
              </a:spcAft>
            </a:pPr>
            <a:r>
              <a:rPr sz="1900" i="1" spc="-17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2050" i="1" baseline="-2526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2050" i="1" spc="-248" baseline="-2526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900" i="1" spc="2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900" i="1" spc="-29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9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900" i="1" spc="-12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9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9328" y="2348896"/>
            <a:ext cx="47281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или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370832" y="2586633"/>
            <a:ext cx="662127" cy="252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200" spc="85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spc="37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300" i="1" baseline="-23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300" i="1" spc="-126" baseline="-23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200" spc="-108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673096" y="2625403"/>
            <a:ext cx="1823719" cy="339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5"/>
              </a:lnSpc>
              <a:spcBef>
                <a:spcPts val="0"/>
              </a:spcBef>
              <a:spcAft>
                <a:spcPts val="0"/>
              </a:spcAft>
            </a:pPr>
            <a:r>
              <a:rPr sz="1700" i="1" spc="-15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800" i="1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800" i="1" spc="-191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13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7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  <a:r>
              <a:rPr sz="1700" spc="-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5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92</a:t>
            </a:r>
            <a:r>
              <a:rPr sz="1700" spc="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70432" y="2934111"/>
            <a:ext cx="263139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 таблице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П.7.14 [1]</a:t>
            </a:r>
            <a:r>
              <a:rPr sz="1600" spc="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имеем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062728" y="3162645"/>
            <a:ext cx="317668" cy="226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3"/>
              </a:lnSpc>
              <a:spcBef>
                <a:spcPts val="0"/>
              </a:spcBef>
              <a:spcAft>
                <a:spcPts val="0"/>
              </a:spcAft>
            </a:pPr>
            <a:r>
              <a:rPr sz="1200" spc="37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100072" y="3198342"/>
            <a:ext cx="3094505" cy="3018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70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79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  <a:r>
              <a:rPr sz="1700" spc="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7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083</a:t>
            </a:r>
            <a:r>
              <a:rPr sz="1700" spc="-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или</a:t>
            </a:r>
            <a:r>
              <a:rPr sz="1700" i="1" spc="11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87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8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83</a:t>
            </a:r>
            <a:r>
              <a:rPr sz="1700" spc="79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257800" y="3216031"/>
            <a:ext cx="554080" cy="296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688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</a:p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spc="5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28088" y="3329567"/>
            <a:ext cx="220643" cy="208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029456" y="3329567"/>
            <a:ext cx="220643" cy="208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70432" y="3507135"/>
            <a:ext cx="65745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Тогда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813304" y="3750040"/>
            <a:ext cx="334166" cy="5777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863" marR="0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  <a:p>
            <a:pPr marL="0" marR="0">
              <a:lnSpc>
                <a:spcPts val="1913"/>
              </a:lnSpc>
              <a:spcBef>
                <a:spcPts val="299"/>
              </a:spcBef>
              <a:spcAft>
                <a:spcPts val="0"/>
              </a:spcAft>
            </a:pPr>
            <a:r>
              <a:rPr sz="1550" spc="85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50" i="1" baseline="-2632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739896" y="3750040"/>
            <a:ext cx="251591" cy="257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286000" y="3852338"/>
            <a:ext cx="605702" cy="320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550" i="1" spc="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50" i="1" baseline="-2632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tc</a:t>
            </a:r>
            <a:r>
              <a:rPr sz="1650" i="1" spc="318" baseline="-2632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099816" y="3852338"/>
            <a:ext cx="261278" cy="281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373880" y="3852338"/>
            <a:ext cx="1075171" cy="309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50" spc="-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1200</a:t>
            </a:r>
          </a:p>
          <a:p>
            <a:pPr marL="63398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(ч).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270503" y="4000769"/>
            <a:ext cx="1190775" cy="31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4" marR="0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550" spc="-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83</a:t>
            </a:r>
            <a:r>
              <a:rPr sz="1550" spc="3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  <a:p>
            <a:pPr marL="0" marR="0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550" i="1" spc="75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50" i="1" spc="128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550" spc="148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44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1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100" spc="2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170432" y="4544341"/>
            <a:ext cx="118173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 № </a:t>
            </a:r>
            <a:r>
              <a:rPr sz="1600" u="sng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5.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170432" y="4775104"/>
            <a:ext cx="582309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5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56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5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одного</a:t>
            </a:r>
            <a:r>
              <a:rPr sz="1600" spc="5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элемента</a:t>
            </a:r>
            <a:r>
              <a:rPr sz="1600" spc="5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5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19328" y="5009799"/>
            <a:ext cx="6270846" cy="73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6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равна</a:t>
            </a:r>
            <a:r>
              <a:rPr sz="1600" spc="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P(t)</a:t>
            </a:r>
            <a:r>
              <a:rPr sz="1600" i="1" spc="7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0,9997.</a:t>
            </a:r>
            <a:r>
              <a:rPr sz="1600" spc="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9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отказной работы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системы,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состоящей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100 таких же элементов.</a:t>
            </a:r>
          </a:p>
          <a:p>
            <a:pPr marL="451104" marR="0">
              <a:lnSpc>
                <a:spcPts val="1771"/>
              </a:lnSpc>
              <a:spcBef>
                <a:spcPts val="5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170432" y="5710840"/>
            <a:ext cx="125083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684585" y="5710840"/>
            <a:ext cx="120995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156883" y="5710840"/>
            <a:ext cx="77748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5199396" y="5710840"/>
            <a:ext cx="88914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6354204" y="5710840"/>
            <a:ext cx="6414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равна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1325880" y="5974465"/>
            <a:ext cx="275860" cy="313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688592" y="5956866"/>
            <a:ext cx="232740" cy="2160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1"/>
              </a:lnSpc>
              <a:spcBef>
                <a:spcPts val="0"/>
              </a:spcBef>
              <a:spcAft>
                <a:spcPts val="0"/>
              </a:spcAft>
            </a:pPr>
            <a:r>
              <a:rPr sz="12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2145792" y="5974465"/>
            <a:ext cx="275860" cy="313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3163824" y="5956866"/>
            <a:ext cx="397276" cy="2160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1"/>
              </a:lnSpc>
              <a:spcBef>
                <a:spcPts val="0"/>
              </a:spcBef>
              <a:spcAft>
                <a:spcPts val="0"/>
              </a:spcAft>
            </a:pPr>
            <a:r>
              <a:rPr sz="125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755904" y="6000170"/>
            <a:ext cx="2562078" cy="2872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1"/>
              </a:lnSpc>
              <a:spcBef>
                <a:spcPts val="0"/>
              </a:spcBef>
              <a:spcAft>
                <a:spcPts val="0"/>
              </a:spcAft>
            </a:pP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50" i="1" spc="2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750" i="1" spc="-1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750" i="1" spc="-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50" i="1" spc="145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750" i="1" spc="70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750" i="1" spc="-15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750" i="1" spc="-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50" i="1" spc="128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750" i="1" spc="-13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spc="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50" i="1" spc="-15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5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9997</a:t>
            </a:r>
            <a:r>
              <a:rPr sz="1750" spc="-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3438144" y="6040024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874775" y="6115361"/>
            <a:ext cx="223717" cy="2160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1"/>
              </a:lnSpc>
              <a:spcBef>
                <a:spcPts val="0"/>
              </a:spcBef>
              <a:spcAft>
                <a:spcPts val="0"/>
              </a:spcAft>
            </a:pPr>
            <a:r>
              <a:rPr sz="12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301240" y="6306380"/>
            <a:ext cx="669882" cy="333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7"/>
              </a:lnSpc>
              <a:spcBef>
                <a:spcPts val="0"/>
              </a:spcBef>
              <a:spcAft>
                <a:spcPts val="0"/>
              </a:spcAft>
            </a:pP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800" i="1" spc="17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spc="24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800" i="1" spc="-2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  <a:p>
            <a:pPr marL="115824" marR="0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3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1170432" y="6347872"/>
            <a:ext cx="125083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2419484" y="6347872"/>
            <a:ext cx="4572799" cy="523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1251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близка к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единице,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поэтому</a:t>
            </a:r>
            <a:r>
              <a:rPr sz="1600" spc="-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ее</a:t>
            </a:r>
            <a:r>
              <a:rPr sz="1600" spc="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вычисления</a:t>
            </a:r>
          </a:p>
          <a:p>
            <a:pPr marL="0" marR="0">
              <a:lnSpc>
                <a:spcPts val="1780"/>
              </a:lnSpc>
              <a:spcBef>
                <a:spcPts val="209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формулой</a:t>
            </a:r>
            <a:r>
              <a:rPr sz="1600" spc="29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(3.18).</a:t>
            </a:r>
            <a:r>
              <a:rPr sz="1600" spc="73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нашем</a:t>
            </a:r>
            <a:r>
              <a:rPr sz="1600" spc="29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случае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719328" y="6606952"/>
            <a:ext cx="143496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воспользуемся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4695411" y="6606952"/>
            <a:ext cx="28858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746760" y="6835966"/>
            <a:ext cx="2855203" cy="276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400" i="1" spc="6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4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</a:t>
            </a:r>
            <a:r>
              <a:rPr sz="1400" i="1" spc="1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4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4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4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1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4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i="1" spc="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4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</a:t>
            </a:r>
            <a:r>
              <a:rPr sz="1400" i="1" spc="1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4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4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4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1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4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400" spc="-6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0,9997</a:t>
            </a:r>
            <a:r>
              <a:rPr sz="140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0,0003</a:t>
            </a:r>
            <a:r>
              <a:rPr sz="1400" spc="-1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758696" y="7075090"/>
            <a:ext cx="3686126" cy="339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9"/>
              </a:lnSpc>
              <a:spcBef>
                <a:spcPts val="0"/>
              </a:spcBef>
              <a:spcAft>
                <a:spcPts val="0"/>
              </a:spcAft>
            </a:pPr>
            <a:r>
              <a:rPr sz="1700" i="1" spc="-17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800" i="1" baseline="-23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800" i="1" spc="-238" baseline="-23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8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1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spc="219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700" spc="2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7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spc="-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nq(</a:t>
            </a:r>
            <a:r>
              <a:rPr sz="1700" i="1" spc="-1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700" i="1" spc="-5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1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spc="219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2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700" spc="219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spc="-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3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0003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6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97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1170432" y="7125111"/>
            <a:ext cx="65745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Тогда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5327904" y="7125111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1170432" y="7618887"/>
            <a:ext cx="5821051" cy="7414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Задача.</a:t>
            </a:r>
            <a:r>
              <a:rPr sz="1600" u="sng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 6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  <a:p>
            <a:pPr marL="0" marR="0">
              <a:lnSpc>
                <a:spcPts val="1780"/>
              </a:lnSpc>
              <a:spcBef>
                <a:spcPts val="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2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3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27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2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2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</a:t>
            </a:r>
            <a:r>
              <a:rPr sz="1600" spc="2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30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</a:t>
            </a:r>
          </a:p>
          <a:p>
            <a:pPr marL="73151" marR="0">
              <a:lnSpc>
                <a:spcPts val="1881"/>
              </a:lnSpc>
              <a:spcBef>
                <a:spcPts val="28"/>
              </a:spcBef>
              <a:spcAft>
                <a:spcPts val="0"/>
              </a:spcAft>
            </a:pP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550" i="1" spc="53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550" i="1" spc="59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719328" y="8105569"/>
            <a:ext cx="6270584" cy="27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равна</a:t>
            </a:r>
            <a:r>
              <a:rPr sz="1600" spc="12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</a:t>
            </a:r>
            <a:r>
              <a:rPr sz="1550" spc="1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550" spc="1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0,95</a:t>
            </a:r>
            <a:r>
              <a:rPr sz="1550" spc="-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.Система</a:t>
            </a:r>
            <a:r>
              <a:rPr sz="1600" spc="1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600" i="1" spc="9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120</a:t>
            </a:r>
            <a:r>
              <a:rPr sz="1600" spc="1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равнонадежных</a:t>
            </a:r>
            <a:r>
              <a:rPr sz="1600" spc="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элемен-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1338072" y="8226760"/>
            <a:ext cx="202896" cy="164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2"/>
              </a:lnSpc>
              <a:spcBef>
                <a:spcPts val="0"/>
              </a:spcBef>
              <a:spcAft>
                <a:spcPts val="0"/>
              </a:spcAft>
            </a:pPr>
            <a:r>
              <a:rPr sz="9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719328" y="8377840"/>
            <a:ext cx="5948694" cy="49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тов.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Необходимо найти вероятность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элемента.</a:t>
            </a:r>
          </a:p>
          <a:p>
            <a:pPr marL="451104" marR="0">
              <a:lnSpc>
                <a:spcPts val="1771"/>
              </a:lnSpc>
              <a:spcBef>
                <a:spcPts val="24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Решение.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1170432" y="8844183"/>
            <a:ext cx="581962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Очевидно,</a:t>
            </a:r>
            <a:r>
              <a:rPr sz="1600" spc="4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что</a:t>
            </a:r>
            <a:r>
              <a:rPr sz="1600" spc="4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50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49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49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элемента</a:t>
            </a:r>
            <a:r>
              <a:rPr sz="1600" spc="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бу-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1039367" y="9110684"/>
            <a:ext cx="1551209" cy="3176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1"/>
              </a:lnSpc>
              <a:spcBef>
                <a:spcPts val="0"/>
              </a:spcBef>
              <a:spcAft>
                <a:spcPts val="0"/>
              </a:spcAft>
            </a:pP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800" i="1" spc="-3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spc="24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800" i="1" spc="-2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800" i="1" spc="-8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80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50" i="1" baseline="2533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950" i="1" spc="158" baseline="2533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800" i="1" spc="17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spc="24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800" i="1" spc="-2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719328" y="9182512"/>
            <a:ext cx="43612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дет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2471928" y="9182512"/>
            <a:ext cx="452148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  <a:r>
              <a:rPr sz="1600" spc="3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Так</a:t>
            </a:r>
            <a:r>
              <a:rPr sz="1600" spc="3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как</a:t>
            </a:r>
            <a:r>
              <a:rPr sz="1600" spc="3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Р(t)</a:t>
            </a:r>
            <a:r>
              <a:rPr sz="1600" i="1" spc="31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близка</a:t>
            </a:r>
            <a:r>
              <a:rPr sz="1600" spc="3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</a:t>
            </a:r>
            <a:r>
              <a:rPr sz="1600" spc="3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единице,</a:t>
            </a:r>
            <a:r>
              <a:rPr sz="1600" spc="3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</a:t>
            </a:r>
            <a:r>
              <a:rPr sz="1600" spc="3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вычисления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1152144" y="9249714"/>
            <a:ext cx="197677" cy="218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1"/>
              </a:lnSpc>
              <a:spcBef>
                <a:spcPts val="0"/>
              </a:spcBef>
              <a:spcAft>
                <a:spcPts val="0"/>
              </a:spcAft>
            </a:pPr>
            <a:r>
              <a:rPr sz="13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2036064" y="9249714"/>
            <a:ext cx="224733" cy="218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1"/>
              </a:lnSpc>
              <a:spcBef>
                <a:spcPts val="0"/>
              </a:spcBef>
              <a:spcAft>
                <a:spcPts val="0"/>
              </a:spcAft>
            </a:pPr>
            <a:r>
              <a:rPr sz="13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719328" y="9453783"/>
            <a:ext cx="4762790" cy="51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Р(t)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удобно выполнить по формуле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(3.18).</a:t>
            </a:r>
          </a:p>
          <a:p>
            <a:pPr marL="1865376" marR="0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650" i="1" spc="37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9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9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222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1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50" spc="-1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14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19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-9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spc="198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1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650" spc="222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50" spc="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7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95</a:t>
            </a:r>
            <a:r>
              <a:rPr sz="1650" spc="-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05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1170432" y="9715912"/>
            <a:ext cx="154054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нашем случае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5343144" y="9715912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2697480" y="9803134"/>
            <a:ext cx="219316" cy="205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4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617976" y="9803134"/>
            <a:ext cx="219316" cy="205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4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с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4499419" y="1004760"/>
            <a:ext cx="371665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6246" y="1004760"/>
            <a:ext cx="49549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71153" y="866647"/>
            <a:ext cx="617410" cy="2497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08248" y="733528"/>
            <a:ext cx="634892" cy="303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2400" i="1" spc="112" baseline="3547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150" i="1" spc="-5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400" i="1" baseline="3547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2400" i="1" spc="-341" baseline="3547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400" i="1" baseline="3547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2400" i="1" spc="-229" baseline="3547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400" i="1" baseline="3547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07992" y="745719"/>
            <a:ext cx="509562" cy="26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00" i="1" spc="-1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97608" y="850414"/>
            <a:ext cx="264411" cy="2881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06879" y="850414"/>
            <a:ext cx="1882899" cy="288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8072" marR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  <a:r>
              <a:rPr sz="1600" spc="9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</a:p>
          <a:p>
            <a:pPr marL="0" marR="0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 (</a:t>
            </a:r>
            <a:r>
              <a:rPr sz="1600" i="1" spc="-14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 )</a:t>
            </a:r>
            <a:r>
              <a:rPr sz="1600" i="1" spc="125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50" i="1" baseline="3547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750" i="1" spc="163" baseline="3547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00" i="1" spc="20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spc="23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00" i="1" spc="-24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00" i="1" spc="11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047744" y="850414"/>
            <a:ext cx="544827" cy="2881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00" spc="9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</a:p>
          <a:p>
            <a:pPr marL="146303" marR="0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928616" y="850414"/>
            <a:ext cx="872720" cy="2881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</a:p>
          <a:p>
            <a:pPr marL="164592" marR="0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00" i="1" spc="-1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9996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70432" y="901096"/>
            <a:ext cx="65745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Тогда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93664" y="901096"/>
            <a:ext cx="20344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10512" y="977521"/>
            <a:ext cx="192902" cy="199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71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621280" y="977521"/>
            <a:ext cx="217103" cy="199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71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691128" y="1035280"/>
            <a:ext cx="254446" cy="26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517136" y="1035280"/>
            <a:ext cx="461396" cy="26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120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70432" y="1496342"/>
            <a:ext cx="5822631" cy="781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 № </a:t>
            </a:r>
            <a:r>
              <a:rPr sz="1600" u="sng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7.</a:t>
            </a:r>
          </a:p>
          <a:p>
            <a:pPr marL="0" marR="0">
              <a:lnSpc>
                <a:spcPts val="1780"/>
              </a:lnSpc>
              <a:spcBef>
                <a:spcPts val="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12600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элементов,</a:t>
            </a:r>
            <a:r>
              <a:rPr sz="16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средняя</a:t>
            </a:r>
            <a:r>
              <a:rPr sz="1600" spc="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от-</a:t>
            </a:r>
          </a:p>
          <a:p>
            <a:pPr marL="1252728" marR="0">
              <a:lnSpc>
                <a:spcPts val="1955"/>
              </a:lnSpc>
              <a:spcBef>
                <a:spcPts val="229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00" spc="8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00" i="1" spc="13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81784" y="1991815"/>
            <a:ext cx="263620" cy="2863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581656" y="1958592"/>
            <a:ext cx="4411406" cy="334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00" spc="-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</a:t>
            </a:r>
            <a:r>
              <a:rPr sz="1600" spc="4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1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1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  <a:r>
              <a:rPr sz="1150" spc="50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baseline="46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  <a:r>
              <a:rPr sz="1600" spc="1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Необходимо</a:t>
            </a:r>
            <a:r>
              <a:rPr sz="1600" spc="1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1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вероят-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19328" y="2028856"/>
            <a:ext cx="142460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казов</a:t>
            </a:r>
            <a:r>
              <a:rPr sz="1600" spc="1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00656" y="2118390"/>
            <a:ext cx="289022" cy="198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62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cp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19328" y="2312320"/>
            <a:ext cx="4019612" cy="499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ность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</a:t>
            </a:r>
            <a:r>
              <a:rPr sz="1600" spc="-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50</a:t>
            </a:r>
            <a:r>
              <a:rPr sz="1600" spc="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  <a:p>
            <a:pPr marL="451104" marR="0">
              <a:lnSpc>
                <a:spcPts val="1771"/>
              </a:lnSpc>
              <a:spcBef>
                <a:spcPts val="24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170432" y="2778663"/>
            <a:ext cx="510938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</a:t>
            </a:r>
            <a:r>
              <a:rPr sz="1600" spc="-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формуле (3.11) будет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611880" y="3007599"/>
            <a:ext cx="306882" cy="218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1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437632" y="3007599"/>
            <a:ext cx="306882" cy="218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1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746504" y="3039801"/>
            <a:ext cx="3821547" cy="290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89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00" spc="8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600" spc="136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00" spc="-5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00" i="1" spc="-16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</a:t>
            </a:r>
            <a:r>
              <a:rPr sz="1600" spc="-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2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600" spc="15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2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12600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0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  <a:r>
              <a:rPr sz="1600" i="1" spc="-1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032</a:t>
            </a:r>
            <a:r>
              <a:rPr sz="1600" spc="-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2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611368" y="3051439"/>
            <a:ext cx="554080" cy="296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688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</a:p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spc="5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868424" y="3167686"/>
            <a:ext cx="217774" cy="201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4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301240" y="3167686"/>
            <a:ext cx="291419" cy="201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84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cp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170432" y="3366927"/>
            <a:ext cx="241424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Тогда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 основании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(3.13)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169920" y="3606583"/>
            <a:ext cx="1360070" cy="409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4"/>
              </a:lnSpc>
              <a:spcBef>
                <a:spcPts val="0"/>
              </a:spcBef>
              <a:spcAft>
                <a:spcPts val="0"/>
              </a:spcAft>
            </a:pPr>
            <a:r>
              <a:rPr sz="1850" i="1" spc="-17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950" i="1" baseline="-2464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950" i="1" spc="-224" baseline="-2464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50" i="1" spc="27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850" i="1" spc="-28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850" i="1" spc="-9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85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50" i="1" spc="18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950" spc="103" baseline="46702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950" spc="31" baseline="46702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350" i="1" spc="57" baseline="-258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950" i="1" baseline="4670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19328" y="3985671"/>
            <a:ext cx="47281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или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435096" y="4213679"/>
            <a:ext cx="233743" cy="21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9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843528" y="4213679"/>
            <a:ext cx="189453" cy="21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9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197096" y="4213679"/>
            <a:ext cx="189453" cy="21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9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514344" y="4230615"/>
            <a:ext cx="1202017" cy="310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1"/>
              </a:lnSpc>
              <a:spcBef>
                <a:spcPts val="0"/>
              </a:spcBef>
              <a:spcAft>
                <a:spcPts val="0"/>
              </a:spcAft>
            </a:pPr>
            <a:r>
              <a:rPr sz="1750" spc="73" baseline="646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  <a:r>
              <a:rPr sz="1750" i="1" spc="-72" baseline="6469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50" spc="25" baseline="646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032</a:t>
            </a:r>
            <a:r>
              <a:rPr sz="1750" spc="-221" baseline="646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50" spc="73" baseline="646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50" i="1" spc="-71" baseline="6469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50" spc="17" baseline="646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001</a:t>
            </a:r>
            <a:r>
              <a:rPr sz="1750" spc="-292" baseline="646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750" spc="12" baseline="646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750" spc="79" baseline="646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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563368" y="4272268"/>
            <a:ext cx="1018690" cy="267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650" i="1" spc="-1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19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50" i="1" spc="122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172968" y="4248557"/>
            <a:ext cx="266281" cy="292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1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614672" y="4272268"/>
            <a:ext cx="566567" cy="27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sz="165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50" i="1" spc="-19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6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82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651760" y="4376919"/>
            <a:ext cx="218184" cy="202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2"/>
              </a:lnSpc>
              <a:spcBef>
                <a:spcPts val="0"/>
              </a:spcBef>
              <a:spcAft>
                <a:spcPts val="0"/>
              </a:spcAft>
            </a:pPr>
            <a:r>
              <a:rPr sz="11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1170432" y="4781199"/>
            <a:ext cx="40482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3.3</a:t>
            </a:r>
            <a:r>
              <a:rPr sz="1600" b="1" spc="24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Задачи для самостоятельного</a:t>
            </a:r>
            <a:r>
              <a:rPr sz="1600" b="1" spc="-22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решения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170432" y="5247543"/>
            <a:ext cx="5822703" cy="26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8.</a:t>
            </a:r>
            <a:r>
              <a:rPr sz="1600" spc="9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Аппаратура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связи</a:t>
            </a:r>
            <a:r>
              <a:rPr sz="1600" spc="1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1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2000</a:t>
            </a:r>
            <a:r>
              <a:rPr sz="1600" spc="1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элементов,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сред-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5175504" y="5473145"/>
            <a:ext cx="313539" cy="226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3938015" y="5508889"/>
            <a:ext cx="1369388" cy="301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75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700" spc="147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700" i="1" spc="-13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33</a:t>
            </a:r>
            <a:r>
              <a:rPr sz="1700" spc="151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7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719328" y="5564536"/>
            <a:ext cx="3347108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няя</a:t>
            </a:r>
            <a:r>
              <a:rPr sz="1600" spc="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2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5437632" y="5532511"/>
            <a:ext cx="1552280" cy="296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baseline="46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  <a:r>
              <a:rPr sz="1600" spc="2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Необходи-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4066032" y="5640053"/>
            <a:ext cx="297410" cy="208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cp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719328" y="5847999"/>
            <a:ext cx="6273734" cy="965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мо определить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 аппаратуры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течении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200</a:t>
            </a:r>
            <a:r>
              <a:rPr sz="1600" spc="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 среднее время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аппаратуры.</a:t>
            </a:r>
          </a:p>
          <a:p>
            <a:pPr marL="451104" marR="0">
              <a:lnSpc>
                <a:spcPts val="1780"/>
              </a:lnSpc>
              <a:spcBef>
                <a:spcPts val="93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9.</a:t>
            </a:r>
            <a:r>
              <a:rPr sz="1600" spc="1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Невосстанавливаемая</a:t>
            </a:r>
            <a:r>
              <a:rPr sz="1600" spc="1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процессе</a:t>
            </a:r>
            <a:r>
              <a:rPr sz="1600" spc="1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электрон-</a:t>
            </a:r>
          </a:p>
          <a:p>
            <a:pPr marL="0" marR="0">
              <a:lnSpc>
                <a:spcPts val="1780"/>
              </a:lnSpc>
              <a:spcBef>
                <a:spcPts val="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ная</a:t>
            </a:r>
            <a:r>
              <a:rPr sz="1600" spc="1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машина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200000</a:t>
            </a:r>
            <a:r>
              <a:rPr sz="1600" spc="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элементов,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средняя</a:t>
            </a:r>
            <a:r>
              <a:rPr sz="1600" spc="1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от-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2029968" y="6797624"/>
            <a:ext cx="553385" cy="310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5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550" spc="106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  <a:p>
            <a:pPr marL="109727" marR="0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9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cp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2471928" y="6791964"/>
            <a:ext cx="810451" cy="285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5"/>
              </a:lnSpc>
              <a:spcBef>
                <a:spcPts val="0"/>
              </a:spcBef>
              <a:spcAft>
                <a:spcPts val="0"/>
              </a:spcAft>
            </a:pPr>
            <a:r>
              <a:rPr sz="155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0,2</a:t>
            </a:r>
            <a:r>
              <a:rPr sz="2350" spc="21" baseline="-77332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  <a:r>
              <a:rPr sz="1550" spc="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900" spc="1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9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3255264" y="6809622"/>
            <a:ext cx="3737047" cy="29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baseline="46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  <a:r>
              <a:rPr sz="1600" spc="2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2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2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719328" y="6841648"/>
            <a:ext cx="143971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казов</a:t>
            </a:r>
            <a:r>
              <a:rPr sz="1600" spc="28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719328" y="7112920"/>
            <a:ext cx="6273807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электронной</a:t>
            </a:r>
            <a:r>
              <a:rPr sz="1600" spc="1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машины</a:t>
            </a:r>
            <a:r>
              <a:rPr sz="1600" spc="1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течении</a:t>
            </a:r>
            <a:r>
              <a:rPr sz="1600" spc="1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24</a:t>
            </a:r>
            <a:r>
              <a:rPr sz="1600" spc="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1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1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нее время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электронной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машины.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1170432" y="7579263"/>
            <a:ext cx="5818377" cy="26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2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2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10.</a:t>
            </a:r>
            <a:r>
              <a:rPr sz="1600" spc="2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3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управления</a:t>
            </a:r>
            <a:r>
              <a:rPr sz="1600" spc="2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2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25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6000</a:t>
            </a:r>
            <a:r>
              <a:rPr sz="1600" spc="3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элементов,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5413248" y="7809763"/>
            <a:ext cx="301484" cy="209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7"/>
              </a:lnSpc>
              <a:spcBef>
                <a:spcPts val="0"/>
              </a:spcBef>
              <a:spcAft>
                <a:spcPts val="0"/>
              </a:spcAft>
            </a:pPr>
            <a:r>
              <a:rPr sz="1100" spc="2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1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719328" y="7838933"/>
            <a:ext cx="3841118" cy="2910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средняя</a:t>
            </a:r>
            <a:r>
              <a:rPr sz="1600" spc="1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1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  <a:r>
              <a:rPr sz="2350" baseline="6000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4626864" y="7838933"/>
            <a:ext cx="707253" cy="27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6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50" spc="8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,</a:t>
            </a:r>
            <a:r>
              <a:rPr sz="1550" i="1" spc="116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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4779264" y="7833750"/>
            <a:ext cx="2210808" cy="296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550" spc="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016</a:t>
            </a:r>
            <a:r>
              <a:rPr sz="1550" spc="3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550" spc="17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(ч</a:t>
            </a:r>
            <a:r>
              <a:rPr sz="1600" baseline="46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-1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).</a:t>
            </a:r>
            <a:r>
              <a:rPr sz="1600" spc="1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Необхо-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4416552" y="7959836"/>
            <a:ext cx="284229" cy="192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1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cp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719328" y="8149240"/>
            <a:ext cx="6275059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димо</a:t>
            </a:r>
            <a:r>
              <a:rPr sz="1600" spc="9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1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течении</a:t>
            </a:r>
            <a:r>
              <a:rPr sz="1600" spc="1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11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600" spc="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 время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работы.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719328" y="8618632"/>
            <a:ext cx="6276840" cy="11969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11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  <a:r>
              <a:rPr sz="1600" spc="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Прибор</a:t>
            </a:r>
            <a:r>
              <a:rPr sz="1600" spc="1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n</a:t>
            </a:r>
            <a:r>
              <a:rPr sz="1600" i="1" spc="12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  <a:r>
              <a:rPr sz="1600" spc="1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узлов.</a:t>
            </a:r>
            <a:r>
              <a:rPr sz="1600" spc="1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Надежность</a:t>
            </a:r>
            <a:r>
              <a:rPr sz="1600" spc="1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узлов</a:t>
            </a:r>
          </a:p>
          <a:p>
            <a:pPr marL="0" marR="0">
              <a:lnSpc>
                <a:spcPts val="1780"/>
              </a:lnSpc>
              <a:spcBef>
                <a:spcPts val="3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характеризуется</a:t>
            </a:r>
            <a:r>
              <a:rPr sz="1600" spc="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вероятностью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 в</a:t>
            </a:r>
            <a:r>
              <a:rPr sz="16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которая</a:t>
            </a:r>
            <a:r>
              <a:rPr sz="16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равна:</a:t>
            </a:r>
            <a:r>
              <a:rPr sz="1600" spc="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P1(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600" spc="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0,98;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P2(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600" spc="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0,99;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P3(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600" spc="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0,998;</a:t>
            </a:r>
            <a:r>
              <a:rPr sz="1600" spc="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P4(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600" spc="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0,975;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P5(</a:t>
            </a:r>
            <a:r>
              <a:rPr sz="1600" i="1" spc="1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600" spc="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0,985.</a:t>
            </a:r>
            <a:r>
              <a:rPr sz="1600" spc="1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Необходимо</a:t>
            </a:r>
            <a:r>
              <a:rPr sz="1600" spc="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1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рабо-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ты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прибора.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70432" y="721263"/>
            <a:ext cx="5823542" cy="514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  <a:r>
              <a:rPr sz="1600" spc="1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пяти</a:t>
            </a:r>
            <a:r>
              <a:rPr sz="1600" spc="1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приборов,</a:t>
            </a:r>
            <a:r>
              <a:rPr sz="1600" spc="1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</a:p>
          <a:p>
            <a:pPr marL="4462272" marR="0">
              <a:lnSpc>
                <a:spcPts val="1896"/>
              </a:lnSpc>
              <a:spcBef>
                <a:spcPts val="0"/>
              </a:spcBef>
              <a:spcAft>
                <a:spcPts val="0"/>
              </a:spcAft>
            </a:pP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00" i="1" spc="118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</a:p>
          <a:p>
            <a:pPr marL="5458968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328" y="960463"/>
            <a:ext cx="4866469" cy="302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9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9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которых</a:t>
            </a:r>
            <a:r>
              <a:rPr sz="1600" spc="9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равно:</a:t>
            </a:r>
            <a:r>
              <a:rPr sz="1600" spc="11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i="1" spc="-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00" i="1" baseline="-2114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baseline="-211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600" spc="58" baseline="-211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00" spc="-1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83</a:t>
            </a:r>
            <a:r>
              <a:rPr sz="1500" spc="10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35624" y="963914"/>
            <a:ext cx="455533" cy="261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2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220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79008" y="1064138"/>
            <a:ext cx="279438" cy="1979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8"/>
              </a:lnSpc>
              <a:spcBef>
                <a:spcPts val="0"/>
              </a:spcBef>
              <a:spcAft>
                <a:spcPts val="0"/>
              </a:spcAft>
            </a:pPr>
            <a:r>
              <a:rPr sz="1150" i="1" spc="112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1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77568" y="1211414"/>
            <a:ext cx="5118352" cy="304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650" i="1" spc="1204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400</a:t>
            </a:r>
            <a:r>
              <a:rPr sz="1650" spc="16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  <a:r>
              <a:rPr sz="1600" spc="2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5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550" i="1" spc="1085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5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550" spc="-6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700</a:t>
            </a:r>
            <a:r>
              <a:rPr sz="1550" spc="2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1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приборов</a:t>
            </a:r>
            <a:r>
              <a:rPr sz="1600" spc="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справедлив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экс-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3712" y="1233315"/>
            <a:ext cx="1199726" cy="310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2250" i="1" baseline="3490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  <a:r>
              <a:rPr sz="1100" i="1" spc="7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1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  <a:r>
              <a:rPr sz="1100" spc="2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2250" baseline="34908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2250" spc="-46" baseline="3490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50" spc="18" baseline="349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280</a:t>
            </a:r>
            <a:r>
              <a:rPr sz="2250" spc="61" baseline="349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2400" spc="10" baseline="349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26920" y="1340267"/>
            <a:ext cx="284892" cy="203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50" i="1" spc="13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1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30880" y="1347414"/>
            <a:ext cx="271738" cy="1944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100" i="1" spc="78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1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9328" y="1510696"/>
            <a:ext cx="6269443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поненциальный</a:t>
            </a:r>
            <a:r>
              <a:rPr sz="1600" spc="3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</a:t>
            </a:r>
            <a:r>
              <a:rPr sz="1600" spc="4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надежности.</a:t>
            </a:r>
            <a:r>
              <a:rPr sz="1600" spc="3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3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найти</a:t>
            </a:r>
            <a:r>
              <a:rPr sz="1600" spc="3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3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9328" y="1980087"/>
            <a:ext cx="6274987" cy="11969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13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  <a:r>
              <a:rPr sz="1600" spc="1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Прибор</a:t>
            </a:r>
            <a:r>
              <a:rPr sz="1600" spc="1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1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пяти</a:t>
            </a:r>
            <a:r>
              <a:rPr sz="1600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блоков.</a:t>
            </a:r>
            <a:r>
              <a:rPr sz="1600" spc="1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без-</a:t>
            </a:r>
          </a:p>
          <a:p>
            <a:pPr marL="0" marR="0">
              <a:lnSpc>
                <a:spcPts val="1780"/>
              </a:lnSpc>
              <a:spcBef>
                <a:spcPts val="3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отказной</a:t>
            </a:r>
            <a:r>
              <a:rPr sz="1600" spc="27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27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каждого</a:t>
            </a:r>
            <a:r>
              <a:rPr sz="1600" spc="2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блока</a:t>
            </a:r>
            <a:r>
              <a:rPr sz="1600" spc="2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2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</a:t>
            </a:r>
            <a:r>
              <a:rPr sz="1600" spc="25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29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1600" i="1" spc="28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2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600" spc="2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2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равна: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P1(50)</a:t>
            </a:r>
            <a:r>
              <a:rPr sz="1600" spc="7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7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0,98;</a:t>
            </a:r>
            <a:r>
              <a:rPr sz="1600" spc="7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P2(50)</a:t>
            </a:r>
            <a:r>
              <a:rPr sz="1600" spc="7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7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0,99;</a:t>
            </a:r>
            <a:r>
              <a:rPr sz="1600" spc="7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P3(50)</a:t>
            </a:r>
            <a:r>
              <a:rPr sz="1600" spc="7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7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0,998;</a:t>
            </a:r>
            <a:r>
              <a:rPr sz="1600" spc="7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P4(50)</a:t>
            </a:r>
            <a:r>
              <a:rPr sz="1600" spc="7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7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0,975;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P5(50)</a:t>
            </a:r>
            <a:r>
              <a:rPr sz="1600" spc="5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5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0,985.</a:t>
            </a:r>
            <a:r>
              <a:rPr sz="1600" spc="5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Справедлив</a:t>
            </a:r>
            <a:r>
              <a:rPr sz="1600" spc="5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экспоненциальный</a:t>
            </a:r>
            <a:r>
              <a:rPr sz="1600" spc="5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</a:t>
            </a:r>
            <a:r>
              <a:rPr sz="1600" spc="5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надежности.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найти среднее время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прибора.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"/>
          <p:cNvSpPr/>
          <p:nvPr/>
        </p:nvSpPr>
        <p:spPr>
          <a:xfrm>
            <a:off x="2346960" y="8949944"/>
            <a:ext cx="2389632" cy="701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2346960" y="7337552"/>
            <a:ext cx="2279904" cy="6339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10384" y="3055112"/>
            <a:ext cx="2938272" cy="2273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9328" y="724311"/>
            <a:ext cx="6277703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4</a:t>
            </a:r>
            <a:r>
              <a:rPr sz="1600" b="1" spc="120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spc="-20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РАСЧЕТ</a:t>
            </a:r>
            <a:r>
              <a:rPr sz="1600" b="1" spc="134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НАДЕЖНОСТИ</a:t>
            </a:r>
            <a:r>
              <a:rPr sz="1600" b="1" spc="157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СИСТЕМЫ</a:t>
            </a:r>
            <a:r>
              <a:rPr sz="1600" b="1" spc="168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С</a:t>
            </a:r>
            <a:r>
              <a:rPr sz="1600" b="1" spc="125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ПОСТОЯННЫМ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РЕЗЕРВИРОВАНИЕМ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70432" y="1425351"/>
            <a:ext cx="2703468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4.1 Теоретические</a:t>
            </a:r>
            <a:r>
              <a:rPr sz="1600" b="1" spc="15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сведения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9328" y="1891696"/>
            <a:ext cx="6276840" cy="1196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постоянном</a:t>
            </a:r>
            <a:r>
              <a:rPr sz="1600" spc="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резервировании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резервные</a:t>
            </a:r>
            <a:r>
              <a:rPr sz="1600" spc="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элементы</a:t>
            </a:r>
            <a:r>
              <a:rPr sz="1600" spc="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1,</a:t>
            </a:r>
            <a:r>
              <a:rPr sz="1600" spc="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2,....</a:t>
            </a:r>
            <a:r>
              <a:rPr sz="1600" spc="6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со-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единены</a:t>
            </a:r>
            <a:r>
              <a:rPr sz="1600" spc="4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параллельно</a:t>
            </a:r>
            <a:r>
              <a:rPr sz="1600" spc="4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spc="4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основным</a:t>
            </a:r>
            <a:r>
              <a:rPr sz="1600" spc="4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(рабочим)</a:t>
            </a:r>
            <a:r>
              <a:rPr sz="1600" spc="4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элементом</a:t>
            </a:r>
            <a:r>
              <a:rPr sz="1600" spc="4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45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всего</a:t>
            </a:r>
            <a:r>
              <a:rPr sz="1600" spc="1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периода</a:t>
            </a:r>
            <a:r>
              <a:rPr sz="1600" spc="1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системы.</a:t>
            </a:r>
            <a:r>
              <a:rPr sz="1600" spc="1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Все</a:t>
            </a:r>
            <a:r>
              <a:rPr sz="1600" spc="1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элементы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соединены</a:t>
            </a:r>
            <a:r>
              <a:rPr sz="1600" spc="1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постоянно,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перестройка</a:t>
            </a:r>
            <a:r>
              <a:rPr sz="1600" spc="2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схемы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2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отказах</a:t>
            </a:r>
            <a:r>
              <a:rPr sz="1600" spc="2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</a:t>
            </a:r>
            <a:r>
              <a:rPr sz="1600" spc="2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происходит,</a:t>
            </a:r>
            <a:r>
              <a:rPr sz="1600" spc="2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отказавший</a:t>
            </a:r>
            <a:r>
              <a:rPr sz="1600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</a:t>
            </a:r>
            <a:r>
              <a:rPr sz="1600" spc="-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отключается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(рисунок</a:t>
            </a:r>
            <a:r>
              <a:rPr sz="1600" spc="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4.1).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70432" y="5329840"/>
            <a:ext cx="491905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Рисунок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4.1 – Система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 постоянным резервированием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70432" y="5799231"/>
            <a:ext cx="5162840" cy="279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 отказа системы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600" i="1" spc="14" baseline="-14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6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(t)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определяется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формулой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511296" y="6049218"/>
            <a:ext cx="260288" cy="20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02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62784" y="6187986"/>
            <a:ext cx="639625" cy="3086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3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8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1800" i="1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c</a:t>
            </a:r>
            <a:r>
              <a:rPr sz="1800" i="1" spc="-263" baseline="-24727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spc="24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650" i="1" spc="-24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65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96184" y="6158426"/>
            <a:ext cx="818574" cy="3309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06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650" spc="-1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650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650" spc="1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FEVUPN+Symbol"/>
                <a:cs typeface="FEVUPN+Symbol"/>
              </a:rPr>
              <a:t>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697224" y="6187986"/>
            <a:ext cx="718555" cy="3086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3"/>
              </a:lnSpc>
              <a:spcBef>
                <a:spcPts val="0"/>
              </a:spcBef>
              <a:spcAft>
                <a:spcPts val="0"/>
              </a:spcAft>
            </a:pPr>
            <a:r>
              <a:rPr sz="2500" i="1" baseline="194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q</a:t>
            </a:r>
            <a:r>
              <a:rPr sz="2500" i="1" spc="-297" baseline="194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800" i="1" baseline="-5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j</a:t>
            </a:r>
            <a:r>
              <a:rPr sz="1800" i="1" spc="-231" baseline="-5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500" i="1" baseline="194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</a:t>
            </a:r>
            <a:r>
              <a:rPr sz="2500" i="1" spc="-358" baseline="194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500" i="1" baseline="194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  <a:r>
              <a:rPr sz="2500" i="1" spc="-243" baseline="194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2500" i="1" spc="147" baseline="194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45184" y="6232048"/>
            <a:ext cx="547863" cy="18217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(4.1)</a:t>
            </a:r>
          </a:p>
          <a:p>
            <a:pPr marL="4383" marR="0">
              <a:lnSpc>
                <a:spcPts val="1780"/>
              </a:lnSpc>
              <a:spcBef>
                <a:spcPts val="1043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(4.2)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474720" y="6422291"/>
            <a:ext cx="370353" cy="2211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1"/>
              </a:lnSpc>
              <a:spcBef>
                <a:spcPts val="0"/>
              </a:spcBef>
              <a:spcAft>
                <a:spcPts val="0"/>
              </a:spcAft>
            </a:pPr>
            <a:r>
              <a:rPr sz="1200" i="1" spc="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j</a:t>
            </a:r>
            <a:r>
              <a:rPr sz="1200" spc="37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2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9328" y="6878224"/>
            <a:ext cx="4255003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 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q</a:t>
            </a:r>
            <a:r>
              <a:rPr sz="1600" baseline="-14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j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 – вероятность</a:t>
            </a:r>
            <a:r>
              <a:rPr sz="1600" spc="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отказа j-го элемента.</a:t>
            </a:r>
          </a:p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 безотказной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19328" y="8255920"/>
            <a:ext cx="5012988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 Р</a:t>
            </a:r>
            <a:r>
              <a:rPr sz="1600" baseline="-14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j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 - вероятность безотказной работы</a:t>
            </a:r>
            <a:r>
              <a:rPr sz="1600" spc="-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j-го элемента</a:t>
            </a:r>
          </a:p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Если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Рj(t) = Р(t), j =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</a:t>
            </a:r>
            <a:r>
              <a:rPr sz="1600" spc="-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1,</a:t>
            </a:r>
            <a:r>
              <a:rPr sz="1600" spc="-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 .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 ,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m</a:t>
            </a:r>
            <a:r>
              <a:rPr sz="1600" spc="-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449568" y="9469024"/>
            <a:ext cx="5436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(4.3)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"/>
          <p:cNvSpPr/>
          <p:nvPr/>
        </p:nvSpPr>
        <p:spPr>
          <a:xfrm>
            <a:off x="2395728" y="8818881"/>
            <a:ext cx="2718816" cy="6156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1286256" y="3893312"/>
            <a:ext cx="4986528" cy="30632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5728" y="1183639"/>
            <a:ext cx="2389632" cy="17251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9328" y="721263"/>
            <a:ext cx="6268523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экспоненциальном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законе надежности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отдельных элементов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имеем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46520" y="2726847"/>
            <a:ext cx="54652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(4.4)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9328" y="3193192"/>
            <a:ext cx="6276592" cy="7305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Резервирование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называется</a:t>
            </a:r>
            <a:r>
              <a:rPr sz="1600" spc="1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общим,</a:t>
            </a:r>
            <a:r>
              <a:rPr sz="1600" spc="1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если</a:t>
            </a:r>
            <a:r>
              <a:rPr sz="1600" spc="1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резервируется</a:t>
            </a:r>
            <a:r>
              <a:rPr sz="1600" spc="1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вся</a:t>
            </a:r>
            <a:r>
              <a:rPr sz="1600" spc="1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тема,</a:t>
            </a:r>
            <a:r>
              <a:rPr sz="160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состоящая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последовательного</a:t>
            </a:r>
            <a:r>
              <a:rPr sz="1600" spc="1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соединения</a:t>
            </a:r>
            <a:r>
              <a:rPr sz="1600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n</a:t>
            </a:r>
            <a:r>
              <a:rPr sz="1600" spc="1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элементов.</a:t>
            </a:r>
            <a:r>
              <a:rPr sz="1600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Схе-</a:t>
            </a:r>
          </a:p>
          <a:p>
            <a:pPr marL="0" marR="0">
              <a:lnSpc>
                <a:spcPts val="1780"/>
              </a:lnSpc>
              <a:spcBef>
                <a:spcPts val="9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ма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общего резервирования показана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-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рисунке 4.2.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43456" y="6957472"/>
            <a:ext cx="422326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Рисунок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4.2 – Система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общего резервирования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9328" y="7423816"/>
            <a:ext cx="6273733" cy="1199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Основная</a:t>
            </a:r>
            <a:r>
              <a:rPr sz="1600" spc="30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цепь</a:t>
            </a:r>
            <a:r>
              <a:rPr sz="1600" spc="3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содержит</a:t>
            </a:r>
            <a:r>
              <a:rPr sz="1600" spc="2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n</a:t>
            </a:r>
            <a:r>
              <a:rPr sz="1600" spc="3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элементов.</a:t>
            </a:r>
            <a:r>
              <a:rPr sz="1600" spc="2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Число</a:t>
            </a:r>
            <a:r>
              <a:rPr sz="1600" spc="2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резервных</a:t>
            </a:r>
            <a:r>
              <a:rPr sz="1600" spc="2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цепей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равно m,</a:t>
            </a:r>
            <a:r>
              <a:rPr sz="1600" spc="-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т.е. кратность резервирования равна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m.</a:t>
            </a:r>
          </a:p>
          <a:p>
            <a:pPr marL="451104" marR="0">
              <a:lnSpc>
                <a:spcPts val="1780"/>
              </a:lnSpc>
              <a:spcBef>
                <a:spcPts val="9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Определим</a:t>
            </a:r>
            <a:r>
              <a:rPr sz="1600" spc="26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количественные</a:t>
            </a:r>
            <a:r>
              <a:rPr sz="1600" spc="2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характеристики</a:t>
            </a:r>
            <a:r>
              <a:rPr sz="1600" spc="2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</a:t>
            </a:r>
            <a:r>
              <a:rPr sz="1600" spc="25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мы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общим</a:t>
            </a:r>
            <a:r>
              <a:rPr sz="1600" spc="-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резервированием (резервные цепи включены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постоянно).</a:t>
            </a:r>
          </a:p>
          <a:p>
            <a:pPr marL="451104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Запишем вероятность безотказной работы</a:t>
            </a:r>
            <a:r>
              <a:rPr sz="1600" spc="-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j-ой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цепи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46520" y="9252616"/>
            <a:ext cx="54652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(4.5)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2746248" y="7910576"/>
            <a:ext cx="2511552" cy="6918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2746248" y="7163815"/>
            <a:ext cx="2267711" cy="701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94888" y="6322568"/>
            <a:ext cx="1097279" cy="332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95728" y="4670551"/>
            <a:ext cx="2645664" cy="6736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5728" y="3000248"/>
            <a:ext cx="2426208" cy="6918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46832" y="1649983"/>
            <a:ext cx="2109215" cy="6035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9328" y="721263"/>
            <a:ext cx="6273545" cy="5142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</a:t>
            </a:r>
            <a:r>
              <a:rPr sz="1600" baseline="-1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ij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(t),</a:t>
            </a:r>
            <a:r>
              <a:rPr sz="1600" spc="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j</a:t>
            </a:r>
            <a:r>
              <a:rPr sz="1600" spc="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1,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2,</a:t>
            </a:r>
            <a:r>
              <a:rPr sz="1600" spc="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...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m;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1,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2,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3,</a:t>
            </a:r>
            <a:r>
              <a:rPr sz="1600" spc="-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...,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n –</a:t>
            </a:r>
            <a:r>
              <a:rPr sz="1600" spc="4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ра-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боты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элемента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</a:t>
            </a:r>
            <a:r>
              <a:rPr sz="1600" baseline="-1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ij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70432" y="1190655"/>
            <a:ext cx="269990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 отказа j-ой цепи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46520" y="2071527"/>
            <a:ext cx="54652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(4.6)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70432" y="2537871"/>
            <a:ext cx="496608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 отказа системы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общим резервированием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46520" y="3510183"/>
            <a:ext cx="54652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(4.7)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19328" y="3976527"/>
            <a:ext cx="6276593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общим</a:t>
            </a:r>
            <a:r>
              <a:rPr sz="1600" spc="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резервирова-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нием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46520" y="5162199"/>
            <a:ext cx="54652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(4.8)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9328" y="5628543"/>
            <a:ext cx="6272777" cy="495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Частный</a:t>
            </a:r>
            <a:r>
              <a:rPr sz="1600" spc="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случай:</a:t>
            </a:r>
            <a:r>
              <a:rPr sz="160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основная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резервные</a:t>
            </a:r>
            <a:r>
              <a:rPr sz="1600" spc="6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цепи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имеют</a:t>
            </a:r>
            <a:r>
              <a:rPr sz="1600" spc="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одинаковую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надежность,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т.е.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446520" y="6472840"/>
            <a:ext cx="54652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(4.9)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70432" y="6939183"/>
            <a:ext cx="65745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Тогда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345936" y="7682896"/>
            <a:ext cx="64711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(4.10)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345936" y="8420512"/>
            <a:ext cx="64711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(4.11)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170432" y="8655207"/>
            <a:ext cx="494003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Рассмотрим экспоненциальный закон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надежности,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т.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779776" y="9126310"/>
            <a:ext cx="1170828" cy="3829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3"/>
              </a:lnSpc>
              <a:spcBef>
                <a:spcPts val="0"/>
              </a:spcBef>
              <a:spcAft>
                <a:spcPts val="0"/>
              </a:spcAft>
            </a:pPr>
            <a:r>
              <a:rPr sz="1700" i="1" spc="-24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P</a:t>
            </a:r>
            <a:r>
              <a:rPr sz="1800" i="1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800" i="1" spc="-255" baseline="-24000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spc="226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(t</a:t>
            </a:r>
            <a:r>
              <a:rPr sz="1700" i="1" spc="-28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i="1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)</a:t>
            </a:r>
            <a:r>
              <a:rPr sz="1700" i="1" spc="-7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 </a:t>
            </a:r>
            <a:r>
              <a:rPr sz="1700" dirty="0">
                <a:solidFill>
                  <a:srgbClr val="000000"/>
                </a:solidFill>
                <a:latin typeface="FEVUPN+Symbol"/>
                <a:cs typeface="FEVUPN+Symbol"/>
              </a:rPr>
              <a:t></a:t>
            </a:r>
            <a:r>
              <a:rPr sz="1700" spc="-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i="1" spc="133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e</a:t>
            </a:r>
            <a:r>
              <a:rPr sz="1800" spc="61" baseline="47999" dirty="0">
                <a:solidFill>
                  <a:srgbClr val="000000"/>
                </a:solidFill>
                <a:latin typeface="FEVUPN+Symbol"/>
                <a:cs typeface="FEVUPN+Symbol"/>
              </a:rPr>
              <a:t></a:t>
            </a:r>
            <a:r>
              <a:rPr sz="1800" spc="-35" baseline="47999" dirty="0">
                <a:solidFill>
                  <a:srgbClr val="000000"/>
                </a:solidFill>
                <a:latin typeface="TLMUER+Symbol"/>
                <a:cs typeface="TLMUER+Symbol"/>
              </a:rPr>
              <a:t></a:t>
            </a:r>
            <a:r>
              <a:rPr sz="1300" i="1" spc="28" baseline="-25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i</a:t>
            </a:r>
            <a:r>
              <a:rPr sz="1800" i="1" baseline="47999" dirty="0">
                <a:solidFill>
                  <a:srgbClr val="000000"/>
                </a:solidFill>
                <a:latin typeface="HLEQSS+Times New Roman Italic"/>
                <a:cs typeface="HLEQSS+Times New Roman Italic"/>
              </a:rPr>
              <a:t>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345936" y="9219088"/>
            <a:ext cx="64711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(4.12)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70432" y="9712864"/>
            <a:ext cx="4410474" cy="65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этом случае формулы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(4.10),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(4.11) примут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вид</a:t>
            </a:r>
          </a:p>
          <a:p>
            <a:pPr marL="2508503" marR="0">
              <a:lnSpc>
                <a:spcPts val="1780"/>
              </a:lnSpc>
              <a:spcBef>
                <a:spcPts val="1217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2746248" y="6810248"/>
            <a:ext cx="1645920" cy="5943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44040" y="5207000"/>
            <a:ext cx="3938015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44040" y="3935983"/>
            <a:ext cx="4376927" cy="5273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46248" y="2332736"/>
            <a:ext cx="1316735" cy="6248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43200" y="1646937"/>
            <a:ext cx="2023871" cy="40843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6248" y="948944"/>
            <a:ext cx="1792223" cy="4206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45936" y="1187608"/>
            <a:ext cx="647111" cy="95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(4.13)</a:t>
            </a:r>
          </a:p>
          <a:p>
            <a:pPr marL="0" marR="0">
              <a:lnSpc>
                <a:spcPts val="1780"/>
              </a:lnSpc>
              <a:spcBef>
                <a:spcPts val="3619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(4.14)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5936" y="2775615"/>
            <a:ext cx="647111" cy="17699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(4.15)</a:t>
            </a:r>
          </a:p>
          <a:p>
            <a:pPr marL="0" marR="0">
              <a:lnSpc>
                <a:spcPts val="1780"/>
              </a:lnSpc>
              <a:spcBef>
                <a:spcPts val="1002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(4.16)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9328" y="3241959"/>
            <a:ext cx="5714227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 λ</a:t>
            </a:r>
            <a:r>
              <a:rPr sz="1600" baseline="-1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  <a:r>
              <a:rPr sz="1600" spc="11" baseline="-1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 цепи,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состоящей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-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n элементов.</a:t>
            </a:r>
          </a:p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Частота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 системы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общим</a:t>
            </a:r>
            <a:r>
              <a:rPr sz="1600" spc="-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резервированием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70432" y="4747672"/>
            <a:ext cx="530126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 общим</a:t>
            </a:r>
            <a:r>
              <a:rPr sz="1600" spc="-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резервированием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45936" y="5884575"/>
            <a:ext cx="64711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(4.17)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70432" y="6350920"/>
            <a:ext cx="552887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 время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 работы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резервированной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45936" y="7222648"/>
            <a:ext cx="64711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(4.18)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9328" y="7688992"/>
            <a:ext cx="627513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</a:t>
            </a:r>
            <a:r>
              <a:rPr sz="1600" spc="5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1/λ</a:t>
            </a:r>
            <a:r>
              <a:rPr sz="1600" spc="1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</a:t>
            </a:r>
            <a:r>
              <a:rPr sz="1600" spc="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нерезервированной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79576" y="7781935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743456" y="7781935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19328" y="7923687"/>
            <a:ext cx="940184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170432" y="8393080"/>
            <a:ext cx="266915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4.2</a:t>
            </a:r>
            <a:r>
              <a:rPr sz="1600" b="1" spc="22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Решение типовых задач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170432" y="8860310"/>
            <a:ext cx="118185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 № </a:t>
            </a:r>
            <a:r>
              <a:rPr sz="1600" u="sng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19328" y="9091072"/>
            <a:ext cx="6276593" cy="733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 из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600" spc="-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равнонадежных элементов,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элемента</a:t>
            </a:r>
            <a:r>
              <a:rPr sz="1600" spc="1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m</a:t>
            </a:r>
            <a:r>
              <a:rPr sz="1600" baseline="-1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</a:t>
            </a:r>
            <a:r>
              <a:rPr sz="1600" spc="123" baseline="-1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1000</a:t>
            </a:r>
            <a:r>
              <a:rPr sz="1600" spc="1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1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Предполагается,</a:t>
            </a:r>
            <a:r>
              <a:rPr sz="1600" spc="1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что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спра-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ведлив</a:t>
            </a:r>
            <a:r>
              <a:rPr sz="1600" spc="1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экспоненциальный</a:t>
            </a:r>
            <a:r>
              <a:rPr sz="1600" spc="1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</a:t>
            </a:r>
            <a:r>
              <a:rPr sz="1600" spc="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</a:t>
            </a:r>
            <a:r>
              <a:rPr sz="1600" spc="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</a:t>
            </a:r>
            <a:r>
              <a:rPr sz="1600" spc="1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"/>
          <p:cNvSpPr/>
          <p:nvPr/>
        </p:nvSpPr>
        <p:spPr>
          <a:xfrm>
            <a:off x="1170432" y="6029960"/>
            <a:ext cx="5413248" cy="2828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1170432" y="4722368"/>
            <a:ext cx="3352800" cy="838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00400" y="2591816"/>
            <a:ext cx="1609344" cy="7315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19328" y="721263"/>
            <a:ext cx="6273545" cy="733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28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основная</a:t>
            </a:r>
            <a:r>
              <a:rPr sz="1600" spc="28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28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резервная</a:t>
            </a:r>
            <a:r>
              <a:rPr sz="1600" spc="2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2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равнонадежны.</a:t>
            </a:r>
            <a:r>
              <a:rPr sz="1600" spc="2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Необходимо</a:t>
            </a:r>
            <a:r>
              <a:rPr sz="1600" spc="2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найти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m</a:t>
            </a:r>
            <a:r>
              <a:rPr sz="1600" baseline="-1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tc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а</a:t>
            </a:r>
            <a:r>
              <a:rPr sz="16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также</a:t>
            </a:r>
            <a:r>
              <a:rPr sz="160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частоту</a:t>
            </a:r>
            <a:r>
              <a:rPr sz="1600" spc="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отка-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зов</a:t>
            </a:r>
            <a:r>
              <a:rPr sz="1600" spc="2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f</a:t>
            </a:r>
            <a:r>
              <a:rPr sz="1600" spc="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</a:t>
            </a:r>
            <a:r>
              <a:rPr sz="1600" spc="2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2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2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4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</a:t>
            </a:r>
            <a:r>
              <a:rPr sz="1600" spc="2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2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момент</a:t>
            </a:r>
            <a:r>
              <a:rPr sz="1600" spc="2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времени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</a:t>
            </a:r>
            <a:r>
              <a:rPr sz="1600" spc="2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19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3000" y="1283598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58768" y="1283598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9328" y="1422303"/>
            <a:ext cx="194648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следующих случаях: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70432" y="1656999"/>
            <a:ext cx="5708131" cy="73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а)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нерезервированной системы,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б) дублированной системы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постоянно включенном</a:t>
            </a:r>
            <a:r>
              <a:rPr sz="1600" spc="-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резерве.</a:t>
            </a:r>
          </a:p>
          <a:p>
            <a:pPr marL="0" marR="0">
              <a:lnSpc>
                <a:spcPts val="1771"/>
              </a:lnSpc>
              <a:spcBef>
                <a:spcPts val="5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70432" y="2358039"/>
            <a:ext cx="317191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а) Интенсивность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 системы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9328" y="3324256"/>
            <a:ext cx="622799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 λ</a:t>
            </a:r>
            <a:r>
              <a:rPr sz="1600" spc="4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 системы;</a:t>
            </a:r>
            <a:r>
              <a:rPr sz="1600" spc="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2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</a:t>
            </a:r>
            <a:r>
              <a:rPr sz="16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 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i-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43000" y="3417198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86072" y="3417198"/>
            <a:ext cx="18965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9328" y="3555904"/>
            <a:ext cx="185501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го элемента; n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10.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70432" y="3790599"/>
            <a:ext cx="42081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2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1/m</a:t>
            </a:r>
            <a:r>
              <a:rPr sz="1600" spc="5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1/1000</a:t>
            </a:r>
            <a:r>
              <a:rPr sz="1600" spc="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0,001; i =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1,</a:t>
            </a:r>
            <a:r>
              <a:rPr sz="1600" spc="-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2,</a:t>
            </a:r>
            <a:r>
              <a:rPr sz="1600" spc="-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 .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.,n ;</a:t>
            </a:r>
            <a:r>
              <a:rPr sz="1600" spc="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-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-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;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67968" y="3883543"/>
            <a:ext cx="18965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840992" y="3883543"/>
            <a:ext cx="226906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ti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132832" y="3883543"/>
            <a:ext cx="18965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170432" y="4025295"/>
            <a:ext cx="279078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4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5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0,001*10 = 0,01 1/час;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267968" y="4118239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642872" y="4118239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70432" y="4256943"/>
            <a:ext cx="1730077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mtc=1/λc=100 час;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f</a:t>
            </a:r>
            <a:r>
              <a:rPr sz="1600" spc="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 =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4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 P</a:t>
            </a:r>
            <a:r>
              <a:rPr sz="1600" spc="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(t);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237488" y="4584583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804416" y="4584583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218944" y="4584583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170432" y="5796184"/>
            <a:ext cx="421441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б) Среднее время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170432" y="9095006"/>
            <a:ext cx="118173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 № </a:t>
            </a:r>
            <a:r>
              <a:rPr sz="1600" u="sng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170432" y="9325768"/>
            <a:ext cx="5823608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59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технологической</a:t>
            </a:r>
            <a:r>
              <a:rPr sz="1600" spc="5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системе</a:t>
            </a:r>
            <a:r>
              <a:rPr sz="1600" spc="5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применено</a:t>
            </a:r>
            <a:r>
              <a:rPr sz="1600" spc="5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дублирование</a:t>
            </a:r>
            <a:r>
              <a:rPr sz="1600" spc="5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канала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719328" y="9528440"/>
            <a:ext cx="6274101" cy="296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управления.</a:t>
            </a:r>
            <a:r>
              <a:rPr sz="1600" spc="3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3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3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канала</a:t>
            </a:r>
            <a:r>
              <a:rPr sz="1600" spc="30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2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30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600" spc="-14" baseline="464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-2</a:t>
            </a:r>
            <a:r>
              <a:rPr sz="1600" spc="311" baseline="464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1/ч.</a:t>
            </a:r>
            <a:r>
              <a:rPr sz="1600" spc="2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Рассчитать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1859279" y="7108952"/>
            <a:ext cx="4291584" cy="713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2340864" y="6057392"/>
            <a:ext cx="3328415" cy="585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01824" y="5005831"/>
            <a:ext cx="3206495" cy="5852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82112" y="2357119"/>
            <a:ext cx="1645920" cy="7802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19328" y="721263"/>
            <a:ext cx="6274756" cy="49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2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20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</a:t>
            </a:r>
            <a:r>
              <a:rPr sz="1600" spc="-10" baseline="-1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</a:t>
            </a:r>
            <a:r>
              <a:rPr sz="1600" spc="1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1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</a:t>
            </a:r>
            <a:r>
              <a:rPr sz="1600" spc="2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</a:t>
            </a:r>
            <a:r>
              <a:rPr sz="1600" spc="2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ч,</a:t>
            </a:r>
            <a:r>
              <a:rPr sz="1600" spc="2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3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3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3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m</a:t>
            </a:r>
            <a:r>
              <a:rPr sz="1600" spc="3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3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частоту</a:t>
            </a:r>
            <a:r>
              <a:rPr sz="1600" spc="3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3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f</a:t>
            </a:r>
            <a:r>
              <a:rPr sz="1600" spc="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(t),</a:t>
            </a:r>
            <a:r>
              <a:rPr sz="1600" spc="3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46703" y="1048902"/>
            <a:ext cx="249166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tc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160264" y="1048902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9328" y="1190655"/>
            <a:ext cx="2044435" cy="279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-10" baseline="-14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 системы.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70432" y="1657885"/>
            <a:ext cx="96460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70432" y="1891696"/>
            <a:ext cx="582078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2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данном</a:t>
            </a:r>
            <a:r>
              <a:rPr sz="1600" spc="1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случае</a:t>
            </a:r>
            <a:r>
              <a:rPr sz="1600" spc="1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n</a:t>
            </a:r>
            <a:r>
              <a:rPr sz="1600" spc="2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1;</a:t>
            </a:r>
            <a:r>
              <a:rPr sz="1600" spc="2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48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λ;</a:t>
            </a:r>
            <a:r>
              <a:rPr sz="1600" spc="2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6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nλ</a:t>
            </a:r>
            <a:r>
              <a:rPr sz="1600" spc="1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λ;</a:t>
            </a:r>
            <a:r>
              <a:rPr sz="1600" spc="2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m</a:t>
            </a:r>
            <a:r>
              <a:rPr sz="1600" spc="1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1.</a:t>
            </a:r>
            <a:r>
              <a:rPr sz="1600" spc="1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</a:t>
            </a:r>
            <a:r>
              <a:rPr sz="1600" spc="19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формуле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450336" y="1984638"/>
            <a:ext cx="18965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081271" y="1984638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9328" y="2123344"/>
            <a:ext cx="123862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(4.14)</a:t>
            </a:r>
            <a:r>
              <a:rPr sz="1600" spc="-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имеем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9328" y="3340998"/>
            <a:ext cx="4820992" cy="762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 приложения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П.7.14 [5] получим 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e</a:t>
            </a:r>
            <a:r>
              <a:rPr sz="1600" baseline="465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-0,1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0,9048.</a:t>
            </a:r>
          </a:p>
          <a:p>
            <a:pPr marL="0" marR="0">
              <a:lnSpc>
                <a:spcPts val="1780"/>
              </a:lnSpc>
              <a:spcBef>
                <a:spcPts val="189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Тогда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136392" y="4042039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70432" y="4074063"/>
            <a:ext cx="479360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</a:t>
            </a:r>
            <a:r>
              <a:rPr sz="1600" spc="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(10) = 1 - (1 - 0,9048)</a:t>
            </a:r>
            <a:r>
              <a:rPr sz="1600" spc="50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 1</a:t>
            </a:r>
            <a:r>
              <a:rPr sz="16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</a:t>
            </a:r>
            <a:r>
              <a:rPr sz="1600" spc="-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0,09522</a:t>
            </a:r>
            <a:r>
              <a:rPr sz="1600" spc="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≈ 1 -</a:t>
            </a:r>
            <a:r>
              <a:rPr sz="1600" spc="-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0,01 = 0,99.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283208" y="4167007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170432" y="4540407"/>
            <a:ext cx="3655685" cy="279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Определим m</a:t>
            </a:r>
            <a:r>
              <a:rPr sz="1600" baseline="-14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tс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 формулы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(4.4) имеем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170432" y="5826663"/>
            <a:ext cx="3814124" cy="279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Определим частоту</a:t>
            </a:r>
            <a:r>
              <a:rPr sz="1600" spc="-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f</a:t>
            </a:r>
            <a:r>
              <a:rPr sz="1600" spc="-10" baseline="-14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(t).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Получим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70432" y="6643528"/>
            <a:ext cx="4256126" cy="27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Определим интенсивность отказов</a:t>
            </a:r>
            <a:r>
              <a:rPr sz="1600" spc="-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-10" baseline="-14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(t).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Имеем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70432" y="8058685"/>
            <a:ext cx="117866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3адача № 3.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19328" y="8289447"/>
            <a:ext cx="6274865" cy="1666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Нерезервированная</a:t>
            </a:r>
            <a:r>
              <a:rPr sz="1600" spc="5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5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управления</a:t>
            </a:r>
            <a:r>
              <a:rPr sz="1600" spc="5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5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4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n</a:t>
            </a:r>
            <a:r>
              <a:rPr sz="1600" spc="5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4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5000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элементов.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повышения</a:t>
            </a:r>
            <a:r>
              <a:rPr sz="1600" spc="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предполагается</a:t>
            </a:r>
            <a:r>
              <a:rPr sz="1600" spc="9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про-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вести</a:t>
            </a:r>
            <a:r>
              <a:rPr sz="1600" spc="25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общее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дублирование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элементов.</a:t>
            </a:r>
            <a:r>
              <a:rPr sz="1600" spc="2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Чтобы</a:t>
            </a:r>
            <a:r>
              <a:rPr sz="1600" spc="2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приближенно</a:t>
            </a:r>
            <a:r>
              <a:rPr sz="1600" spc="2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оценить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возможность</a:t>
            </a:r>
            <a:r>
              <a:rPr sz="1600" spc="2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достижения</a:t>
            </a:r>
            <a:r>
              <a:rPr sz="1600" spc="25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заданной</a:t>
            </a:r>
            <a:r>
              <a:rPr sz="1600" spc="2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вероятности</a:t>
            </a:r>
            <a:r>
              <a:rPr sz="1600" spc="2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2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</a:t>
            </a:r>
            <a:r>
              <a:rPr sz="1600" spc="-10" baseline="-1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</a:t>
            </a:r>
            <a:r>
              <a:rPr sz="1600" spc="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</a:t>
            </a:r>
            <a:r>
              <a:rPr sz="1600" spc="1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1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=10</a:t>
            </a:r>
            <a:r>
              <a:rPr sz="1600" spc="1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ч,</a:t>
            </a:r>
            <a:r>
              <a:rPr sz="1600" spc="1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необходимо</a:t>
            </a:r>
            <a:r>
              <a:rPr sz="1600" spc="1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рассчитать</a:t>
            </a:r>
            <a:r>
              <a:rPr sz="1600" spc="1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среднюю</a:t>
            </a:r>
            <a:r>
              <a:rPr sz="1600" spc="1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ин-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тенсивность</a:t>
            </a:r>
            <a:r>
              <a:rPr sz="1600" spc="1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одного</a:t>
            </a:r>
            <a:r>
              <a:rPr sz="1600" spc="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элемента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7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предположении</a:t>
            </a:r>
            <a:r>
              <a:rPr sz="1600" spc="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отсутствия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последействия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630936" y="1942591"/>
            <a:ext cx="725424" cy="7924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2164080" y="5508752"/>
            <a:ext cx="3681984" cy="5455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78735" y="4835144"/>
            <a:ext cx="1072896" cy="3901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45536" y="4167631"/>
            <a:ext cx="1719071" cy="4389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32176" y="1653031"/>
            <a:ext cx="1694688" cy="13472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0432" y="722149"/>
            <a:ext cx="96460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Решение.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9328" y="955959"/>
            <a:ext cx="6270744" cy="495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2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2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2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общем</a:t>
            </a:r>
            <a:r>
              <a:rPr sz="1600" spc="2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дублиро-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вании и равнонадежных</a:t>
            </a:r>
            <a:r>
              <a:rPr sz="1600" spc="-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элементах равна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5424" y="1992280"/>
            <a:ext cx="472817" cy="7305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или</a:t>
            </a:r>
          </a:p>
          <a:p>
            <a:pPr marL="0" marR="0">
              <a:lnSpc>
                <a:spcPts val="1780"/>
              </a:lnSpc>
              <a:spcBef>
                <a:spcPts val="189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где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70432" y="3235863"/>
            <a:ext cx="5555731" cy="495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Здесь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Р(t)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– вероятность безотказной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одного элемента.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Так</a:t>
            </a:r>
            <a:r>
              <a:rPr sz="1600" spc="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как должно быть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910584" y="3676279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36720" y="3676279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85160" y="3702208"/>
            <a:ext cx="17882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  <a:r>
              <a:rPr sz="16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</a:t>
            </a:r>
            <a:r>
              <a:rPr sz="1600" spc="-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[1</a:t>
            </a:r>
            <a:r>
              <a:rPr sz="1600" spc="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 P</a:t>
            </a:r>
            <a:r>
              <a:rPr sz="1600" spc="1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(t)]</a:t>
            </a:r>
            <a:r>
              <a:rPr sz="1600" spc="5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≥ 0,9,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9328" y="3936904"/>
            <a:ext cx="34371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70432" y="5043328"/>
            <a:ext cx="98793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Разложив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227832" y="5043328"/>
            <a:ext cx="376523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</a:t>
            </a:r>
            <a:r>
              <a:rPr sz="1600" spc="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степени</a:t>
            </a:r>
            <a:r>
              <a:rPr sz="1600" spc="2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1/n</a:t>
            </a:r>
            <a:r>
              <a:rPr sz="1600" spc="2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ряд</a:t>
            </a:r>
            <a:r>
              <a:rPr sz="1600" spc="1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пренебрегая</a:t>
            </a:r>
            <a:r>
              <a:rPr sz="1600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чле-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19328" y="5274975"/>
            <a:ext cx="419820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нами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ряда высшего порядка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малости,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получим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170432" y="6055263"/>
            <a:ext cx="422258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Учитывая,</a:t>
            </a:r>
            <a:r>
              <a:rPr sz="1600" spc="-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что P(t)</a:t>
            </a:r>
            <a:r>
              <a:rPr sz="1600" spc="-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ехр</a:t>
            </a:r>
            <a:r>
              <a:rPr sz="1600" spc="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(-λt) ≈ 1 - </a:t>
            </a:r>
            <a:r>
              <a:rPr sz="1600" spc="-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λt</a:t>
            </a:r>
            <a:r>
              <a:rPr sz="1600" spc="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 получим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145536" y="6264031"/>
            <a:ext cx="1871458" cy="290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 –</a:t>
            </a:r>
            <a:r>
              <a:rPr sz="16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λt ≥ 1</a:t>
            </a:r>
            <a:r>
              <a:rPr sz="16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</a:t>
            </a:r>
            <a:r>
              <a:rPr sz="1600" spc="-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6,32*10</a:t>
            </a:r>
            <a:r>
              <a:rPr sz="1600" spc="10" baseline="434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-5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19328" y="6521607"/>
            <a:ext cx="47281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или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996184" y="6730374"/>
            <a:ext cx="26516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-5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230624" y="6730374"/>
            <a:ext cx="26516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-5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443728" y="6730374"/>
            <a:ext cx="26516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-6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953768" y="6756304"/>
            <a:ext cx="425118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 ≤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(6,32*10</a:t>
            </a:r>
            <a:r>
              <a:rPr sz="1600" spc="50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)/t =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(6,32*10</a:t>
            </a:r>
            <a:r>
              <a:rPr sz="1600" spc="4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)/10=6,32*10</a:t>
            </a:r>
            <a:r>
              <a:rPr sz="1600" spc="8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(1/ч).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170432" y="7225696"/>
            <a:ext cx="404820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4.3</a:t>
            </a:r>
            <a:r>
              <a:rPr sz="1600" b="1" spc="25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Задачи для самостоятельного</a:t>
            </a:r>
            <a:r>
              <a:rPr sz="1600" b="1" spc="-22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 </a:t>
            </a:r>
            <a:r>
              <a:rPr sz="1600" b="1" dirty="0">
                <a:solidFill>
                  <a:srgbClr val="000000"/>
                </a:solidFill>
                <a:latin typeface="QAOLJA+Times New Roman Bold"/>
                <a:cs typeface="QAOLJA+Times New Roman Bold"/>
              </a:rPr>
              <a:t>решения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19328" y="7603647"/>
            <a:ext cx="6274646" cy="495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2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2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4.</a:t>
            </a:r>
            <a:r>
              <a:rPr sz="1600" spc="2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Технологическая</a:t>
            </a:r>
            <a:r>
              <a:rPr sz="1600" spc="2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2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2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2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трех</a:t>
            </a:r>
            <a:r>
              <a:rPr sz="1600" spc="2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блоков:</a:t>
            </a:r>
          </a:p>
          <a:p>
            <a:pPr marL="0" marR="0">
              <a:lnSpc>
                <a:spcPts val="1780"/>
              </a:lnSpc>
              <a:spcBef>
                <a:spcPts val="3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Б1,</a:t>
            </a:r>
            <a:r>
              <a:rPr sz="1600" spc="1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Б2</a:t>
            </a:r>
            <a:r>
              <a:rPr sz="1600" spc="1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Б3.</a:t>
            </a:r>
            <a:r>
              <a:rPr sz="1600" spc="1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Интенсивности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этих</a:t>
            </a:r>
            <a:r>
              <a:rPr sz="1600" spc="9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блоков</a:t>
            </a:r>
            <a:r>
              <a:rPr sz="1600" spc="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соответственно</a:t>
            </a:r>
            <a:r>
              <a:rPr sz="1600" spc="1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рав-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883664" y="8044062"/>
            <a:ext cx="26516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-4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380232" y="8044062"/>
            <a:ext cx="26516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-4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727448" y="8044062"/>
            <a:ext cx="26516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-4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19328" y="8069992"/>
            <a:ext cx="6276680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ны:</a:t>
            </a:r>
            <a:r>
              <a:rPr sz="1600" spc="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5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4*10</a:t>
            </a:r>
            <a:r>
              <a:rPr sz="1600" spc="9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1/ч;</a:t>
            </a:r>
            <a:r>
              <a:rPr sz="1600" spc="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5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2,5*10</a:t>
            </a:r>
            <a:r>
              <a:rPr sz="1600" spc="9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1/ч;</a:t>
            </a:r>
            <a:r>
              <a:rPr sz="1600" spc="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5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6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3*10</a:t>
            </a:r>
            <a:r>
              <a:rPr sz="1600" spc="7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1/ч.</a:t>
            </a:r>
            <a:r>
              <a:rPr sz="1600" spc="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рассчи-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176528" y="8162935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526792" y="8162935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023359" y="8162935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719328" y="8304687"/>
            <a:ext cx="6273734" cy="962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тать</a:t>
            </a:r>
            <a:r>
              <a:rPr sz="1600" spc="1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1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1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</a:t>
            </a:r>
            <a:r>
              <a:rPr sz="1600" spc="1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  <a:r>
              <a:rPr sz="1600" spc="1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сле-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дующих случаев: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а)</a:t>
            </a:r>
            <a:r>
              <a:rPr sz="1600" spc="1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</a:t>
            </a:r>
            <a:r>
              <a:rPr sz="1600" spc="1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отсутствует;</a:t>
            </a:r>
            <a:r>
              <a:rPr sz="1600" spc="1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б)</a:t>
            </a:r>
            <a:r>
              <a:rPr sz="1600" spc="1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имеется</a:t>
            </a:r>
            <a:r>
              <a:rPr sz="1600" spc="1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общее</a:t>
            </a:r>
            <a:r>
              <a:rPr sz="1600" spc="1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дублирование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це-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лом.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719328" y="9237376"/>
            <a:ext cx="6272719" cy="4989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5.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изображенной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-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рисунке</a:t>
            </a:r>
            <a:r>
              <a:rPr sz="1600" spc="-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4.3</a:t>
            </a:r>
            <a:r>
              <a:rPr sz="1600" spc="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логической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схемы</a:t>
            </a:r>
          </a:p>
          <a:p>
            <a:pPr marL="0" marR="0">
              <a:lnSpc>
                <a:spcPts val="1780"/>
              </a:lnSpc>
              <a:spcBef>
                <a:spcPts val="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2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2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P</a:t>
            </a:r>
            <a:r>
              <a:rPr sz="1600" spc="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(t),</a:t>
            </a:r>
            <a:r>
              <a:rPr sz="1600" spc="2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m</a:t>
            </a:r>
            <a:r>
              <a:rPr sz="1600" spc="3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f</a:t>
            </a:r>
            <a:r>
              <a:rPr sz="1600" spc="7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(t),</a:t>
            </a:r>
            <a:r>
              <a:rPr sz="1600" spc="2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4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(t).</a:t>
            </a:r>
            <a:r>
              <a:rPr sz="1600" spc="2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Здесь</a:t>
            </a:r>
            <a:r>
              <a:rPr sz="1600" spc="2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</a:t>
            </a:r>
            <a:r>
              <a:rPr sz="1600" spc="2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нагруженный,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712720" y="9565015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252215" y="9565015"/>
            <a:ext cx="249166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tc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547871" y="9565015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026408" y="9565015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719328" y="9703720"/>
            <a:ext cx="1888987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отказы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независимы.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"/>
          <p:cNvSpPr/>
          <p:nvPr/>
        </p:nvSpPr>
        <p:spPr>
          <a:xfrm>
            <a:off x="1170432" y="4451096"/>
            <a:ext cx="5888735" cy="18928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21662" y="720344"/>
            <a:ext cx="5315712" cy="13959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99488" y="2117247"/>
            <a:ext cx="371158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Рисунок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4.3 –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Логическая схема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9328" y="2583592"/>
            <a:ext cx="6276593" cy="498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2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2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6.</a:t>
            </a:r>
            <a:r>
              <a:rPr sz="1600" spc="2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2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радиопередатчике,</a:t>
            </a:r>
            <a:r>
              <a:rPr sz="1600" spc="3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состоящем</a:t>
            </a:r>
            <a:r>
              <a:rPr sz="1600" spc="29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28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трех</a:t>
            </a:r>
            <a:r>
              <a:rPr sz="1600" spc="2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равнона-</a:t>
            </a:r>
          </a:p>
          <a:p>
            <a:pPr marL="0" marR="0">
              <a:lnSpc>
                <a:spcPts val="1780"/>
              </a:lnSpc>
              <a:spcBef>
                <a:spcPts val="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дежных</a:t>
            </a:r>
            <a:r>
              <a:rPr sz="1600" spc="9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каскадов</a:t>
            </a:r>
            <a:r>
              <a:rPr sz="1600" spc="1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(n</a:t>
            </a:r>
            <a:r>
              <a:rPr sz="1600" spc="1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3)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применено</a:t>
            </a:r>
            <a:r>
              <a:rPr sz="1600" spc="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общее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постоянное</a:t>
            </a:r>
            <a:r>
              <a:rPr sz="1600" spc="9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дублирование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9328" y="3049935"/>
            <a:ext cx="627182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всего</a:t>
            </a:r>
            <a:r>
              <a:rPr sz="1600" spc="10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радиопередатчика.</a:t>
            </a:r>
            <a:r>
              <a:rPr sz="1600" spc="10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10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0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каскада</a:t>
            </a:r>
            <a:r>
              <a:rPr sz="1600" spc="10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41120" y="3258703"/>
            <a:ext cx="26516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9328" y="3284632"/>
            <a:ext cx="6270759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λ=5*10</a:t>
            </a:r>
            <a:r>
              <a:rPr sz="1600" spc="9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1/ч.</a:t>
            </a:r>
            <a:r>
              <a:rPr sz="1600" spc="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9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P</a:t>
            </a:r>
            <a:r>
              <a:rPr sz="1600" spc="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(t),</a:t>
            </a:r>
            <a:r>
              <a:rPr sz="1600" spc="8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m</a:t>
            </a:r>
            <a:r>
              <a:rPr sz="1600" spc="3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1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f</a:t>
            </a:r>
            <a:r>
              <a:rPr sz="1600" spc="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(t),</a:t>
            </a:r>
            <a:r>
              <a:rPr sz="1600" spc="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</a:t>
            </a:r>
            <a:r>
              <a:rPr sz="1600" spc="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радиопередатчика</a:t>
            </a:r>
            <a:r>
              <a:rPr sz="1600" spc="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дуб-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93720" y="3377574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614928" y="3377574"/>
            <a:ext cx="249166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92296" y="3377574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352544" y="3377574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9328" y="3519327"/>
            <a:ext cx="124415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лированием.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9328" y="3750975"/>
            <a:ext cx="6276593" cy="7305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7.</a:t>
            </a:r>
            <a:r>
              <a:rPr sz="1600" u="sng" spc="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1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изображенной</a:t>
            </a:r>
            <a:r>
              <a:rPr sz="1600" spc="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1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рисунке</a:t>
            </a:r>
            <a:r>
              <a:rPr sz="1600" spc="1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4.4</a:t>
            </a:r>
            <a:r>
              <a:rPr sz="1600" spc="1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логической</a:t>
            </a:r>
            <a:r>
              <a:rPr sz="1600" spc="13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схе-</a:t>
            </a:r>
          </a:p>
          <a:p>
            <a:pPr marL="0" marR="0">
              <a:lnSpc>
                <a:spcPts val="1780"/>
              </a:lnSpc>
              <a:spcBef>
                <a:spcPts val="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мы</a:t>
            </a:r>
            <a:r>
              <a:rPr sz="1600" spc="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-10" baseline="-1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(t).</a:t>
            </a:r>
            <a:r>
              <a:rPr sz="1600" spc="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Здесь</a:t>
            </a:r>
            <a:r>
              <a:rPr sz="1600" spc="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</a:t>
            </a:r>
            <a:r>
              <a:rPr sz="1600" spc="9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на-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груженный,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отказы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независимы.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999488" y="6344824"/>
            <a:ext cx="3711583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Рисунок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4.4 –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Логическая схема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19328" y="6811168"/>
            <a:ext cx="6273573" cy="7305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1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8.</a:t>
            </a:r>
            <a:r>
              <a:rPr sz="1600" u="sng" spc="1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40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Технологическая</a:t>
            </a:r>
            <a:r>
              <a:rPr sz="1600" spc="1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1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1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трех</a:t>
            </a:r>
            <a:r>
              <a:rPr sz="1600" spc="1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блоков</a:t>
            </a:r>
            <a:r>
              <a:rPr sz="1600" spc="1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I,</a:t>
            </a:r>
          </a:p>
          <a:p>
            <a:pPr marL="0" marR="0">
              <a:lnSpc>
                <a:spcPts val="1780"/>
              </a:lnSpc>
              <a:spcBef>
                <a:spcPts val="10"/>
              </a:spcBef>
              <a:spcAft>
                <a:spcPts val="0"/>
              </a:spcAft>
            </a:pPr>
            <a:r>
              <a:rPr sz="1600" spc="-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II,</a:t>
            </a:r>
            <a:r>
              <a:rPr sz="1600" spc="2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III.</a:t>
            </a:r>
            <a:r>
              <a:rPr sz="1600" spc="2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Интенсивности</a:t>
            </a:r>
            <a:r>
              <a:rPr sz="1600" spc="2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этих</a:t>
            </a:r>
            <a:r>
              <a:rPr sz="1600" spc="1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трех</a:t>
            </a:r>
            <a:r>
              <a:rPr sz="1600" spc="1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блоков</a:t>
            </a:r>
            <a:r>
              <a:rPr sz="1600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соответственно</a:t>
            </a:r>
            <a:r>
              <a:rPr sz="1600" spc="1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рав-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ны:</a:t>
            </a:r>
            <a:r>
              <a:rPr sz="1600" spc="1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1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1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1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1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1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6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88720" y="7370455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475232" y="7370455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61744" y="7370455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19328" y="7512207"/>
            <a:ext cx="5012774" cy="495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технологической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P</a:t>
            </a:r>
            <a:r>
              <a:rPr sz="1600" spc="-10" baseline="-1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 для следующих случаев:</a:t>
            </a:r>
          </a:p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а)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резерв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отсутствует;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19328" y="7978552"/>
            <a:ext cx="6276680" cy="965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-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б)</a:t>
            </a:r>
            <a:r>
              <a:rPr sz="1600" spc="-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имеется</a:t>
            </a:r>
            <a:r>
              <a:rPr sz="1600" spc="-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дублирование</a:t>
            </a:r>
            <a:r>
              <a:rPr sz="1600" spc="-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технологической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-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целом.</a:t>
            </a:r>
          </a:p>
          <a:p>
            <a:pPr marL="451104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9.</a:t>
            </a:r>
            <a:r>
              <a:rPr sz="1600" spc="7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Схема</a:t>
            </a:r>
            <a:r>
              <a:rPr sz="1600" spc="1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расчета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</a:t>
            </a:r>
            <a:r>
              <a:rPr sz="1600" spc="1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показана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spc="10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ри-</a:t>
            </a:r>
          </a:p>
          <a:p>
            <a:pPr marL="0" marR="0">
              <a:lnSpc>
                <a:spcPts val="1780"/>
              </a:lnSpc>
              <a:spcBef>
                <a:spcPts val="3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сунке</a:t>
            </a:r>
            <a:r>
              <a:rPr sz="1600" spc="2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4.5.</a:t>
            </a:r>
            <a:r>
              <a:rPr sz="1600" spc="25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Предполагается,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что</a:t>
            </a:r>
            <a:r>
              <a:rPr sz="1600" spc="2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справедлив</a:t>
            </a:r>
            <a:r>
              <a:rPr sz="1600" spc="2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экспоненциальный</a:t>
            </a:r>
            <a:r>
              <a:rPr sz="1600" spc="2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закон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</a:t>
            </a:r>
            <a:r>
              <a:rPr sz="1600" spc="25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2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</a:t>
            </a:r>
            <a:r>
              <a:rPr sz="1600" spc="2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изделия.</a:t>
            </a:r>
            <a:r>
              <a:rPr sz="1600" spc="2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Интенсивности</a:t>
            </a:r>
            <a:r>
              <a:rPr sz="1600" spc="2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элемен-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520440" y="8885310"/>
            <a:ext cx="26516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-3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998720" y="8885310"/>
            <a:ext cx="26516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-3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19328" y="8911240"/>
            <a:ext cx="627363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тов</a:t>
            </a:r>
            <a:r>
              <a:rPr sz="1600" spc="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имеют</a:t>
            </a:r>
            <a:r>
              <a:rPr sz="1600" spc="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значения: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5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0,3*10</a:t>
            </a:r>
            <a:r>
              <a:rPr sz="1600" spc="8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1/ч;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5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0,7*10</a:t>
            </a:r>
            <a:r>
              <a:rPr sz="1600" spc="8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1/ч.</a:t>
            </a:r>
            <a:r>
              <a:rPr sz="1600" spc="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най-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673096" y="9004183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151376" y="9004183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19328" y="9145936"/>
            <a:ext cx="6276680" cy="730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ти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течении времени</a:t>
            </a:r>
            <a:r>
              <a:rPr sz="1600" spc="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 =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ч,</a:t>
            </a:r>
            <a:r>
              <a:rPr sz="1600" spc="1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1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8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изделия,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частоту</a:t>
            </a:r>
            <a:r>
              <a:rPr sz="1600" spc="1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ин-</a:t>
            </a:r>
          </a:p>
          <a:p>
            <a:pPr marL="0" marR="0">
              <a:lnSpc>
                <a:spcPts val="1780"/>
              </a:lnSpc>
              <a:spcBef>
                <a:spcPts val="9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тенсивность</a:t>
            </a:r>
            <a:r>
              <a:rPr sz="1600" spc="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 момент времени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 = 100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"/>
          <p:cNvSpPr/>
          <p:nvPr/>
        </p:nvSpPr>
        <p:spPr>
          <a:xfrm>
            <a:off x="1749551" y="6816343"/>
            <a:ext cx="4059936" cy="20086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2109216" y="3378200"/>
            <a:ext cx="3340607" cy="11033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20240" y="720344"/>
            <a:ext cx="3718559" cy="12588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81200" y="1980087"/>
            <a:ext cx="374488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Рисунок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4.5 – Схема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9328" y="2446432"/>
            <a:ext cx="6276680" cy="498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10.</a:t>
            </a:r>
            <a:r>
              <a:rPr sz="1600" u="sng" spc="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4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телевизионном</a:t>
            </a:r>
            <a:r>
              <a:rPr sz="1600" spc="10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канале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связи,</a:t>
            </a:r>
            <a:r>
              <a:rPr sz="1600" spc="10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состоящем</a:t>
            </a:r>
            <a:r>
              <a:rPr sz="1600" spc="10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при-</a:t>
            </a:r>
          </a:p>
          <a:p>
            <a:pPr marL="0" marR="0">
              <a:lnSpc>
                <a:spcPts val="1780"/>
              </a:lnSpc>
              <a:spcBef>
                <a:spcPts val="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емника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передатчика,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применено</a:t>
            </a:r>
            <a:r>
              <a:rPr sz="1600" spc="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общее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дублирование.</a:t>
            </a:r>
            <a:r>
              <a:rPr sz="1600" spc="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Передатчик</a:t>
            </a:r>
            <a:r>
              <a:rPr sz="1600" spc="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45608" y="2889895"/>
            <a:ext cx="26516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29984" y="2889895"/>
            <a:ext cx="26516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-3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9328" y="2915823"/>
            <a:ext cx="6164385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приемник</a:t>
            </a:r>
            <a:r>
              <a:rPr sz="1600" spc="2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имеют</a:t>
            </a:r>
            <a:r>
              <a:rPr sz="1600" spc="1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интенсивности</a:t>
            </a:r>
            <a:r>
              <a:rPr sz="1600" spc="2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7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2*10</a:t>
            </a:r>
            <a:r>
              <a:rPr sz="1600" spc="10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1/ч,</a:t>
            </a:r>
            <a:r>
              <a:rPr sz="1600" spc="2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12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1*10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01896" y="3008767"/>
            <a:ext cx="224156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919216" y="3008767"/>
            <a:ext cx="292518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19328" y="3147471"/>
            <a:ext cx="570202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1/ч,</a:t>
            </a:r>
            <a:r>
              <a:rPr sz="1600" spc="-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соответственно. Схема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канала представлена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рисунке 4.6.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13432" y="4482496"/>
            <a:ext cx="3080951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Рисунок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4.6 – Схема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канала связи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9328" y="4951887"/>
            <a:ext cx="6274711" cy="495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37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3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3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3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3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канала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</a:t>
            </a:r>
            <a:r>
              <a:rPr sz="1600" spc="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(t),</a:t>
            </a:r>
            <a:r>
              <a:rPr sz="1600" spc="1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9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1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m</a:t>
            </a:r>
            <a:r>
              <a:rPr sz="1600" spc="34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1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частоту</a:t>
            </a:r>
            <a:r>
              <a:rPr sz="1600" spc="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f</a:t>
            </a:r>
            <a:r>
              <a:rPr sz="1600" spc="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(t),</a:t>
            </a:r>
            <a:r>
              <a:rPr sz="1600" spc="1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ин-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32103" y="5276479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465320" y="5276479"/>
            <a:ext cx="249166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tс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187440" y="5276479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19328" y="5418231"/>
            <a:ext cx="2376771" cy="279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тенсивность</a:t>
            </a:r>
            <a:r>
              <a:rPr sz="1600" spc="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-10" baseline="-14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19328" y="5649880"/>
            <a:ext cx="6274928" cy="1199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11.</a:t>
            </a:r>
            <a:r>
              <a:rPr sz="1600" u="sng" spc="2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4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Схема</a:t>
            </a:r>
            <a:r>
              <a:rPr sz="1600" spc="2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расчета</a:t>
            </a:r>
            <a:r>
              <a:rPr sz="1600" spc="2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</a:t>
            </a:r>
            <a:r>
              <a:rPr sz="1600" spc="2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</a:t>
            </a:r>
            <a:r>
              <a:rPr sz="1600" spc="2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приведена</a:t>
            </a:r>
            <a:r>
              <a:rPr sz="1600" spc="2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</a:t>
            </a:r>
          </a:p>
          <a:p>
            <a:pPr marL="0" marR="0">
              <a:lnSpc>
                <a:spcPts val="1780"/>
              </a:lnSpc>
              <a:spcBef>
                <a:spcPts val="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рисунке</a:t>
            </a:r>
            <a:r>
              <a:rPr sz="1600" spc="25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4.7.</a:t>
            </a:r>
            <a:r>
              <a:rPr sz="1600" spc="27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Предполагается,</a:t>
            </a:r>
            <a:r>
              <a:rPr sz="1600" spc="25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что</a:t>
            </a:r>
            <a:r>
              <a:rPr sz="1600" spc="2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справедлив</a:t>
            </a:r>
            <a:r>
              <a:rPr sz="1600" spc="26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экспоненциальный</a:t>
            </a:r>
            <a:r>
              <a:rPr sz="1600" spc="2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за-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кон</a:t>
            </a:r>
            <a:r>
              <a:rPr sz="1600" spc="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</a:t>
            </a:r>
            <a:r>
              <a:rPr sz="1600" spc="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</a:t>
            </a:r>
            <a:r>
              <a:rPr sz="1600" spc="7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изделия.</a:t>
            </a:r>
            <a:r>
              <a:rPr sz="1600" spc="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6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интен-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сивность</a:t>
            </a:r>
            <a:r>
              <a:rPr sz="1600" spc="5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5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изделия,</a:t>
            </a:r>
            <a:r>
              <a:rPr sz="1600" spc="5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если</a:t>
            </a:r>
            <a:r>
              <a:rPr sz="1600" spc="5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интенсивности</a:t>
            </a:r>
            <a:r>
              <a:rPr sz="1600" spc="54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55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имеют значения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1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70760" y="6678559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538984" y="6678559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981200" y="8828944"/>
            <a:ext cx="374488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Рисунок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4.7 – Схема</a:t>
            </a:r>
            <a:r>
              <a:rPr sz="1600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надежности</a:t>
            </a:r>
            <a:r>
              <a:rPr sz="1600" spc="-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изделия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19328" y="9295288"/>
            <a:ext cx="6277148" cy="495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12.</a:t>
            </a:r>
            <a:r>
              <a:rPr sz="1600" u="sng" spc="6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4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Нерезервированная</a:t>
            </a:r>
            <a:r>
              <a:rPr sz="1600" spc="6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система</a:t>
            </a:r>
            <a:r>
              <a:rPr sz="1600" spc="7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управления</a:t>
            </a:r>
            <a:r>
              <a:rPr sz="1600" spc="4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</a:p>
          <a:p>
            <a:pPr marL="0" marR="0">
              <a:lnSpc>
                <a:spcPts val="1780"/>
              </a:lnSpc>
              <a:spcBef>
                <a:spcPts val="3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n</a:t>
            </a:r>
            <a:r>
              <a:rPr sz="1600" spc="11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4000</a:t>
            </a:r>
            <a:r>
              <a:rPr sz="1600" spc="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элементов.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Известна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требуемая</a:t>
            </a:r>
            <a:r>
              <a:rPr sz="1600" spc="1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1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ра-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9328" y="721263"/>
            <a:ext cx="6274654" cy="143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боты</a:t>
            </a:r>
            <a:r>
              <a:rPr sz="1600" spc="3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</a:t>
            </a:r>
            <a:r>
              <a:rPr sz="1600" spc="-10" baseline="-1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</a:t>
            </a:r>
            <a:r>
              <a:rPr sz="16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</a:t>
            </a:r>
            <a:r>
              <a:rPr sz="1600" spc="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</a:t>
            </a:r>
            <a:r>
              <a:rPr sz="1600" spc="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100</a:t>
            </a:r>
            <a:r>
              <a:rPr sz="1600" spc="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  <a:r>
              <a:rPr sz="1600" spc="2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Необходимо</a:t>
            </a:r>
            <a:r>
              <a:rPr sz="16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рассчитать</a:t>
            </a:r>
            <a:r>
              <a:rPr sz="1600" spc="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допус-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тимую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среднюю</a:t>
            </a:r>
            <a:r>
              <a:rPr sz="1600" spc="10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1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1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одного</a:t>
            </a:r>
            <a:r>
              <a:rPr sz="1600" spc="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элемента,</a:t>
            </a:r>
            <a:r>
              <a:rPr sz="1600" spc="1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считая</a:t>
            </a:r>
            <a:r>
              <a:rPr sz="1600" spc="1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эле-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менты</a:t>
            </a:r>
            <a:r>
              <a:rPr sz="1600" spc="2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равнонадежными,</a:t>
            </a:r>
            <a:r>
              <a:rPr sz="160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2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того</a:t>
            </a:r>
            <a:r>
              <a:rPr sz="1600" spc="2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чтобы</a:t>
            </a:r>
            <a:r>
              <a:rPr sz="1600" spc="22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приближенно</a:t>
            </a:r>
            <a:r>
              <a:rPr sz="1600" spc="2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оценить</a:t>
            </a:r>
            <a:r>
              <a:rPr sz="1600" spc="2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дос-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тижение</a:t>
            </a:r>
            <a:r>
              <a:rPr sz="1600" spc="3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заданной</a:t>
            </a:r>
            <a:r>
              <a:rPr sz="1600" spc="3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вероятности</a:t>
            </a:r>
            <a:r>
              <a:rPr sz="1600" spc="3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3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3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при</a:t>
            </a:r>
            <a:r>
              <a:rPr sz="1600" spc="3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отсутствии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профилактических осмотров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следующих случаях: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а)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резервирование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отсутствует;</a:t>
            </a:r>
            <a:r>
              <a:rPr sz="1600" spc="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б) применено общее ду6лирование.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328" y="2123344"/>
            <a:ext cx="6273944" cy="495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13.</a:t>
            </a:r>
            <a:r>
              <a:rPr sz="1600" u="sng" spc="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4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Устройство</a:t>
            </a:r>
            <a:r>
              <a:rPr sz="1600" spc="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обработки</a:t>
            </a:r>
            <a:r>
              <a:rPr sz="1600" spc="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трех</a:t>
            </a:r>
            <a:r>
              <a:rPr sz="1600" spc="2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одинаковых</a:t>
            </a:r>
          </a:p>
          <a:p>
            <a:pPr marL="0" marR="0">
              <a:lnSpc>
                <a:spcPts val="1780"/>
              </a:lnSpc>
              <a:spcBef>
                <a:spcPts val="3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блоков.</a:t>
            </a:r>
            <a:r>
              <a:rPr sz="160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2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ра6оты</a:t>
            </a:r>
            <a:r>
              <a:rPr sz="1600" spc="2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устройства</a:t>
            </a:r>
            <a:r>
              <a:rPr sz="1600" spc="2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</a:t>
            </a:r>
            <a:r>
              <a:rPr sz="1600" spc="10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</a:t>
            </a:r>
            <a:r>
              <a:rPr sz="1600" spc="-9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600" spc="21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2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11368" y="2447934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00344" y="2447934"/>
            <a:ext cx="18965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9328" y="2589687"/>
            <a:ext cx="6273734" cy="143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(0,</a:t>
            </a:r>
            <a:r>
              <a:rPr sz="1600" spc="8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</a:t>
            </a:r>
            <a:r>
              <a:rPr sz="1600" baseline="-1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600" spc="7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должна</a:t>
            </a:r>
            <a:r>
              <a:rPr sz="1600" spc="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быть</a:t>
            </a:r>
            <a:r>
              <a:rPr sz="1600" spc="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</a:t>
            </a:r>
            <a:r>
              <a:rPr sz="1600" spc="5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менее</a:t>
            </a:r>
            <a:r>
              <a:rPr sz="1600" spc="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0,9.</a:t>
            </a:r>
            <a:r>
              <a:rPr sz="1600" spc="8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Определить,</a:t>
            </a:r>
            <a:r>
              <a:rPr sz="1600" spc="9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какова</a:t>
            </a:r>
            <a:r>
              <a:rPr sz="1600" spc="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должна</a:t>
            </a:r>
            <a:r>
              <a:rPr sz="1600" spc="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быть</a:t>
            </a:r>
            <a:r>
              <a:rPr sz="1600" spc="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ве-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роятность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каждого</a:t>
            </a:r>
            <a:r>
              <a:rPr sz="1600" spc="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блока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течение</a:t>
            </a:r>
            <a:r>
              <a:rPr sz="1600" spc="2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(0,</a:t>
            </a:r>
            <a:r>
              <a:rPr sz="1600" spc="3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</a:t>
            </a:r>
            <a:r>
              <a:rPr sz="1600" baseline="-150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i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)</a:t>
            </a:r>
            <a:r>
              <a:rPr sz="1600" spc="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для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слу-</a:t>
            </a:r>
          </a:p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чаев:</a:t>
            </a:r>
            <a:r>
              <a:rPr sz="1600" spc="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а)</a:t>
            </a:r>
            <a:r>
              <a:rPr sz="1600" spc="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</a:t>
            </a:r>
            <a:r>
              <a:rPr sz="1600" spc="7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отсутствует;</a:t>
            </a:r>
            <a:r>
              <a:rPr sz="1600" spc="6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б)</a:t>
            </a:r>
            <a:r>
              <a:rPr sz="1600" spc="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имеется</a:t>
            </a:r>
            <a:r>
              <a:rPr sz="1600" spc="6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пассивное</a:t>
            </a:r>
            <a:r>
              <a:rPr sz="1600" spc="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общее</a:t>
            </a:r>
            <a:r>
              <a:rPr sz="16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резервирова-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ние</a:t>
            </a:r>
            <a:r>
              <a:rPr sz="1600" spc="3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spc="3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неизменной</a:t>
            </a:r>
            <a:r>
              <a:rPr sz="1600" spc="3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нагрузкой</a:t>
            </a:r>
            <a:r>
              <a:rPr sz="1600" spc="35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всего</a:t>
            </a:r>
            <a:r>
              <a:rPr sz="1600" spc="35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устройства</a:t>
            </a:r>
            <a:r>
              <a:rPr sz="1600" spc="33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</a:t>
            </a:r>
            <a:r>
              <a:rPr sz="1600" spc="35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целом;</a:t>
            </a:r>
            <a:r>
              <a:rPr sz="1600" spc="36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в)</a:t>
            </a:r>
            <a:r>
              <a:rPr sz="1600" spc="3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имеется</a:t>
            </a:r>
          </a:p>
          <a:p>
            <a:pPr marL="0" marR="0">
              <a:lnSpc>
                <a:spcPts val="1780"/>
              </a:lnSpc>
              <a:spcBef>
                <a:spcPts val="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пассивное</a:t>
            </a:r>
            <a:r>
              <a:rPr sz="1600" spc="50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раздельное</a:t>
            </a:r>
            <a:r>
              <a:rPr sz="1600" spc="4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резервирование</a:t>
            </a:r>
            <a:r>
              <a:rPr sz="1600" spc="49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spc="5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неизменной</a:t>
            </a:r>
            <a:r>
              <a:rPr sz="1600" spc="5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нагрузкой</a:t>
            </a:r>
            <a:r>
              <a:rPr sz="1600" spc="52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блокам.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9328" y="3991768"/>
            <a:ext cx="6273632" cy="495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1104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Задача</a:t>
            </a:r>
            <a:r>
              <a:rPr sz="1600" u="sng" spc="20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№</a:t>
            </a:r>
            <a:r>
              <a:rPr sz="1600" u="sng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u="sng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14.</a:t>
            </a:r>
            <a:r>
              <a:rPr sz="1600" u="sng" spc="20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2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Вычислитель</a:t>
            </a:r>
            <a:r>
              <a:rPr sz="1600" spc="2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состоит</a:t>
            </a:r>
            <a:r>
              <a:rPr sz="1600" spc="2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из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двух</a:t>
            </a:r>
            <a:r>
              <a:rPr sz="1600" spc="23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блоков,</a:t>
            </a:r>
            <a:r>
              <a:rPr sz="1600" spc="23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соединен-</a:t>
            </a:r>
          </a:p>
          <a:p>
            <a:pPr marL="0" marR="0">
              <a:lnSpc>
                <a:spcPts val="1780"/>
              </a:lnSpc>
              <a:spcBef>
                <a:spcPts val="3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ных</a:t>
            </a:r>
            <a:r>
              <a:rPr sz="1600" spc="4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последовательно</a:t>
            </a:r>
            <a:r>
              <a:rPr sz="1600" spc="4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4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характеризующихся</a:t>
            </a:r>
            <a:r>
              <a:rPr sz="1600" spc="42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соответственно</a:t>
            </a:r>
            <a:r>
              <a:rPr sz="1600" spc="43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интен-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758184" y="4432183"/>
            <a:ext cx="264094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-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657088" y="4432183"/>
            <a:ext cx="26516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-6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9328" y="4458111"/>
            <a:ext cx="627379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сивностями</a:t>
            </a:r>
            <a:r>
              <a:rPr sz="160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4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5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1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120,54*10</a:t>
            </a:r>
            <a:r>
              <a:rPr sz="1600" spc="9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1/ч</a:t>
            </a:r>
            <a:r>
              <a:rPr sz="1600" spc="4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5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=</a:t>
            </a:r>
            <a:r>
              <a:rPr sz="1600" spc="4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185,66*10</a:t>
            </a:r>
            <a:r>
              <a:rPr sz="1600" spc="88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1/ч.</a:t>
            </a:r>
            <a:r>
              <a:rPr sz="1600" spc="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Выпол-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02992" y="4551055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501896" y="4551055"/>
            <a:ext cx="219442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9328" y="4689760"/>
            <a:ext cx="6273545" cy="733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нено</a:t>
            </a:r>
            <a:r>
              <a:rPr sz="1600" spc="1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пассивное</a:t>
            </a:r>
            <a:r>
              <a:rPr sz="1600" spc="1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общее</a:t>
            </a:r>
            <a:r>
              <a:rPr sz="1600" spc="18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резервирование</a:t>
            </a:r>
            <a:r>
              <a:rPr sz="1600" spc="18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неизменной</a:t>
            </a:r>
            <a:r>
              <a:rPr sz="1600" spc="20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нагрузкой</a:t>
            </a:r>
            <a:r>
              <a:rPr sz="1600" spc="2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всей</a:t>
            </a:r>
          </a:p>
          <a:p>
            <a:pPr marL="0" marR="0">
              <a:lnSpc>
                <a:spcPts val="1780"/>
              </a:lnSpc>
              <a:spcBef>
                <a:spcPts val="1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системы</a:t>
            </a: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(блока</a:t>
            </a:r>
            <a:r>
              <a:rPr sz="1600" spc="1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1 и</a:t>
            </a:r>
            <a:r>
              <a:rPr sz="1600" spc="1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2).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Требуется</a:t>
            </a:r>
            <a:r>
              <a:rPr sz="1600" spc="2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определить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вероятность</a:t>
            </a:r>
            <a:r>
              <a:rPr sz="1600" spc="2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</a:p>
          <a:p>
            <a:pPr marL="0" marR="0">
              <a:lnSpc>
                <a:spcPts val="1780"/>
              </a:lnSpc>
              <a:spcBef>
                <a:spcPts val="6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3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</a:t>
            </a:r>
            <a:r>
              <a:rPr sz="1600" spc="5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</a:t>
            </a:r>
            <a:r>
              <a:rPr sz="1600" spc="2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вычислителя,</a:t>
            </a:r>
            <a:r>
              <a:rPr sz="1600" spc="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среднее</a:t>
            </a:r>
            <a:r>
              <a:rPr sz="1600" spc="4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время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безотказной</a:t>
            </a:r>
            <a:r>
              <a:rPr sz="1600" spc="3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работы</a:t>
            </a:r>
            <a:r>
              <a:rPr sz="1600" spc="34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m</a:t>
            </a:r>
            <a:r>
              <a:rPr sz="1600" spc="34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,</a:t>
            </a:r>
            <a:r>
              <a:rPr sz="1600" spc="4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час-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11808" y="5252095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284976" y="5252095"/>
            <a:ext cx="249166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tс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19328" y="5390799"/>
            <a:ext cx="6270686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тоту</a:t>
            </a:r>
            <a:r>
              <a:rPr sz="1600" spc="4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9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f</a:t>
            </a:r>
            <a:r>
              <a:rPr sz="1600" spc="5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</a:t>
            </a:r>
            <a:r>
              <a:rPr sz="1600" spc="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</a:t>
            </a:r>
            <a:r>
              <a:rPr sz="1600" spc="8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интенсивность</a:t>
            </a:r>
            <a:r>
              <a:rPr sz="1600" spc="76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отказов</a:t>
            </a:r>
            <a:r>
              <a:rPr sz="1600" spc="9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λ</a:t>
            </a:r>
            <a:r>
              <a:rPr sz="1600" spc="48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</a:t>
            </a:r>
            <a:r>
              <a:rPr sz="1600" spc="72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вычислителя.</a:t>
            </a:r>
            <a:r>
              <a:rPr sz="1600" spc="87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Опреде-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44624" y="5483743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c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587240" y="5483743"/>
            <a:ext cx="211913" cy="186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19328" y="5625496"/>
            <a:ext cx="2111491" cy="279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лить</a:t>
            </a:r>
            <a:r>
              <a:rPr sz="1600" spc="23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Р</a:t>
            </a:r>
            <a:r>
              <a:rPr sz="1600" spc="-10" baseline="-149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с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(t) при</a:t>
            </a:r>
            <a:r>
              <a:rPr sz="1600" spc="399" dirty="0">
                <a:solidFill>
                  <a:srgbClr val="000000"/>
                </a:solidFill>
                <a:latin typeface="LHMNJT+Times New Roman"/>
                <a:cs typeface="LHMNJT+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LHMNJT+Times New Roman"/>
                <a:cs typeface="LHMNJT+Times New Roman"/>
              </a:rPr>
              <a:t>t = 20 </a:t>
            </a:r>
            <a:r>
              <a:rPr sz="1600" spc="11" dirty="0">
                <a:solidFill>
                  <a:srgbClr val="000000"/>
                </a:solidFill>
                <a:latin typeface="LHMNJT+Times New Roman"/>
                <a:cs typeface="LHMNJT+Times New Roman"/>
              </a:rPr>
              <a:t>ч.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78936" y="10099959"/>
            <a:ext cx="358002" cy="264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5" dirty="0">
                <a:solidFill>
                  <a:srgbClr val="000000"/>
                </a:solidFill>
                <a:latin typeface="LHMNJT+Times New Roman"/>
                <a:cs typeface="LHMNJT+Times New Roman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6944</Words>
  <Application>Microsoft Office PowerPoint</Application>
  <PresentationFormat>Произвольный</PresentationFormat>
  <Paragraphs>1534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9" baseType="lpstr">
      <vt:lpstr>Arial</vt:lpstr>
      <vt:lpstr>Calibri</vt:lpstr>
      <vt:lpstr>QAOLJA+Times New Roman Bold</vt:lpstr>
      <vt:lpstr>LHMNJT+Times New Roman</vt:lpstr>
      <vt:lpstr>HLEQSS+Times New Roman Italic</vt:lpstr>
      <vt:lpstr>FEVUPN+Symbol</vt:lpstr>
      <vt:lpstr>Times New Roman</vt:lpstr>
      <vt:lpstr>TLMUER+Symbol</vt:lpstr>
      <vt:lpstr>DEQMBT+Times New Roman Bold Italic</vt:lpstr>
      <vt:lpstr>SWBTTE+MT Extra</vt:lpstr>
      <vt:lpstr>Theme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RKA</dc:creator>
  <cp:lastModifiedBy>RKA</cp:lastModifiedBy>
  <cp:revision>3</cp:revision>
  <dcterms:modified xsi:type="dcterms:W3CDTF">2022-10-08T03:44:36Z</dcterms:modified>
</cp:coreProperties>
</file>